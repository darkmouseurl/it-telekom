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73" r:id="rId8"/>
    <p:sldId id="259" r:id="rId9"/>
    <p:sldId id="260" r:id="rId10"/>
    <p:sldId id="261" r:id="rId11"/>
    <p:sldId id="262" r:id="rId12"/>
    <p:sldId id="263" r:id="rId13"/>
    <p:sldId id="264" r:id="rId14"/>
    <p:sldId id="265" r:id="rId15"/>
    <p:sldId id="266" r:id="rId16"/>
    <p:sldId id="267" r:id="rId17"/>
    <p:sldId id="268" r:id="rId18"/>
    <p:sldId id="269" r:id="rId19"/>
    <p:sldId id="272" r:id="rId20"/>
    <p:sldId id="270" r:id="rId21"/>
    <p:sldId id="271" r:id="rId22"/>
    <p:sldId id="274" r:id="rId23"/>
    <p:sldId id="275" r:id="rId24"/>
    <p:sldId id="276" r:id="rId25"/>
    <p:sldId id="277" r:id="rId26"/>
    <p:sldId id="278" r:id="rId27"/>
    <p:sldId id="279" r:id="rId28"/>
    <p:sldId id="280" r:id="rId29"/>
    <p:sldId id="281" r:id="rId30"/>
    <p:sldId id="282" r:id="rId31"/>
    <p:sldId id="284" r:id="rId32"/>
    <p:sldId id="285" r:id="rId33"/>
    <p:sldId id="283" r:id="rId34"/>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a:t>Kliknutím lze upravit styl.</a:t>
            </a:r>
          </a:p>
        </p:txBody>
      </p:sp>
      <p:sp>
        <p:nvSpPr>
          <p:cNvPr id="3" name="Podnadpis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Kliknutím lze upravit styl předlohy.</a:t>
            </a:r>
          </a:p>
        </p:txBody>
      </p:sp>
      <p:sp>
        <p:nvSpPr>
          <p:cNvPr id="4" name="Zástupný symbol pro datum 3"/>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635339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idx="1"/>
          </p:nvPr>
        </p:nvSpPr>
        <p:spPr/>
        <p:txBody>
          <a:body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119186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Kliknutím lze upravit styl.</a:t>
            </a:r>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Kliknutím lze upravit styly předlohy textu.</a:t>
            </a:r>
          </a:p>
        </p:txBody>
      </p:sp>
      <p:sp>
        <p:nvSpPr>
          <p:cNvPr id="4" name="Zástupný symbol pro datum 3"/>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3353693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391476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cs-CZ"/>
              <a:t>Kliknutím lze upravit styl.</a:t>
            </a:r>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Kliknutím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Kliknutím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189589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datum 2"/>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2425286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268489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a:t>Kliknutím lze upravit styl.</a:t>
            </a:r>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Kliknutím lze upravit styly předlohy textu.</a:t>
            </a:r>
          </a:p>
        </p:txBody>
      </p:sp>
      <p:sp>
        <p:nvSpPr>
          <p:cNvPr id="5" name="Zástupný symbol pro datum 4"/>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2192190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a:t>Kliknutím lze upravit styl.</a:t>
            </a:r>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Kliknutím lze upravit styly předlohy textu.</a:t>
            </a:r>
          </a:p>
        </p:txBody>
      </p:sp>
      <p:sp>
        <p:nvSpPr>
          <p:cNvPr id="5" name="Zástupný symbol pro datum 4"/>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372141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svislý text 2"/>
          <p:cNvSpPr>
            <a:spLocks noGrp="1"/>
          </p:cNvSpPr>
          <p:nvPr>
            <p:ph type="body" orient="vert" idx="1"/>
          </p:nvPr>
        </p:nvSpPr>
        <p:spPr/>
        <p:txBody>
          <a:bodyPr vert="eaVert"/>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1246470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274638"/>
            <a:ext cx="2057400" cy="5851525"/>
          </a:xfrm>
        </p:spPr>
        <p:txBody>
          <a:bodyPr vert="eaVert"/>
          <a:lstStyle/>
          <a:p>
            <a:r>
              <a:rPr lang="cs-CZ"/>
              <a:t>Kliknutím lze upravit styl.</a:t>
            </a:r>
          </a:p>
        </p:txBody>
      </p:sp>
      <p:sp>
        <p:nvSpPr>
          <p:cNvPr id="3" name="Zástupný symbol pro svislý text 2"/>
          <p:cNvSpPr>
            <a:spLocks noGrp="1"/>
          </p:cNvSpPr>
          <p:nvPr>
            <p:ph type="body" orient="vert" idx="1"/>
          </p:nvPr>
        </p:nvSpPr>
        <p:spPr>
          <a:xfrm>
            <a:off x="457200" y="274638"/>
            <a:ext cx="6019800" cy="5851525"/>
          </a:xfrm>
        </p:spPr>
        <p:txBody>
          <a:bodyPr vert="eaVert"/>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49AEC4D3-D440-45B5-BE64-A6B7A05F31AD}" type="datetimeFigureOut">
              <a:rPr lang="cs-CZ" smtClean="0"/>
              <a:pPr/>
              <a:t>13.12.2022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C128C028-1BED-48D6-8974-607C638AC267}" type="slidenum">
              <a:rPr lang="cs-CZ" smtClean="0"/>
              <a:pPr/>
              <a:t>‹#›</a:t>
            </a:fld>
            <a:endParaRPr lang="cs-CZ"/>
          </a:p>
        </p:txBody>
      </p:sp>
    </p:spTree>
    <p:extLst>
      <p:ext uri="{BB962C8B-B14F-4D97-AF65-F5344CB8AC3E}">
        <p14:creationId xmlns:p14="http://schemas.microsoft.com/office/powerpoint/2010/main" val="1091528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cs-CZ"/>
              <a:t>Kliknutím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AEC4D3-D440-45B5-BE64-A6B7A05F31AD}" type="datetimeFigureOut">
              <a:rPr lang="cs-CZ" smtClean="0"/>
              <a:pPr/>
              <a:t>13.12.2022</a:t>
            </a:fld>
            <a:endParaRPr lang="cs-CZ"/>
          </a:p>
        </p:txBody>
      </p:sp>
      <p:sp>
        <p:nvSpPr>
          <p:cNvPr id="5" name="Zástupný symbol pro zápatí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28C028-1BED-48D6-8974-607C638AC267}" type="slidenum">
              <a:rPr lang="cs-CZ" smtClean="0"/>
              <a:pPr/>
              <a:t>‹#›</a:t>
            </a:fld>
            <a:endParaRPr lang="cs-CZ"/>
          </a:p>
        </p:txBody>
      </p:sp>
    </p:spTree>
    <p:extLst>
      <p:ext uri="{BB962C8B-B14F-4D97-AF65-F5344CB8AC3E}">
        <p14:creationId xmlns:p14="http://schemas.microsoft.com/office/powerpoint/2010/main" val="2298748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hyperlink" Target="http://www.google.cz/url?sa=i&amp;rct=j&amp;q=&amp;esrc=s&amp;frm=1&amp;source=images&amp;cd=&amp;cad=rja&amp;docid=xR2eYIV5Peni7M&amp;tbnid=0u6nzxw5ktz6xM:&amp;ved=0CAUQjRw&amp;url=http://www.forcedperfect.net/hardware/cards/applempegmediasystem/&amp;ei=XxhoUp_wKoaq0QWM0YHgBg&amp;bvm=bv.55123115,d.bGE&amp;psig=AFQjCNF-mXL2DWiM96um-AcI6YFAqnhPPA&amp;ust=1382640060539058"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http://www.fish15.estranky.cz/clanky/microcontroller---mcu.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fish15.estranky.cz/clanky/cpu---central-processing--unit.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fish15.estranky.cz/clanky/digital-signal-procesor.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3" Type="http://schemas.openxmlformats.org/officeDocument/2006/relationships/hyperlink" Target="http://cs.wikipedia.org/wiki/Motorola_6800" TargetMode="External"/><Relationship Id="rId18" Type="http://schemas.openxmlformats.org/officeDocument/2006/relationships/hyperlink" Target="http://cs.wikipedia.org/w/index.php?title=TI_TMS_9900&amp;action=edit&amp;redlink=1" TargetMode="External"/><Relationship Id="rId26" Type="http://schemas.openxmlformats.org/officeDocument/2006/relationships/hyperlink" Target="http://cs.wikipedia.org/wiki/Motorola_68000" TargetMode="External"/><Relationship Id="rId39" Type="http://schemas.openxmlformats.org/officeDocument/2006/relationships/hyperlink" Target="http://cs.wikipedia.org/wiki/Tranzistor" TargetMode="External"/><Relationship Id="rId21" Type="http://schemas.openxmlformats.org/officeDocument/2006/relationships/hyperlink" Target="http://cs.wikipedia.org/wiki/1978" TargetMode="External"/><Relationship Id="rId34" Type="http://schemas.openxmlformats.org/officeDocument/2006/relationships/hyperlink" Target="http://cs.wikipedia.org/wiki/1983" TargetMode="External"/><Relationship Id="rId42" Type="http://schemas.openxmlformats.org/officeDocument/2006/relationships/hyperlink" Target="http://cs.wikipedia.org/wiki/1989" TargetMode="External"/><Relationship Id="rId7" Type="http://schemas.openxmlformats.org/officeDocument/2006/relationships/hyperlink" Target="http://cs.wikipedia.org/wiki/Intel_8080" TargetMode="External"/><Relationship Id="rId2" Type="http://schemas.openxmlformats.org/officeDocument/2006/relationships/hyperlink" Target="http://cs.wikipedia.org/wiki/1971" TargetMode="External"/><Relationship Id="rId16" Type="http://schemas.openxmlformats.org/officeDocument/2006/relationships/hyperlink" Target="http://cs.wikipedia.org/wiki/AMD_Am2900" TargetMode="External"/><Relationship Id="rId29" Type="http://schemas.openxmlformats.org/officeDocument/2006/relationships/hyperlink" Target="http://cs.wikipedia.org/w/index.php?title=IBM_801&amp;action=edit&amp;redlink=1" TargetMode="External"/><Relationship Id="rId1" Type="http://schemas.openxmlformats.org/officeDocument/2006/relationships/slideLayout" Target="../slideLayouts/slideLayout2.xml"/><Relationship Id="rId6" Type="http://schemas.openxmlformats.org/officeDocument/2006/relationships/hyperlink" Target="http://cs.wikipedia.org/wiki/1974" TargetMode="External"/><Relationship Id="rId11" Type="http://schemas.openxmlformats.org/officeDocument/2006/relationships/hyperlink" Target="http://cs.wikipedia.org/wiki/Commodore_64" TargetMode="External"/><Relationship Id="rId24" Type="http://schemas.openxmlformats.org/officeDocument/2006/relationships/hyperlink" Target="http://cs.wikipedia.org/wiki/Intel_8088" TargetMode="External"/><Relationship Id="rId32" Type="http://schemas.openxmlformats.org/officeDocument/2006/relationships/hyperlink" Target="http://cs.wikipedia.org/wiki/1982" TargetMode="External"/><Relationship Id="rId37" Type="http://schemas.openxmlformats.org/officeDocument/2006/relationships/hyperlink" Target="http://cs.wikipedia.org/wiki/1985" TargetMode="External"/><Relationship Id="rId40" Type="http://schemas.openxmlformats.org/officeDocument/2006/relationships/hyperlink" Target="http://cs.wikipedia.org/wiki/1986" TargetMode="External"/><Relationship Id="rId45" Type="http://schemas.openxmlformats.org/officeDocument/2006/relationships/hyperlink" Target="http://cs.wikipedia.org/wiki/Sun_Microsystems" TargetMode="External"/><Relationship Id="rId5" Type="http://schemas.openxmlformats.org/officeDocument/2006/relationships/hyperlink" Target="http://cs.wikipedia.org/wiki/Intel_8008" TargetMode="External"/><Relationship Id="rId15" Type="http://schemas.openxmlformats.org/officeDocument/2006/relationships/hyperlink" Target="http://cs.wikipedia.org/wiki/AMD_(firma)" TargetMode="External"/><Relationship Id="rId23" Type="http://schemas.openxmlformats.org/officeDocument/2006/relationships/hyperlink" Target="http://cs.wikipedia.org/wiki/X86" TargetMode="External"/><Relationship Id="rId28" Type="http://schemas.openxmlformats.org/officeDocument/2006/relationships/hyperlink" Target="http://cs.wikipedia.org/wiki/1980" TargetMode="External"/><Relationship Id="rId36" Type="http://schemas.openxmlformats.org/officeDocument/2006/relationships/hyperlink" Target="http://cs.wikipedia.org/wiki/Texas_Instruments" TargetMode="External"/><Relationship Id="rId10" Type="http://schemas.openxmlformats.org/officeDocument/2006/relationships/hyperlink" Target="http://cs.wikipedia.org/wiki/Apple_II" TargetMode="External"/><Relationship Id="rId19" Type="http://schemas.openxmlformats.org/officeDocument/2006/relationships/hyperlink" Target="http://cs.wikipedia.org/wiki/Zilog_Z80" TargetMode="External"/><Relationship Id="rId31" Type="http://schemas.openxmlformats.org/officeDocument/2006/relationships/hyperlink" Target="http://cs.wikipedia.org/wiki/Intel_8051" TargetMode="External"/><Relationship Id="rId44" Type="http://schemas.openxmlformats.org/officeDocument/2006/relationships/hyperlink" Target="http://cs.wikipedia.org/wiki/Sun_SPARC" TargetMode="External"/><Relationship Id="rId4" Type="http://schemas.openxmlformats.org/officeDocument/2006/relationships/hyperlink" Target="http://cs.wikipedia.org/wiki/1972" TargetMode="External"/><Relationship Id="rId9" Type="http://schemas.openxmlformats.org/officeDocument/2006/relationships/hyperlink" Target="http://cs.wikipedia.org/wiki/MOS_Technology_6502" TargetMode="External"/><Relationship Id="rId14" Type="http://schemas.openxmlformats.org/officeDocument/2006/relationships/hyperlink" Target="http://cs.wikipedia.org/wiki/Motorola" TargetMode="External"/><Relationship Id="rId22" Type="http://schemas.openxmlformats.org/officeDocument/2006/relationships/hyperlink" Target="http://cs.wikipedia.org/wiki/Intel_8086" TargetMode="External"/><Relationship Id="rId27" Type="http://schemas.openxmlformats.org/officeDocument/2006/relationships/hyperlink" Target="http://cs.wikipedia.org/w/index.php?title=Zilog_Z8000&amp;action=edit&amp;redlink=1" TargetMode="External"/><Relationship Id="rId30" Type="http://schemas.openxmlformats.org/officeDocument/2006/relationships/hyperlink" Target="http://cs.wikipedia.org/wiki/RISC" TargetMode="External"/><Relationship Id="rId35" Type="http://schemas.openxmlformats.org/officeDocument/2006/relationships/hyperlink" Target="http://cs.wikipedia.org/w/index.php?title=TMS32010&amp;action=edit&amp;redlink=1" TargetMode="External"/><Relationship Id="rId43" Type="http://schemas.openxmlformats.org/officeDocument/2006/relationships/hyperlink" Target="http://cs.wikipedia.org/wiki/Intel_80486" TargetMode="External"/><Relationship Id="rId8" Type="http://schemas.openxmlformats.org/officeDocument/2006/relationships/hyperlink" Target="http://cs.wikipedia.org/wiki/1975" TargetMode="External"/><Relationship Id="rId3" Type="http://schemas.openxmlformats.org/officeDocument/2006/relationships/hyperlink" Target="http://cs.wikipedia.org/wiki/Intel_4004" TargetMode="External"/><Relationship Id="rId12" Type="http://schemas.openxmlformats.org/officeDocument/2006/relationships/hyperlink" Target="http://cs.wikipedia.org/wiki/Atari" TargetMode="External"/><Relationship Id="rId17" Type="http://schemas.openxmlformats.org/officeDocument/2006/relationships/hyperlink" Target="http://cs.wikipedia.org/wiki/1976" TargetMode="External"/><Relationship Id="rId25" Type="http://schemas.openxmlformats.org/officeDocument/2006/relationships/hyperlink" Target="http://cs.wikipedia.org/wiki/1979" TargetMode="External"/><Relationship Id="rId33" Type="http://schemas.openxmlformats.org/officeDocument/2006/relationships/hyperlink" Target="http://cs.wikipedia.org/wiki/Intel_80286" TargetMode="External"/><Relationship Id="rId38" Type="http://schemas.openxmlformats.org/officeDocument/2006/relationships/hyperlink" Target="http://cs.wikipedia.org/wiki/Intel_80386" TargetMode="External"/><Relationship Id="rId20" Type="http://schemas.openxmlformats.org/officeDocument/2006/relationships/hyperlink" Target="http://cs.wikipedia.org/wiki/Hertz" TargetMode="External"/><Relationship Id="rId41" Type="http://schemas.openxmlformats.org/officeDocument/2006/relationships/hyperlink" Target="http://cs.wikipedia.org/w/index.php?title=Acorn_ARM&amp;action=edit&amp;redlink=1"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cs.wikipedia.org/wiki/1995" TargetMode="External"/><Relationship Id="rId13" Type="http://schemas.openxmlformats.org/officeDocument/2006/relationships/hyperlink" Target="http://cs.wikipedia.org/wiki/MMX" TargetMode="External"/><Relationship Id="rId18" Type="http://schemas.openxmlformats.org/officeDocument/2006/relationships/hyperlink" Target="http://cs.wikipedia.org/wiki/AMD_K6-2" TargetMode="External"/><Relationship Id="rId3" Type="http://schemas.openxmlformats.org/officeDocument/2006/relationships/hyperlink" Target="http://cs.wikipedia.org/wiki/DEC_Alpha" TargetMode="External"/><Relationship Id="rId21" Type="http://schemas.openxmlformats.org/officeDocument/2006/relationships/hyperlink" Target="http://cs.wikipedia.org/wiki/AMD_K6-III" TargetMode="External"/><Relationship Id="rId7" Type="http://schemas.openxmlformats.org/officeDocument/2006/relationships/hyperlink" Target="http://cs.wikipedia.org/wiki/Pentium" TargetMode="External"/><Relationship Id="rId12" Type="http://schemas.openxmlformats.org/officeDocument/2006/relationships/hyperlink" Target="http://cs.wikipedia.org/wiki/Intel_Pentium_MMX" TargetMode="External"/><Relationship Id="rId17" Type="http://schemas.openxmlformats.org/officeDocument/2006/relationships/hyperlink" Target="http://cs.wikipedia.org/wiki/Platforma_Java" TargetMode="External"/><Relationship Id="rId2" Type="http://schemas.openxmlformats.org/officeDocument/2006/relationships/hyperlink" Target="http://cs.wikipedia.org/wiki/1992" TargetMode="External"/><Relationship Id="rId16" Type="http://schemas.openxmlformats.org/officeDocument/2006/relationships/hyperlink" Target="http://cs.wikipedia.org/w/index.php?title=Sun_picoJava&amp;action=edit&amp;redlink=1" TargetMode="External"/><Relationship Id="rId20" Type="http://schemas.openxmlformats.org/officeDocument/2006/relationships/hyperlink" Target="http://cs.wikipedia.org/wiki/1999" TargetMode="External"/><Relationship Id="rId1" Type="http://schemas.openxmlformats.org/officeDocument/2006/relationships/slideLayout" Target="../slideLayouts/slideLayout2.xml"/><Relationship Id="rId6" Type="http://schemas.openxmlformats.org/officeDocument/2006/relationships/hyperlink" Target="http://cs.wikipedia.org/wiki/1993" TargetMode="External"/><Relationship Id="rId11" Type="http://schemas.openxmlformats.org/officeDocument/2006/relationships/hyperlink" Target="http://cs.wikipedia.org/wiki/1996" TargetMode="External"/><Relationship Id="rId24" Type="http://schemas.openxmlformats.org/officeDocument/2006/relationships/hyperlink" Target="http://cs.wikipedia.org/wiki/Intel_Celeron" TargetMode="External"/><Relationship Id="rId5" Type="http://schemas.openxmlformats.org/officeDocument/2006/relationships/hyperlink" Target="http://cs.wikipedia.org/wiki/C166" TargetMode="External"/><Relationship Id="rId15" Type="http://schemas.openxmlformats.org/officeDocument/2006/relationships/hyperlink" Target="http://cs.wikipedia.org/wiki/Pentium_II" TargetMode="External"/><Relationship Id="rId23" Type="http://schemas.openxmlformats.org/officeDocument/2006/relationships/hyperlink" Target="http://cs.wikipedia.org/wiki/SSE" TargetMode="External"/><Relationship Id="rId10" Type="http://schemas.openxmlformats.org/officeDocument/2006/relationships/hyperlink" Target="http://cs.wikipedia.org/w/index.php?title=Sun_UltraSPARC&amp;action=edit&amp;redlink=1" TargetMode="External"/><Relationship Id="rId19" Type="http://schemas.openxmlformats.org/officeDocument/2006/relationships/hyperlink" Target="http://cs.wikipedia.org/wiki/3DNow!" TargetMode="External"/><Relationship Id="rId4" Type="http://schemas.openxmlformats.org/officeDocument/2006/relationships/hyperlink" Target="http://cs.wikipedia.org/wiki/RISC" TargetMode="External"/><Relationship Id="rId9" Type="http://schemas.openxmlformats.org/officeDocument/2006/relationships/hyperlink" Target="http://cs.wikipedia.org/wiki/Pentium_Pro" TargetMode="External"/><Relationship Id="rId14" Type="http://schemas.openxmlformats.org/officeDocument/2006/relationships/hyperlink" Target="http://cs.wikipedia.org/wiki/1997" TargetMode="External"/><Relationship Id="rId22" Type="http://schemas.openxmlformats.org/officeDocument/2006/relationships/hyperlink" Target="http://cs.wikipedia.org/wiki/Intel_Pentium_III"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cs.wikipedia.org/wiki/2003" TargetMode="External"/><Relationship Id="rId13" Type="http://schemas.openxmlformats.org/officeDocument/2006/relationships/hyperlink" Target="http://cs.wikipedia.org/wiki/Core_2_Duo" TargetMode="External"/><Relationship Id="rId18" Type="http://schemas.openxmlformats.org/officeDocument/2006/relationships/hyperlink" Target="http://cs.wikipedia.org/wiki/2008" TargetMode="External"/><Relationship Id="rId26" Type="http://schemas.openxmlformats.org/officeDocument/2006/relationships/hyperlink" Target="http://cs.wikipedia.org/w/index.php?title=Haswell&amp;action=edit&amp;redlink=1" TargetMode="External"/><Relationship Id="rId3" Type="http://schemas.openxmlformats.org/officeDocument/2006/relationships/hyperlink" Target="http://cs.wikipedia.org/w/index.php?title=AMD_Athlon_K75&amp;action=edit&amp;redlink=1" TargetMode="External"/><Relationship Id="rId21" Type="http://schemas.openxmlformats.org/officeDocument/2006/relationships/hyperlink" Target="http://cs.wikipedia.org/wiki/2010" TargetMode="External"/><Relationship Id="rId7" Type="http://schemas.openxmlformats.org/officeDocument/2006/relationships/hyperlink" Target="http://cs.wikipedia.org/wiki/AMD_Opteron" TargetMode="External"/><Relationship Id="rId12" Type="http://schemas.openxmlformats.org/officeDocument/2006/relationships/hyperlink" Target="http://cs.wikipedia.org/w/index.php?title=Core_Duo&amp;action=edit&amp;redlink=1" TargetMode="External"/><Relationship Id="rId17" Type="http://schemas.openxmlformats.org/officeDocument/2006/relationships/hyperlink" Target="http://cs.wikipedia.org/wiki/Phenom" TargetMode="External"/><Relationship Id="rId25" Type="http://schemas.openxmlformats.org/officeDocument/2006/relationships/hyperlink" Target="http://cs.wikipedia.org/wiki/2013" TargetMode="External"/><Relationship Id="rId2" Type="http://schemas.openxmlformats.org/officeDocument/2006/relationships/hyperlink" Target="http://cs.wikipedia.org/wiki/2000" TargetMode="External"/><Relationship Id="rId16" Type="http://schemas.openxmlformats.org/officeDocument/2006/relationships/hyperlink" Target="http://cs.wikipedia.org/wiki/2007" TargetMode="External"/><Relationship Id="rId20" Type="http://schemas.openxmlformats.org/officeDocument/2006/relationships/hyperlink" Target="http://cs.wikipedia.org/wiki/Phenom_II" TargetMode="External"/><Relationship Id="rId1" Type="http://schemas.openxmlformats.org/officeDocument/2006/relationships/slideLayout" Target="../slideLayouts/slideLayout2.xml"/><Relationship Id="rId6" Type="http://schemas.openxmlformats.org/officeDocument/2006/relationships/hyperlink" Target="http://cs.wikipedia.org/wiki/Intel_Itanium" TargetMode="External"/><Relationship Id="rId11" Type="http://schemas.openxmlformats.org/officeDocument/2006/relationships/hyperlink" Target="http://cs.wikipedia.org/wiki/Intel_Core" TargetMode="External"/><Relationship Id="rId24" Type="http://schemas.openxmlformats.org/officeDocument/2006/relationships/hyperlink" Target="http://cs.wikipedia.org/wiki/Ivy_Bridge" TargetMode="External"/><Relationship Id="rId5" Type="http://schemas.openxmlformats.org/officeDocument/2006/relationships/hyperlink" Target="http://cs.wikipedia.org/wiki/2001" TargetMode="External"/><Relationship Id="rId15" Type="http://schemas.openxmlformats.org/officeDocument/2006/relationships/hyperlink" Target="http://cs.wikipedia.org/wiki/Core_2_Quad" TargetMode="External"/><Relationship Id="rId23" Type="http://schemas.openxmlformats.org/officeDocument/2006/relationships/hyperlink" Target="http://cs.wikipedia.org/wiki/2012" TargetMode="External"/><Relationship Id="rId10" Type="http://schemas.openxmlformats.org/officeDocument/2006/relationships/hyperlink" Target="http://cs.wikipedia.org/wiki/2006" TargetMode="External"/><Relationship Id="rId19" Type="http://schemas.openxmlformats.org/officeDocument/2006/relationships/hyperlink" Target="http://cs.wikipedia.org/wiki/Core_i7" TargetMode="External"/><Relationship Id="rId4" Type="http://schemas.openxmlformats.org/officeDocument/2006/relationships/hyperlink" Target="http://cs.wikipedia.org/wiki/Intel_Pentium_4" TargetMode="External"/><Relationship Id="rId9" Type="http://schemas.openxmlformats.org/officeDocument/2006/relationships/hyperlink" Target="http://cs.wikipedia.org/wiki/AMD_Athlon_64" TargetMode="External"/><Relationship Id="rId14" Type="http://schemas.openxmlformats.org/officeDocument/2006/relationships/hyperlink" Target="http://cs.wikipedia.org/w/index.php?title=Core_Solo&amp;action=edit&amp;redlink=1" TargetMode="External"/><Relationship Id="rId22" Type="http://schemas.openxmlformats.org/officeDocument/2006/relationships/hyperlink" Target="http://cs.wikipedia.org/wiki/201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cs.wikipedia.org/wiki/Soubor:AM486_DX2-80_and_i486_DX2-66.jpg" TargetMode="External"/><Relationship Id="rId13" Type="http://schemas.openxmlformats.org/officeDocument/2006/relationships/image" Target="../media/image12.jpg"/><Relationship Id="rId3" Type="http://schemas.openxmlformats.org/officeDocument/2006/relationships/hyperlink" Target="https://www.alza.cz/intel-generace-procesoru#rocket-lake" TargetMode="External"/><Relationship Id="rId7" Type="http://schemas.openxmlformats.org/officeDocument/2006/relationships/hyperlink" Target="http://cs.wikipedia.org/wiki/Seznam_mikroprocesor%C5%AF_Intelu" TargetMode="External"/><Relationship Id="rId12" Type="http://schemas.openxmlformats.org/officeDocument/2006/relationships/image" Target="../media/image11.jpeg"/><Relationship Id="rId2" Type="http://schemas.openxmlformats.org/officeDocument/2006/relationships/hyperlink" Target="https://www.alza.cz/intel-generace-procesoru#comet-lake" TargetMode="External"/><Relationship Id="rId1" Type="http://schemas.openxmlformats.org/officeDocument/2006/relationships/slideLayout" Target="../slideLayouts/slideLayout2.xml"/><Relationship Id="rId6" Type="http://schemas.openxmlformats.org/officeDocument/2006/relationships/hyperlink" Target="http://cs.wikipedia.org/wiki/Procesory_Intel" TargetMode="External"/><Relationship Id="rId11" Type="http://schemas.openxmlformats.org/officeDocument/2006/relationships/image" Target="../media/image10.jpg"/><Relationship Id="rId5" Type="http://schemas.openxmlformats.org/officeDocument/2006/relationships/hyperlink" Target="https://www.zive.cz/clanky/intel-core-13-generace-nabizi-az-24-jader-a-prolomi-hranici-6-ghz/sc-3-a-218640/default.aspx" TargetMode="External"/><Relationship Id="rId10" Type="http://schemas.openxmlformats.org/officeDocument/2006/relationships/image" Target="../media/image9.jpg"/><Relationship Id="rId4" Type="http://schemas.openxmlformats.org/officeDocument/2006/relationships/hyperlink" Target="https://www.alza.cz/intel-generace-procesoru#alder-lake" TargetMode="External"/><Relationship Id="rId9" Type="http://schemas.openxmlformats.org/officeDocument/2006/relationships/image" Target="../media/image8.jpeg"/></Relationships>
</file>

<file path=ppt/slides/_rels/slide29.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hyperlink" Target="https://www.svethardware.cz/prehled-desktopovych-procesoru/22566-12" TargetMode="External"/><Relationship Id="rId7" Type="http://schemas.openxmlformats.org/officeDocument/2006/relationships/image" Target="../media/image14.jpg"/><Relationship Id="rId2" Type="http://schemas.openxmlformats.org/officeDocument/2006/relationships/hyperlink" Target="http://cs.wikipedia.org/wiki/Procesory_spole%C4%8Dnosti_AMD" TargetMode="Externa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8.jpeg"/><Relationship Id="rId10" Type="http://schemas.openxmlformats.org/officeDocument/2006/relationships/image" Target="../media/image16.jpeg"/><Relationship Id="rId4" Type="http://schemas.openxmlformats.org/officeDocument/2006/relationships/hyperlink" Target="http://cs.wikipedia.org/wiki/Soubor:AM486_DX2-80_and_i486_DX2-66.jpg" TargetMode="External"/><Relationship Id="rId9" Type="http://schemas.openxmlformats.org/officeDocument/2006/relationships/hyperlink" Target="https://www.google.cz/url?sa=i&amp;rct=j&amp;q=&amp;esrc=s&amp;source=images&amp;cd=&amp;cad=rja&amp;uact=8&amp;ved=2ahUKEwiW27Dv4vHeAhXH4IUKHcY8Cr8QjRx6BAgBEAU&amp;url=https%3A%2F%2Fwww.amd.com%2Fen%2Fproducts%2Fepyc&amp;psig=AOvVaw1aLSlosTXZGndgcuSpjU6k&amp;ust=1543311733596694"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cs-CZ" dirty="0"/>
              <a:t>Procesory</a:t>
            </a:r>
          </a:p>
        </p:txBody>
      </p:sp>
      <p:sp>
        <p:nvSpPr>
          <p:cNvPr id="3" name="Podnadpis 2"/>
          <p:cNvSpPr>
            <a:spLocks noGrp="1"/>
          </p:cNvSpPr>
          <p:nvPr>
            <p:ph type="subTitle" idx="1"/>
          </p:nvPr>
        </p:nvSpPr>
        <p:spPr>
          <a:xfrm>
            <a:off x="1371600" y="3886200"/>
            <a:ext cx="6400800" cy="838944"/>
          </a:xfrm>
        </p:spPr>
        <p:txBody>
          <a:bodyPr/>
          <a:lstStyle/>
          <a:p>
            <a:r>
              <a:rPr lang="cs-CZ" dirty="0"/>
              <a:t>CPU – </a:t>
            </a:r>
            <a:r>
              <a:rPr lang="cs-CZ" dirty="0" err="1"/>
              <a:t>Central</a:t>
            </a:r>
            <a:r>
              <a:rPr lang="cs-CZ" dirty="0"/>
              <a:t> </a:t>
            </a:r>
            <a:r>
              <a:rPr lang="cs-CZ" dirty="0" err="1"/>
              <a:t>Processing</a:t>
            </a:r>
            <a:r>
              <a:rPr lang="cs-CZ" dirty="0"/>
              <a:t> Unit</a:t>
            </a:r>
          </a:p>
        </p:txBody>
      </p:sp>
    </p:spTree>
    <p:extLst>
      <p:ext uri="{BB962C8B-B14F-4D97-AF65-F5344CB8AC3E}">
        <p14:creationId xmlns:p14="http://schemas.microsoft.com/office/powerpoint/2010/main" val="3199273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4042792" cy="1143000"/>
          </a:xfrm>
        </p:spPr>
        <p:txBody>
          <a:bodyPr/>
          <a:lstStyle/>
          <a:p>
            <a:r>
              <a:rPr lang="cs-CZ" dirty="0"/>
              <a:t>Procesor</a:t>
            </a:r>
          </a:p>
        </p:txBody>
      </p:sp>
      <p:sp>
        <p:nvSpPr>
          <p:cNvPr id="3" name="Zástupný symbol pro obsah 2"/>
          <p:cNvSpPr>
            <a:spLocks noGrp="1"/>
          </p:cNvSpPr>
          <p:nvPr>
            <p:ph idx="1"/>
          </p:nvPr>
        </p:nvSpPr>
        <p:spPr>
          <a:xfrm>
            <a:off x="251520" y="2060848"/>
            <a:ext cx="8712968" cy="4565104"/>
          </a:xfrm>
        </p:spPr>
        <p:txBody>
          <a:bodyPr>
            <a:normAutofit fontScale="92500"/>
          </a:bodyPr>
          <a:lstStyle/>
          <a:p>
            <a:pPr algn="just"/>
            <a:r>
              <a:rPr lang="cs-CZ" dirty="0"/>
              <a:t>Je hardwarové zařízení na zpracování a vykonávaní instrukcí. Oživuje celý systém a vydává jednotlivým zařízením příkazy a řídí je na základě instrukcí programu. Některé instrukce vykonává sám, při zpracování jiných využívá další komponenty (operační paměť, sběrnice, disky, atd.)</a:t>
            </a:r>
          </a:p>
          <a:p>
            <a:pPr algn="just"/>
            <a:r>
              <a:rPr lang="cs-CZ" dirty="0"/>
              <a:t>Fyzicky se jedná o křemíkovou destičku, která obsahuje na malé ploše milióny tranzistorů. Ty na základě spínání a vypínání řídí komponenty systému</a:t>
            </a:r>
          </a:p>
        </p:txBody>
      </p:sp>
      <p:pic>
        <p:nvPicPr>
          <p:cNvPr id="4" name="Obrázek 3" descr="male_waferibe.jpg"/>
          <p:cNvPicPr>
            <a:picLocks noChangeAspect="1"/>
          </p:cNvPicPr>
          <p:nvPr/>
        </p:nvPicPr>
        <p:blipFill>
          <a:blip r:embed="rId2" cstate="print"/>
          <a:stretch>
            <a:fillRect/>
          </a:stretch>
        </p:blipFill>
        <p:spPr>
          <a:xfrm>
            <a:off x="5364088" y="188640"/>
            <a:ext cx="2160240" cy="1919826"/>
          </a:xfrm>
          <a:prstGeom prst="rect">
            <a:avLst/>
          </a:prstGeom>
        </p:spPr>
      </p:pic>
    </p:spTree>
    <p:extLst>
      <p:ext uri="{BB962C8B-B14F-4D97-AF65-F5344CB8AC3E}">
        <p14:creationId xmlns:p14="http://schemas.microsoft.com/office/powerpoint/2010/main" val="401027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Části procesoru</a:t>
            </a:r>
          </a:p>
        </p:txBody>
      </p:sp>
      <p:sp>
        <p:nvSpPr>
          <p:cNvPr id="3" name="Zástupný symbol pro obsah 2"/>
          <p:cNvSpPr>
            <a:spLocks noGrp="1"/>
          </p:cNvSpPr>
          <p:nvPr>
            <p:ph idx="1"/>
          </p:nvPr>
        </p:nvSpPr>
        <p:spPr>
          <a:xfrm>
            <a:off x="0" y="1628800"/>
            <a:ext cx="4572000" cy="4525963"/>
          </a:xfrm>
        </p:spPr>
        <p:txBody>
          <a:bodyPr/>
          <a:lstStyle/>
          <a:p>
            <a:r>
              <a:rPr lang="cs-CZ" b="1" dirty="0"/>
              <a:t>Řadič</a:t>
            </a:r>
            <a:r>
              <a:rPr lang="cs-CZ" dirty="0"/>
              <a:t> (řídící jednotka): </a:t>
            </a:r>
          </a:p>
          <a:p>
            <a:pPr>
              <a:buNone/>
            </a:pPr>
            <a:endParaRPr lang="cs-CZ" dirty="0"/>
          </a:p>
          <a:p>
            <a:pPr lvl="1" algn="just"/>
            <a:r>
              <a:rPr lang="cs-CZ" dirty="0"/>
              <a:t>čte instrukce programu a podle nich řídí ostatní obvody procesoru nebo komunikuje s ostatními zařízeními.</a:t>
            </a:r>
          </a:p>
        </p:txBody>
      </p:sp>
      <p:pic>
        <p:nvPicPr>
          <p:cNvPr id="4" name="Obrázek 3" descr="radic.png"/>
          <p:cNvPicPr>
            <a:picLocks noChangeAspect="1"/>
          </p:cNvPicPr>
          <p:nvPr/>
        </p:nvPicPr>
        <p:blipFill>
          <a:blip r:embed="rId2" cstate="print"/>
          <a:stretch>
            <a:fillRect/>
          </a:stretch>
        </p:blipFill>
        <p:spPr>
          <a:xfrm>
            <a:off x="4593153" y="1340768"/>
            <a:ext cx="4443343" cy="4896544"/>
          </a:xfrm>
          <a:prstGeom prst="rect">
            <a:avLst/>
          </a:prstGeom>
        </p:spPr>
      </p:pic>
    </p:spTree>
    <p:extLst>
      <p:ext uri="{BB962C8B-B14F-4D97-AF65-F5344CB8AC3E}">
        <p14:creationId xmlns:p14="http://schemas.microsoft.com/office/powerpoint/2010/main" val="3483838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0"/>
            <a:ext cx="8229600" cy="1143000"/>
          </a:xfrm>
        </p:spPr>
        <p:txBody>
          <a:bodyPr/>
          <a:lstStyle/>
          <a:p>
            <a:r>
              <a:rPr lang="cs-CZ" dirty="0"/>
              <a:t>Části procesoru</a:t>
            </a:r>
          </a:p>
        </p:txBody>
      </p:sp>
      <p:sp>
        <p:nvSpPr>
          <p:cNvPr id="3" name="Zástupný symbol pro obsah 2"/>
          <p:cNvSpPr>
            <a:spLocks noGrp="1"/>
          </p:cNvSpPr>
          <p:nvPr>
            <p:ph idx="1"/>
          </p:nvPr>
        </p:nvSpPr>
        <p:spPr>
          <a:xfrm>
            <a:off x="395536" y="1196752"/>
            <a:ext cx="8229600" cy="4525963"/>
          </a:xfrm>
        </p:spPr>
        <p:txBody>
          <a:bodyPr/>
          <a:lstStyle/>
          <a:p>
            <a:pPr algn="just"/>
            <a:r>
              <a:rPr lang="cs-CZ" b="1" dirty="0"/>
              <a:t>Aritmeticko-logická jednotka</a:t>
            </a:r>
            <a:r>
              <a:rPr lang="cs-CZ" dirty="0"/>
              <a:t> </a:t>
            </a:r>
          </a:p>
          <a:p>
            <a:pPr marL="0" indent="0" algn="just">
              <a:buNone/>
            </a:pPr>
            <a:r>
              <a:rPr lang="cs-CZ" dirty="0"/>
              <a:t>(ALU – </a:t>
            </a:r>
            <a:r>
              <a:rPr lang="cs-CZ" dirty="0" err="1"/>
              <a:t>Arithmetic</a:t>
            </a:r>
            <a:r>
              <a:rPr lang="cs-CZ" dirty="0"/>
              <a:t> </a:t>
            </a:r>
            <a:r>
              <a:rPr lang="cs-CZ" dirty="0" err="1"/>
              <a:t>and</a:t>
            </a:r>
            <a:r>
              <a:rPr lang="cs-CZ" dirty="0"/>
              <a:t> </a:t>
            </a:r>
            <a:r>
              <a:rPr lang="cs-CZ" dirty="0" err="1"/>
              <a:t>Logic</a:t>
            </a:r>
            <a:r>
              <a:rPr lang="cs-CZ" dirty="0"/>
              <a:t> Unit):</a:t>
            </a:r>
          </a:p>
          <a:p>
            <a:pPr lvl="1" algn="just"/>
            <a:r>
              <a:rPr lang="cs-CZ" dirty="0"/>
              <a:t>vykonává matematické (logické) operace</a:t>
            </a:r>
          </a:p>
          <a:p>
            <a:endParaRPr lang="cs-CZ" dirty="0"/>
          </a:p>
        </p:txBody>
      </p:sp>
      <p:pic>
        <p:nvPicPr>
          <p:cNvPr id="4" name="Obrázek 3" descr="alu.png"/>
          <p:cNvPicPr>
            <a:picLocks noChangeAspect="1"/>
          </p:cNvPicPr>
          <p:nvPr/>
        </p:nvPicPr>
        <p:blipFill>
          <a:blip r:embed="rId2" cstate="print"/>
          <a:stretch>
            <a:fillRect/>
          </a:stretch>
        </p:blipFill>
        <p:spPr>
          <a:xfrm>
            <a:off x="1115616" y="2996952"/>
            <a:ext cx="6768752" cy="34320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0" y="188640"/>
            <a:ext cx="6156176" cy="1143000"/>
          </a:xfrm>
        </p:spPr>
        <p:txBody>
          <a:bodyPr/>
          <a:lstStyle/>
          <a:p>
            <a:r>
              <a:rPr lang="cs-CZ" dirty="0"/>
              <a:t>Části procesoru</a:t>
            </a:r>
          </a:p>
        </p:txBody>
      </p:sp>
      <p:sp>
        <p:nvSpPr>
          <p:cNvPr id="3" name="Zástupný symbol pro obsah 2"/>
          <p:cNvSpPr>
            <a:spLocks noGrp="1"/>
          </p:cNvSpPr>
          <p:nvPr>
            <p:ph idx="1"/>
          </p:nvPr>
        </p:nvSpPr>
        <p:spPr>
          <a:xfrm>
            <a:off x="395536" y="2060848"/>
            <a:ext cx="8229600" cy="4525963"/>
          </a:xfrm>
        </p:spPr>
        <p:txBody>
          <a:bodyPr>
            <a:normAutofit lnSpcReduction="10000"/>
          </a:bodyPr>
          <a:lstStyle/>
          <a:p>
            <a:r>
              <a:rPr lang="cs-CZ" b="1" dirty="0"/>
              <a:t>Registry:</a:t>
            </a:r>
            <a:endParaRPr lang="cs-CZ" dirty="0"/>
          </a:p>
          <a:p>
            <a:pPr lvl="1" algn="just"/>
            <a:r>
              <a:rPr lang="cs-CZ" dirty="0"/>
              <a:t>Představují paměťové místa na krátkodobé uložení právě zpracovaných údajů (např. kód a adresa zpracované instrukce, adresy důležitých oblastí v paměti, mezivýsledky výpočtů).</a:t>
            </a:r>
          </a:p>
          <a:p>
            <a:r>
              <a:rPr lang="cs-CZ" b="1" dirty="0"/>
              <a:t>Matematický koprocesor </a:t>
            </a:r>
            <a:r>
              <a:rPr lang="cs-CZ" dirty="0"/>
              <a:t>(numerický):</a:t>
            </a:r>
          </a:p>
          <a:p>
            <a:pPr lvl="1" algn="just"/>
            <a:r>
              <a:rPr lang="cs-CZ" dirty="0"/>
              <a:t>Je určený na zrychlení výpočtů. Je to samostatný procesor, který realizuje jen výpočty s pohyblivou desetinou čárkou a je implementován jako součást procesoru. </a:t>
            </a:r>
          </a:p>
        </p:txBody>
      </p:sp>
      <p:pic>
        <p:nvPicPr>
          <p:cNvPr id="4" name="Obrázek 3" descr="ivy_die.jpg"/>
          <p:cNvPicPr>
            <a:picLocks noChangeAspect="1"/>
          </p:cNvPicPr>
          <p:nvPr/>
        </p:nvPicPr>
        <p:blipFill>
          <a:blip r:embed="rId2" cstate="print"/>
          <a:stretch>
            <a:fillRect/>
          </a:stretch>
        </p:blipFill>
        <p:spPr>
          <a:xfrm>
            <a:off x="5724128" y="260648"/>
            <a:ext cx="2448272" cy="2159070"/>
          </a:xfrm>
          <a:prstGeom prst="rect">
            <a:avLst/>
          </a:prstGeom>
        </p:spPr>
      </p:pic>
    </p:spTree>
    <p:extLst>
      <p:ext uri="{BB962C8B-B14F-4D97-AF65-F5344CB8AC3E}">
        <p14:creationId xmlns:p14="http://schemas.microsoft.com/office/powerpoint/2010/main" val="387476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Části procesoru</a:t>
            </a:r>
          </a:p>
        </p:txBody>
      </p:sp>
      <p:sp>
        <p:nvSpPr>
          <p:cNvPr id="3" name="Zástupný symbol pro obsah 2"/>
          <p:cNvSpPr>
            <a:spLocks noGrp="1"/>
          </p:cNvSpPr>
          <p:nvPr>
            <p:ph idx="1"/>
          </p:nvPr>
        </p:nvSpPr>
        <p:spPr>
          <a:xfrm>
            <a:off x="179512" y="1412776"/>
            <a:ext cx="8640960" cy="5257800"/>
          </a:xfrm>
        </p:spPr>
        <p:txBody>
          <a:bodyPr>
            <a:normAutofit/>
          </a:bodyPr>
          <a:lstStyle/>
          <a:p>
            <a:r>
              <a:rPr lang="cs-CZ" b="1" dirty="0" err="1"/>
              <a:t>Cache</a:t>
            </a:r>
            <a:r>
              <a:rPr lang="cs-CZ" b="1" dirty="0"/>
              <a:t>:</a:t>
            </a:r>
          </a:p>
          <a:p>
            <a:pPr lvl="1" algn="just"/>
            <a:r>
              <a:rPr lang="cs-CZ" sz="3200" dirty="0"/>
              <a:t>Je rychlá vyrovnávací paměť relativně malé kapacity, která slouží na zrychlení toku údajů mezi procesorem a operační pamětí. Její existence je založena na zkušenosti, že procesor často žádá z operační paměti vícekrát za sebou stejné údaje, tím že je umístí do </a:t>
            </a:r>
            <a:r>
              <a:rPr lang="cs-CZ" sz="3200" dirty="0" err="1"/>
              <a:t>cache</a:t>
            </a:r>
            <a:r>
              <a:rPr lang="cs-CZ" sz="3200" dirty="0"/>
              <a:t>, se sníží čas na jejich opětovné získání. </a:t>
            </a:r>
            <a:r>
              <a:rPr lang="cs-CZ" sz="3200" dirty="0" err="1"/>
              <a:t>Cache</a:t>
            </a:r>
            <a:r>
              <a:rPr lang="cs-CZ" sz="3200" dirty="0"/>
              <a:t> může být součástí procesoru (častější), ale může být i mimo procesor.</a:t>
            </a:r>
          </a:p>
        </p:txBody>
      </p:sp>
    </p:spTree>
    <p:extLst>
      <p:ext uri="{BB962C8B-B14F-4D97-AF65-F5344CB8AC3E}">
        <p14:creationId xmlns:p14="http://schemas.microsoft.com/office/powerpoint/2010/main" val="2884036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Části procesoru</a:t>
            </a:r>
          </a:p>
        </p:txBody>
      </p:sp>
      <p:sp>
        <p:nvSpPr>
          <p:cNvPr id="3" name="Zástupný symbol pro obsah 2"/>
          <p:cNvSpPr>
            <a:spLocks noGrp="1"/>
          </p:cNvSpPr>
          <p:nvPr>
            <p:ph idx="1"/>
          </p:nvPr>
        </p:nvSpPr>
        <p:spPr/>
        <p:txBody>
          <a:bodyPr>
            <a:normAutofit lnSpcReduction="10000"/>
          </a:bodyPr>
          <a:lstStyle/>
          <a:p>
            <a:pPr algn="just"/>
            <a:r>
              <a:rPr lang="cs-CZ" b="1" dirty="0" err="1"/>
              <a:t>Cache</a:t>
            </a:r>
            <a:r>
              <a:rPr lang="cs-CZ" b="1" dirty="0"/>
              <a:t>:</a:t>
            </a:r>
            <a:endParaRPr lang="cs-CZ" dirty="0"/>
          </a:p>
          <a:p>
            <a:pPr algn="just"/>
            <a:r>
              <a:rPr lang="cs-CZ" dirty="0"/>
              <a:t>L1 </a:t>
            </a:r>
            <a:r>
              <a:rPr lang="cs-CZ" dirty="0" err="1"/>
              <a:t>cache</a:t>
            </a:r>
            <a:r>
              <a:rPr lang="cs-CZ" dirty="0"/>
              <a:t>, uvnitř čipu procesoru, stovky KB, stejně rychlá jako vlastní procesor</a:t>
            </a:r>
          </a:p>
          <a:p>
            <a:pPr algn="just"/>
            <a:r>
              <a:rPr lang="cs-CZ" dirty="0"/>
              <a:t>L2 </a:t>
            </a:r>
            <a:r>
              <a:rPr lang="cs-CZ" dirty="0" err="1"/>
              <a:t>cache</a:t>
            </a:r>
            <a:r>
              <a:rPr lang="cs-CZ" dirty="0"/>
              <a:t>, mimo čip, v pouzdru CPU nebo dříve na základní desce, jednotky MB</a:t>
            </a:r>
          </a:p>
          <a:p>
            <a:pPr algn="just"/>
            <a:r>
              <a:rPr lang="cs-CZ" dirty="0"/>
              <a:t>L3 </a:t>
            </a:r>
            <a:r>
              <a:rPr lang="cs-CZ" dirty="0" err="1"/>
              <a:t>cache</a:t>
            </a:r>
            <a:r>
              <a:rPr lang="cs-CZ" dirty="0"/>
              <a:t> (2008-2009) v běžných procesorech (Intel </a:t>
            </a:r>
            <a:r>
              <a:rPr lang="cs-CZ" dirty="0" err="1"/>
              <a:t>Core</a:t>
            </a:r>
            <a:r>
              <a:rPr lang="cs-CZ" dirty="0"/>
              <a:t> i7,i9, AMD </a:t>
            </a:r>
            <a:r>
              <a:rPr lang="cs-CZ" dirty="0" err="1"/>
              <a:t>Phenom</a:t>
            </a:r>
            <a:r>
              <a:rPr lang="cs-CZ" dirty="0"/>
              <a:t>, </a:t>
            </a:r>
            <a:r>
              <a:rPr lang="cs-CZ" dirty="0" err="1"/>
              <a:t>Ryzen</a:t>
            </a:r>
            <a:r>
              <a:rPr lang="cs-CZ" dirty="0"/>
              <a:t>), která je pro všechna jádra společná a většinou má velikost několik megabajtů.</a:t>
            </a:r>
          </a:p>
          <a:p>
            <a:pPr algn="just"/>
            <a:endParaRPr lang="cs-CZ" dirty="0"/>
          </a:p>
        </p:txBody>
      </p:sp>
    </p:spTree>
    <p:extLst>
      <p:ext uri="{BB962C8B-B14F-4D97-AF65-F5344CB8AC3E}">
        <p14:creationId xmlns:p14="http://schemas.microsoft.com/office/powerpoint/2010/main" val="582760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0"/>
            <a:ext cx="8229600" cy="1143000"/>
          </a:xfrm>
        </p:spPr>
        <p:txBody>
          <a:bodyPr/>
          <a:lstStyle/>
          <a:p>
            <a:r>
              <a:rPr lang="cs-CZ" dirty="0"/>
              <a:t>Charakteristiky procesoru</a:t>
            </a:r>
          </a:p>
        </p:txBody>
      </p:sp>
      <p:sp>
        <p:nvSpPr>
          <p:cNvPr id="3" name="Zástupný symbol pro obsah 2"/>
          <p:cNvSpPr>
            <a:spLocks noGrp="1"/>
          </p:cNvSpPr>
          <p:nvPr>
            <p:ph idx="1"/>
          </p:nvPr>
        </p:nvSpPr>
        <p:spPr>
          <a:xfrm>
            <a:off x="251520" y="1268760"/>
            <a:ext cx="8892480" cy="5400600"/>
          </a:xfrm>
        </p:spPr>
        <p:txBody>
          <a:bodyPr>
            <a:normAutofit lnSpcReduction="10000"/>
          </a:bodyPr>
          <a:lstStyle/>
          <a:p>
            <a:pPr algn="just"/>
            <a:r>
              <a:rPr lang="cs-CZ" dirty="0"/>
              <a:t>Výběr CPU je potřeba sladit s výběrem základní desky (patice)</a:t>
            </a:r>
          </a:p>
          <a:p>
            <a:pPr algn="just"/>
            <a:r>
              <a:rPr lang="cs-CZ" dirty="0"/>
              <a:t>Taktovací frekvence – prezentuje rychlost CPU. Udává se v hertzích (GHz). Tento parametr udává, kolikrát je CPU schopen za sekundu změnit svůj stav. Taktovací frekvence je téměř vždy násobkem frekvence základní desky (FSB).</a:t>
            </a:r>
          </a:p>
          <a:p>
            <a:pPr algn="just"/>
            <a:r>
              <a:rPr lang="cs-CZ" dirty="0"/>
              <a:t>FLOPS (</a:t>
            </a:r>
            <a:r>
              <a:rPr lang="cs-CZ" dirty="0" err="1"/>
              <a:t>Floating</a:t>
            </a:r>
            <a:r>
              <a:rPr lang="cs-CZ" dirty="0"/>
              <a:t> Point </a:t>
            </a:r>
            <a:r>
              <a:rPr lang="cs-CZ" dirty="0" err="1"/>
              <a:t>Operations</a:t>
            </a:r>
            <a:r>
              <a:rPr lang="cs-CZ" dirty="0"/>
              <a:t> Per Second), jde o jednotku k měření výkonu CPU, udává počet operací v pohyblivé řadové čárce, jež je schopen CPU vykonat za jednu sekundu.</a:t>
            </a:r>
          </a:p>
        </p:txBody>
      </p:sp>
    </p:spTree>
    <p:extLst>
      <p:ext uri="{BB962C8B-B14F-4D97-AF65-F5344CB8AC3E}">
        <p14:creationId xmlns:p14="http://schemas.microsoft.com/office/powerpoint/2010/main" val="2401534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Charakteristiky procesoru</a:t>
            </a:r>
          </a:p>
        </p:txBody>
      </p:sp>
      <p:sp>
        <p:nvSpPr>
          <p:cNvPr id="3" name="Zástupný symbol pro obsah 2"/>
          <p:cNvSpPr>
            <a:spLocks noGrp="1"/>
          </p:cNvSpPr>
          <p:nvPr>
            <p:ph idx="1"/>
          </p:nvPr>
        </p:nvSpPr>
        <p:spPr>
          <a:xfrm>
            <a:off x="285720" y="1285860"/>
            <a:ext cx="8572560" cy="5572140"/>
          </a:xfrm>
        </p:spPr>
        <p:txBody>
          <a:bodyPr>
            <a:normAutofit/>
          </a:bodyPr>
          <a:lstStyle/>
          <a:p>
            <a:pPr algn="just"/>
            <a:r>
              <a:rPr lang="cs-CZ" sz="3300" dirty="0"/>
              <a:t>Efektivita </a:t>
            </a:r>
            <a:r>
              <a:rPr lang="cs-CZ" sz="3300" dirty="0" err="1"/>
              <a:t>mikrokódu</a:t>
            </a:r>
            <a:r>
              <a:rPr lang="cs-CZ" sz="3300" dirty="0"/>
              <a:t> – hovoří o tom, jak jsou efektivně napsané mikroinstrukce procesoru zabezpečující nejjednodušší operace – tj. na kolik kroků je možno jednu instrukci vykonat. (CPU 8088 – 70 kroků na dělení, 80486 – 1 krok)</a:t>
            </a:r>
          </a:p>
          <a:p>
            <a:pPr algn="just"/>
            <a:r>
              <a:rPr lang="cs-CZ" sz="3300" dirty="0"/>
              <a:t>Šířka slova – určuje počet bitů, které je procesor schopný zpracovat v rámci jedné instrukce (hodnota 8,16,32 a 64). Tato hodnota vyjadřuje šířku vnitřní sběrnice procesoru.</a:t>
            </a:r>
          </a:p>
        </p:txBody>
      </p:sp>
    </p:spTree>
    <p:extLst>
      <p:ext uri="{BB962C8B-B14F-4D97-AF65-F5344CB8AC3E}">
        <p14:creationId xmlns:p14="http://schemas.microsoft.com/office/powerpoint/2010/main" val="104823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Charakteristiky procesoru</a:t>
            </a:r>
          </a:p>
        </p:txBody>
      </p:sp>
      <p:sp>
        <p:nvSpPr>
          <p:cNvPr id="3" name="Zástupný symbol pro obsah 2"/>
          <p:cNvSpPr>
            <a:spLocks noGrp="1"/>
          </p:cNvSpPr>
          <p:nvPr>
            <p:ph idx="1"/>
          </p:nvPr>
        </p:nvSpPr>
        <p:spPr>
          <a:xfrm>
            <a:off x="457200" y="1600200"/>
            <a:ext cx="8229600" cy="4900634"/>
          </a:xfrm>
        </p:spPr>
        <p:txBody>
          <a:bodyPr>
            <a:normAutofit lnSpcReduction="10000"/>
          </a:bodyPr>
          <a:lstStyle/>
          <a:p>
            <a:pPr algn="just"/>
            <a:r>
              <a:rPr lang="cs-CZ" sz="3600" dirty="0"/>
              <a:t>Šířka datové sběrnice (šířka přenosů údajů) – je parametr, který vyjadřuje rozměr vnější sběrnice určené na komunikaci procesoru s okolím. Udává se v bitech a čím je větší, tím více údajů je možno přenést na jeden takt.</a:t>
            </a:r>
          </a:p>
          <a:p>
            <a:pPr algn="just"/>
            <a:r>
              <a:rPr lang="cs-CZ" sz="3600" dirty="0"/>
              <a:t>Numerický koprocesor – dnes už je historickou podmínkou, je součástí procesoru.</a:t>
            </a:r>
          </a:p>
          <a:p>
            <a:pPr>
              <a:buNone/>
            </a:pPr>
            <a:endParaRPr lang="cs-CZ"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00034" y="0"/>
            <a:ext cx="8229600" cy="1143000"/>
          </a:xfrm>
        </p:spPr>
        <p:txBody>
          <a:bodyPr/>
          <a:lstStyle/>
          <a:p>
            <a:r>
              <a:rPr lang="cs-CZ" dirty="0"/>
              <a:t>Charakteristiky procesoru</a:t>
            </a:r>
          </a:p>
        </p:txBody>
      </p:sp>
      <p:sp>
        <p:nvSpPr>
          <p:cNvPr id="3" name="Zástupný symbol pro obsah 2"/>
          <p:cNvSpPr>
            <a:spLocks noGrp="1"/>
          </p:cNvSpPr>
          <p:nvPr>
            <p:ph idx="1"/>
          </p:nvPr>
        </p:nvSpPr>
        <p:spPr>
          <a:xfrm>
            <a:off x="357158" y="1285860"/>
            <a:ext cx="8429684" cy="5143536"/>
          </a:xfrm>
        </p:spPr>
        <p:txBody>
          <a:bodyPr>
            <a:normAutofit lnSpcReduction="10000"/>
          </a:bodyPr>
          <a:lstStyle/>
          <a:p>
            <a:pPr algn="just"/>
            <a:r>
              <a:rPr lang="cs-CZ" dirty="0"/>
              <a:t>Kapacita </a:t>
            </a:r>
            <a:r>
              <a:rPr lang="cs-CZ" dirty="0" err="1"/>
              <a:t>cache</a:t>
            </a:r>
            <a:r>
              <a:rPr lang="cs-CZ" dirty="0"/>
              <a:t> – zvyšuje výkon procesoru prostřednictvím zkrácení přístupové doby k údajům.</a:t>
            </a:r>
          </a:p>
          <a:p>
            <a:pPr algn="just"/>
            <a:r>
              <a:rPr lang="cs-CZ" dirty="0"/>
              <a:t>Velikost adresovatelné paměti – udává velikost operační paměti, kterou je procesor schopen používat (adresovat).  Ta závisí na šířce adresové sběrnice (2</a:t>
            </a:r>
            <a:r>
              <a:rPr lang="cs-CZ" baseline="30000" dirty="0"/>
              <a:t>šířka sběrnice</a:t>
            </a:r>
            <a:r>
              <a:rPr lang="cs-CZ" dirty="0"/>
              <a:t>).</a:t>
            </a:r>
          </a:p>
          <a:p>
            <a:pPr lvl="1" algn="just"/>
            <a:r>
              <a:rPr lang="cs-CZ" dirty="0"/>
              <a:t>8 bitové procesory měly 16 bitovou sběrnici – </a:t>
            </a:r>
          </a:p>
          <a:p>
            <a:pPr lvl="2" algn="just"/>
            <a:r>
              <a:rPr lang="cs-CZ" dirty="0"/>
              <a:t>2</a:t>
            </a:r>
            <a:r>
              <a:rPr lang="cs-CZ" baseline="30000" dirty="0"/>
              <a:t>16</a:t>
            </a:r>
            <a:r>
              <a:rPr lang="cs-CZ" dirty="0"/>
              <a:t>  = 64 kB,  </a:t>
            </a:r>
          </a:p>
          <a:p>
            <a:pPr lvl="1" algn="just"/>
            <a:r>
              <a:rPr lang="cs-CZ" dirty="0"/>
              <a:t>u dnešních 64 bitová sběrnice –</a:t>
            </a:r>
          </a:p>
          <a:p>
            <a:pPr lvl="2" algn="just"/>
            <a:r>
              <a:rPr lang="cs-CZ" dirty="0"/>
              <a:t>2</a:t>
            </a:r>
            <a:r>
              <a:rPr lang="cs-CZ" baseline="30000" dirty="0"/>
              <a:t>64</a:t>
            </a:r>
            <a:r>
              <a:rPr lang="cs-CZ" dirty="0"/>
              <a:t> =  18446744073709551616 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6131024" cy="1143000"/>
          </a:xfrm>
        </p:spPr>
        <p:txBody>
          <a:bodyPr>
            <a:normAutofit/>
          </a:bodyPr>
          <a:lstStyle/>
          <a:p>
            <a:r>
              <a:rPr lang="cs-CZ" b="1" dirty="0"/>
              <a:t>Typy procesorů</a:t>
            </a:r>
            <a:endParaRPr lang="cs-CZ" dirty="0"/>
          </a:p>
        </p:txBody>
      </p:sp>
      <p:sp>
        <p:nvSpPr>
          <p:cNvPr id="3" name="Zástupný symbol pro obsah 2"/>
          <p:cNvSpPr>
            <a:spLocks noGrp="1"/>
          </p:cNvSpPr>
          <p:nvPr>
            <p:ph idx="1"/>
          </p:nvPr>
        </p:nvSpPr>
        <p:spPr>
          <a:xfrm>
            <a:off x="323528" y="2276872"/>
            <a:ext cx="8229600" cy="3697295"/>
          </a:xfrm>
        </p:spPr>
        <p:txBody>
          <a:bodyPr>
            <a:normAutofit/>
          </a:bodyPr>
          <a:lstStyle/>
          <a:p>
            <a:r>
              <a:rPr lang="cs-CZ" sz="4000" dirty="0"/>
              <a:t>MCU (</a:t>
            </a:r>
            <a:r>
              <a:rPr lang="cs-CZ" sz="4000" dirty="0" err="1"/>
              <a:t>Micro</a:t>
            </a:r>
            <a:r>
              <a:rPr lang="cs-CZ" sz="4000" dirty="0"/>
              <a:t> </a:t>
            </a:r>
            <a:r>
              <a:rPr lang="cs-CZ" sz="4000" dirty="0" err="1"/>
              <a:t>Controller</a:t>
            </a:r>
            <a:r>
              <a:rPr lang="cs-CZ" sz="4000" dirty="0"/>
              <a:t> Unit)</a:t>
            </a:r>
          </a:p>
          <a:p>
            <a:r>
              <a:rPr lang="cs-CZ" sz="4000" dirty="0"/>
              <a:t>CPU (</a:t>
            </a:r>
            <a:r>
              <a:rPr lang="cs-CZ" sz="4000" dirty="0" err="1"/>
              <a:t>Central</a:t>
            </a:r>
            <a:r>
              <a:rPr lang="cs-CZ" sz="4000" dirty="0"/>
              <a:t> </a:t>
            </a:r>
            <a:r>
              <a:rPr lang="cs-CZ" sz="4000" dirty="0" err="1"/>
              <a:t>Processor</a:t>
            </a:r>
            <a:r>
              <a:rPr lang="cs-CZ" sz="4000" dirty="0"/>
              <a:t> Unit)</a:t>
            </a:r>
          </a:p>
          <a:p>
            <a:r>
              <a:rPr lang="cs-CZ" sz="4000" dirty="0"/>
              <a:t>DSP (Digital </a:t>
            </a:r>
            <a:r>
              <a:rPr lang="cs-CZ" sz="4000" dirty="0" err="1"/>
              <a:t>Signal</a:t>
            </a:r>
            <a:r>
              <a:rPr lang="cs-CZ" sz="4000" dirty="0"/>
              <a:t> </a:t>
            </a:r>
            <a:r>
              <a:rPr lang="cs-CZ" sz="4000" dirty="0" err="1"/>
              <a:t>Processor</a:t>
            </a:r>
            <a:r>
              <a:rPr lang="cs-CZ" sz="4000" dirty="0"/>
              <a:t>)</a:t>
            </a:r>
          </a:p>
        </p:txBody>
      </p:sp>
      <p:pic>
        <p:nvPicPr>
          <p:cNvPr id="8194" name="Picture 2" descr="y.jpg"/>
          <p:cNvPicPr>
            <a:picLocks noChangeAspect="1" noChangeArrowheads="1"/>
          </p:cNvPicPr>
          <p:nvPr/>
        </p:nvPicPr>
        <p:blipFill>
          <a:blip r:embed="rId2" cstate="print"/>
          <a:srcRect/>
          <a:stretch>
            <a:fillRect/>
          </a:stretch>
        </p:blipFill>
        <p:spPr bwMode="auto">
          <a:xfrm>
            <a:off x="6012160" y="476672"/>
            <a:ext cx="2160240" cy="1879408"/>
          </a:xfrm>
          <a:prstGeom prst="rect">
            <a:avLst/>
          </a:prstGeom>
          <a:noFill/>
        </p:spPr>
      </p:pic>
      <p:pic>
        <p:nvPicPr>
          <p:cNvPr id="8196" name="Picture 4" descr="a.png"/>
          <p:cNvPicPr>
            <a:picLocks noChangeAspect="1" noChangeArrowheads="1"/>
          </p:cNvPicPr>
          <p:nvPr/>
        </p:nvPicPr>
        <p:blipFill>
          <a:blip r:embed="rId3" cstate="print"/>
          <a:srcRect/>
          <a:stretch>
            <a:fillRect/>
          </a:stretch>
        </p:blipFill>
        <p:spPr bwMode="auto">
          <a:xfrm>
            <a:off x="971600" y="4869160"/>
            <a:ext cx="2857500" cy="1571625"/>
          </a:xfrm>
          <a:prstGeom prst="rect">
            <a:avLst/>
          </a:prstGeom>
          <a:noFill/>
        </p:spPr>
      </p:pic>
      <p:sp>
        <p:nvSpPr>
          <p:cNvPr id="8198" name="AutoShape 6" descr="data:image/jpeg;base64,/9j/4AAQSkZJRgABAQAAAQABAAD/2wCEAAkGBhQSEBQUExQWFRUVFxwXFRcXFxcYGhYcGRcVHBwcHRgbHSYeGh0jHRwaHzAgIycpLCwsGB8xNTAqNScrLCkBCQoKDgwOGg8PGiwlHyQsLCwvLCksLCwpLCwsLCwsLCksLC0sLCksLCwsLCwsLCwsLCwsLCwsLCwsLCwsLCwsLP/AABEIALcBEwMBIgACEQEDEQH/xAAcAAABBQEBAQAAAAAAAAAAAAAFAAEDBAYCBwj/xABFEAACAgAFAgQEAwINAgUFAQABAgMRAAQSITEFQRMiUWEGMnGBFEKRI6EHM1JUYoKSlLHB0dLwFnIVJFPh8TRDk6Kyg//EABkBAAMBAQEAAAAAAAAAAAAAAAADBAECBf/EAC4RAAICAgECAwcDBQAAAAAAAAABAhEDIRIxQSIyUQQTYXGR0fCh4fFCUoGxwf/aAAwDAQACEQMRAD8Ax+V6y6BRQ8oKq9edA12Fb7nkGrOK/UMyJJWcLpB7bdgBZoAWas0BucRVhqwyzKOawqx2BhVjDSDMSaV9+Bg9lenT5bKmGSCKUZ+PVEw80qldwAOxPO368jAXp6K0weWKSXLxEGbwwSQt8k7UL2ux3wQaWBGnaHMSQfh38TKIQ7atQ+XV+U999tzfuuWwulZYky8B0AQyRzCvF1tYDgc0BqU3+Xy/fGkfpiw5cGWJHrd3trBatKrKnyOByrqvPOMrleovmpRmJfmTliAA5JXynTRK2e/8qrwcgzSSDyIVdjqk4G4VUKoAd0UoTxtq/WZurbEZpqtfyipBH/6b876WoE/4q31o/XFqPO0adSD9Ofte/wDVJ+mK3UMpuhUqpLbkkKt0WDEnYVp3J7E4I6gbGxo6WGx3HI7g/axhLd7I5Pw8mtEqMCLBBrmu31HI++AHxZASEccLYPtdUf8ALBhemAldE0UT3QEpdFsg0qyflJrsa9cTLkswj6MzC0S3TSupMYHr4iAqy1vwL9cdQi/NEZjxyxtTSMfns9E0SLHFoYfMbu9v9d/9cG/hnNr4SpqGuz5Tsdz29ftgf8S5aNJykRidVrzxEFX1AHYj9K+uBQGKpQ95HeirJD3saejbqGYKrDS80/hxRyAovhgeeRr76gADyOMUpkUxK2kkSaioYhrCEBmArVpAttTeg9cD8p8VzLay/t0bZxJu5UiiqzfOgIrg8jBWHqkMwbRL+GdofB0y/wATFFfmWOTdi7DfcLyw9McvDFdDrhpd6VAPI5umF/Iy8bmlPlYb9gd/ti08Vq8bcpbD3FU/6in+pwVzPSQJF1xmFpXjWEiiqwRga5CNz5tjuOG9jhmhaSaKUAyLIZfD8yh3SAMNT2KUNqH2AwvJF3aJ1ha+ZlwDx34/rJup+42xoei50NGR/JFj2U3/AIGx9hgLnI1EhEZtWBKn2TdW/Ty37HHbo8JNgre7KRuAdJZaP2I9r98ElyQmUezOcyWmmAUeZmCqP6TbL9lXc+5OL/8A4TLm45WyzxCHJppCyMFZ1XUWdb9TbHcfMBgflJnjcOjVIhYg0DuSLajYNpex7A4vdZ6SksWVjy7D8TmpGWZVoJHbjSoA+QAVYrsThsGlpFOOlsz7tQUyxsmoalLKaYeoJG49xiTT3FEeoxqOodRm/GJlMwv4nLdPsuleQ7Ki244UbVf0wMTpuUzAzmZhmGTSMkwQvqfWFG/m9Saob84ZZQDYKBs+nNXR7bYsyaaDKQGJ23/x7cYhz/Tcxl4opMxCyRzANHIKprFjjvW9GjivFIrfKb/x/TBVm2WYs1R3APqfXuPbnHaIj0BsxJJC2dvv/wA3xUOGwUbZd0tGDXBs77Hmv15qsVs1ID2r1/0+wxOjsoF+YCmIO1emKhO+BIGVMvnBr8tqeQfWt+MavIdeEhVCgVgvmYMSHI76T8v0BOMsMoqtfH32wUyEQVPEvzMxCj+ivJ/tbfY4XlS42TZoRcXZp2phRAI98U5ukKfl8vtyMcZfMnF2OW8SKTj0PKlHswK/w8L3jU++2Fi/P1TSxAqhthYpTyv0Csa05P6gGsIrhopA3BB/y+2O8VHuHNYr52fSvudsWcd9EyU0kjZiKFZ48rTujnSCAePc7E16Dg8YxugRf6fE0GXiXL5yN1zoMc8XlAjb8oZz8vIB45PIOK3Wsk4VIZljU5YFLjVFMtC/4y6kpRyBfrvixJNC8k0r5V0jnAfLCMqiq+nfSGULKB3UdwdvSllYV1bLf8pU1KT/AN+XJB/sGsId9jnJJdGXOn9KCgenNCzZ23JPPA22HtgocoD7XvtwT6kHYn3598c5TMRuPKarnkgfXbUv9ZQPfF0RbA8g8Ebg/QjY4klyTtnmTc07KskMhGn5/Q7kqaO/OoV9W+mIYM4YrEi1Rtj2smzbAWtnenX71gkVxYl6YCuqTVDVETmMyIu+ysqi1QgCydqJFYIyt011G4m8ice/X4fyW4c6ywqZWaLxR5RmY1zGUzCkkr+0iBZGokbcbemJJZPwmWM8SvCKqOXKSiSHUQSqvFOSwU32XuMd5KN1OqJJIlO7NkJ1lgfuHGW3cbiqG++Mj8Z9TWWUKhgcAbzQxNCZfTxEY/Mu4/5QvjFR0i5W9sz0shZix5Ykn6nc4pZrPaTQFnvi5WKGcyJLErvfIx2dFjKZjWDtuOcTVirkcqVsnvtWLeAC10/q80AYRuVVq1pyjgdmXuKJHbYkd8F4OuQyEh1OWd1MXiRAmKOMj5RCPNbC1Jtub7VjO4RGMoDaTZUzi0VJfEEUURiotBBEQS7qtiNmqqJBskYqZnp4zDoYHBEs7JDGx3EMYZjIxO9NqPPY4zMUzLZVmUkUSpIsehrke2DS/FBcnx0DEgJ4qALJFGfmEaio7NnegfMd98cOCZy42qKOVhbyMQRqXyg0C6g+V1DUH7qQOcFOl6pZQoeOPy2rldIDKAV3uxY43sEED0xdgIzAKQOsjPGMvHE4qSCBG1M5Y+UMd/l1bMN/KcO8ayS/srjE+Y0QxuP2YiA88mr3fega83GOJR9BHu3F+qKMHVZUjzKKv/1S6JHIJYVdb/W1JPscRZjo8M6ZDKRqYQG05qUgKbZrJN7Ghekk70Bi9k/FJUsLSRZDGVQsZBEwGoAHYEHk7bYjfqVSaFUNvV3V7lbHO1j72OMccmtGJySt9AD8UxTtK0aSO8EDskYs1zudPA7du2M2yFTupB9Rt+7G7zPUUDHUjArzVAgA0e/Y9r43xAfClOnm63IrY7A3wd9uBR9cCnJbB5WnozOSllZlVAZi2wVQS/0ob4nEwsqbVhyrbEY0nTeiNl/HzsUgj/C6QP5TNJyF7WFr668V8z1dTl55+oZbxcxmxrgkJ0MtjShUDlNr96GGxlasojK0CzIdNHj/AJ3xFgpP8L0crHlMwMxNODqg06SjKttuTWnkAmuDgXm9UMrRTo0UiGmU9jz/AMOOzsSwF3VV+ZmofU4MZjL7jSp8NfIho0QvJB72bP3wKhh1W5Oysqr7luf0GNlmJ1XLRor6mK6SUYhdIJ8rRnfUNt6HJwjL6E2aXYFQx4nZ9CM3oNvqeMNGuKvXMyEWjwo1N/kMTwjylRA33As/VUViGO45wsZSaUsxY8k3hY9AoXsUK2eiS9CysydPTKs8c0/lmklIESsqgkhuRZJoAngCgTihn+mT5eaaJl8UQELK8dsqE8W4FDvyAbB9MazO9KjeTIRvGMrFBQllBLh+SzHal1biyPz7mhiDpcGYVerPl3Iy5UhpFAAewwFBjYFWbskauN6xwpd0VxyRkYjN9RUp5bs8+2C0Jy0cOXfLyzLK5MebU2FpvRR81c9708A4BnJyVTxENfO6n7jj/DBfoDPCsg8OGTWhX9qrNpJBGpd9mHrjmU0b7yK7l/8AC0fAGZ/EZeAnwjvoBYeYlNzGb2sivffFh+lqUBtSPyggkdvkOxFWD5SPXcYqw9OJC2SzAfMSQ32kXzD72PbFnKZfS48RnYk+QsQSL8t6gPPuQtmiL4q8IclJ2nsllJO2upy3TnrUaarI1N5gBVlZVqQAWPmUqL5wos46EUT5uzlVLfSUXFL9WF4MqtYZ8mpvar5qqP1Ugq33BxxHN/cJeWNJfU7y76tiBe/ylSbB0m0DG6bbyMTZHlF4JdKkbwBNGJowzNpnyreOptqAzGVO+9D1O+AsXR2EqN+3AAJ1QJ4hjRStsYnulBK7qfoMHYgJpC6COdqNzZGRoMwy99eVG7OCB2HPFGw7FBeYrxqK8l7I8xmUihacCIn/ANXKsMnNEzAVrh5ZST37EbVx57PMzuzsSzMSSTySTZJ++NB8ZdW8aRV1rKEsCQ5fwJd+UkvdipHJ/ebxnKxSh6GrCw5xJlsq0jqiDUzGgB3ONNIThsWM3kXibTIjIfRhX6eo+mIKwANhYfDYAFhsOcNeABivrgnl/iKZQQx8QFBFclsyJ3WNzuljbuONthgdhsYBqYOsxyWsLnLu6fhokcjw4on3kYzHuxvstEjm9rWYyqOwfw/CMjww5V0FJ4UJHiygckErdkVuPfGMxYyPVJYb8J2S0ZDwRTVYANgbgGxRsDHLiY4ph/qXTHlkV4j4qSTPHD3eRIlAd29iADf374A5UbJuattPPyVuf1497wWy3xEu9L4D+EIImivw41baR2BJckqb21fKB6UUzDLIraFSRdKZLKMg8y6GDvIE5BI1m2rgdicccaVCMmLk7IepdOHhj8QjBmAvT5SWrYnsd/XEbdRR83AcyBLDlKjSPSNJVIyw8psHUwBI9qwVzmYjIkZCDD47RoGJMhCoWkkIJ2XUDtWMq8Zdm0hV5AsgKGer+6rS1zZwiHKOmceR8V9fgLI5SMx5rO+LolDhcvEGskE3z8wry7+zYur+Ly2XeOaJZpeoJ4oLr4reYWGB5DKpuuxOOOmfDuiiSW4uxpWu/PmJI24HONHnD4swlbdwoRa2Cgb7DtZ3x1PNFOkYs9R31PPOqAwtFFX8Wp1jfd2+cfUDSv2wdyDals+tH3ra8RZ+MSz2B31D3J8q/qfMfbByPIBFCjsMcZZ2kKyz1srxqOTwNz9sZL4wzZAC3vJ5mHoAdhX1/wAMazqR0x13fn6DHmfVc34kzNdi6H0GGYI6szBHnNfDf2K1YbD4WKT0j1t/iLwGCSWLGq0s7liKeNybO13YJBHG+L+UzMUobw2I1D9oIi2lh21wNv8Auf64zOc+GlTzF2KDfZCzD9Nq/pGvpiseqRpHUKuH2pzpDDzXqDKNW48um6r3wripJV19eh5survS7fn3NrB0sMoGsHc6TQ8OqOxYhtDXXlbStXwcS57pUQ0qFUMBblTqGptyobuF+W+++Mp0Xr07OAQHOw1E6HFkADxO+5AprH+ONDlutxvsWGq6KtpjkB/7SdDfYrhU8b2ls4knKCpfv9xj00DjFTPZcKASpaieDVAq3Jo0LretjR7YKZnNIgs6q/pDQB9S9f8A6hsDD8RKzaY9z6qBXNbySDbc1sgwlY5dTjFGamr+hN+MRlZgBs2kbsus6m3CCM77bhfrQB2USzPZVdCqLZuNI9SRbfoy/TAeDqqpOxkhZJCTZNyhqYqTRIbkEakajXBrGl6RmxK6mKKeQLblss6MY/KyhgrUxPm+Vl+l4Y8cl5UUrjLItV6/wRdDyZKGYRmVtRAmycjrmoPNQ8SB28wNBtz+bc+lnqXUgIGdyszLsx1rks5A54YpGLcaje57g1ycTMBmpDq8HOsgNlRLl86FGzAxrpDMprnv98Zf4w6uZXWPxDKsdhWkgEMqX80b9zRHf9/OK0VxQAnmLsWYlmY2STZJPJJ7nEZw+GOOhgQ+HunJPmFjdtIYGiKsmjQF7c42nQvhRcrI8jOGAWkJFaQbLE9roVf1x5/l8wUdXXlSGH1BBGPQOm/EsuYy+YkWNdaUERbN7CzR59aHpWNQFD4kzSZkwlC0sCt+00fym2QXzd7UBYv3GMj1PKeHKy6HQWdIcU2m9r9cb7pHS1mVG/aRpG+pE+Ri4+Z5KHJ4AHA+tAL/AAiZq5o0sEKlkDkFieT9ANsDMMhWFjrDYw05wqx1pw2ABsNh6wqwANhsdYZsADXibLZlo3DxsUdfldSVYf1hvgf4ROLMfGCgCLdbfTGhClY10LShSQWDG62YkgWTuRzgrkZRIY21WvmKJ3TQQtEetksebtd8ZiV6BJxd+HH02x31H/n/AD2xPmSSE5kuLfc2anEHUZtMZ3ot5QfTbc/YWf0xzlZ7/wCf54o9em1Po4A8p+w1SEHjgAfriSEbZ50Ib2R9Dg1MXIr81fUUo+yf/wBYOBLOOOm5QrGLFX5iCO57fYUPthZyXRGx4J2H3xrTlIybuVGV+LuqaUcjlvIn07nGAGDfxXntc2gcRivv3/0wFAxelSov9mhULfV7HvCw9YWOik9kyfUYpf4txfOlqVx70TufcE+wxDn+kqSSEjDju6tX9YAj9WDE+mM3qy8pOoHLv6qC0ZP/AG/Mv2J+mCUWdzMCgmp4ezAlwBXZhTJ964wp4+60ecp2t7+X2KuYGcVqGoDgCIeX6Uo2+h3xTXpBB/ayBCfy3rc3/QW9/qRjSZfrMEy6WOgnbS919nXj9x9TiJ8m6GltVb5fAiNsPeQkgf2jjU2tPRy4qStOyl+BVBbLsBs2YfSB9Il832N4nilY0UEjqN/L/wCWhH3BBP6g4YRIrAAKH/vMx+3yL/lh8wQDcmke+YfxGH0iXyj7417OUvT8/PiS5fKSsARJ4akgAwAAElqH7VjqfzHtY5sjkHeidOuMuVXMuG3eBjl87AbA8yGtVH1v6kcUOiLLKwCAyoDqd8m4jlA2omE7Ejb8v3wcnkXMvVx53QN/2ckWdVeGXSmkOwNcn9N8ZFNN2V44pq+/5+dyv1HqAEDmR/HK/Mskwy2cyz8BgsYtxdNud7XbYk+fzzM7FmJLMbJO5P1J5we+K+r+IVjEniqg8rPAIZVBq437nSR3/ed8Z/DClDVhLyNr349fbCOCP/hxj8N/ECSafEAYFdrtaatJOwNGuRjTSfMdJV2kEflaJC8u9xggeZVJ8wOryi7ujvtiT4Z60coSXRjFL3A7qeR2PNEYqZDqnhoVZNSsGJ3I1kgAWf5I83G/mOCE2dSXWGfWBF5EUFf4shySapLpqUAnTQ2rABV638SSyzMUkdY7pArFdh3odzzgPLKWYsxJJ3JJJJ+p74K9QycagWNLV5tDAhWIJCFCdQoVbXzfOKOYyDIoawyNsrDuRuRRAII+mACrjR9Mya5fLtPOAfEGmKI/n/pH0A5vt9xiv8P5GIsZJXDaBqEIvW5B4qtx32vn64gzck+cnvQzMdlQA+QDt7fU4AOBk1likkRdBi0l1BJUhjVre6kGtiT9qrA3Gi6npy2WbLoQ8jkGdxuqkbiMH1/9/s/XHKLG2XOmAqFGmhbVZLVuSed/cdjgAzhw2CmhJfBVVJlc+fRxVkABDQ1VuaIH76j6j0VondQyyaPm0HcD1KnfbvyB3OMAH4bCwsACvasMBh8InG2BJkMiZpkSnK/NIY0LsqDkhRuaGNfJU5eRQHVKGuJALQqCjtCPOLBFuAQDscA/h/LssDzqPPI3hxPFMUliYCxcY3dHNJ9xjXdAyQC+IBIRHZ8XLlYczl+7JJETcqAVvvt6cYVJcjJJONMp5ONQjSflVbWrZXPYXyPT9cCsrlDJNXIBokbg0Q0h+7lV+xwY6l1GUl2LrNel7VFUFvljUhe7MQTueNuawU+DeikDXv8AyVcf0SQTXbU5Zv0wlR0RyioLwslXJUAt1f3B96/XjGc+Kc2qLI+wEamqPzNxVHfc168HG86nBoRmpSx8q6diSdhY4Pb9+PIf4Tc5o8PLDn+Mc9yOEv8Ae33GGY4U79CeOPk0vX/Rg3Ykkk2SbP3w4GEBh8OPVGwsPfthYAPZc/0FX5Go/wBK9X2kHm/tax7YAy9GlgfVE7KfRiFv21/I/wBDpJ9Mekw9IBjDMSu5qlLKK7sOVB/yxXnyF2LBHqPMPv3A+vocSRnOB41v+r9zzabMoz6cxAUk/lRjQ33Q+Vvrti3lunBRpAka+0jGMH0/YpcjY2g+HeCNWkdkcqPtR27bCsWct0hVFIAvqBsfuDz6/pjt5taRrd/Ey2X6Q7KbIRALIFQoBtyqXI33IOOc38IIyhvJTEIrKTGzOdwoDkh29m0n+ljVdR6NrQrq0mweeKIIsHerHFEbHFCLojo0agyvShiMqoDxqlBWpmZTtVCi3vXHClOTpFGFRl5rv/hQ+GOgLHCxRVzJLfPAzRZzLnYDyNyAdyPc37Xc/nCIWeVmnC8lpxl85lpKoWibsp2amPdTWxJlzEi5hrcxZ0IPmRZUzgXhgY46EjKa7nnsLxmPizqIdkQPHMEXaZYPAkINeRwd7Ujv/jeKyyEUloBTzl2LsSSxskkkkn1OI8PWEcaMEGog8+3bBKTqMcjFpPEoks0ataMa2q909O9DjAzCwAFOv5sOIdPyhCQKUaQZH8tLtsAPrycRQdMHheJ4gDbnSKJVdhbgHWtk8hSK5q8DzgjD1YWPEQG1COwsMUoA0L06qAF9x9bwAM87eV5UDBgQXAW21KRuR5dYu/MNV84uRZnWAUkkZ0UoKC+KwYk7W2wHy+UlueBjgaXiSMzIEVrZlXRqFAICCo1Perc2BZs4h6pkEBdguhVWIKoOoF2RWPm7gCySPUeuABZiJJHQkPqmIoArYF6NTeXzOzKzECh777RvmMz4THxZDEraCfEbSSb4BO/H+GI8pLKFtRqVLugpZQeaNFkBs7jaye+O8z1MSRMpVVOpNIUEAIol25rYsPc2SSecADSuskcaLUZQG1Y0HJ5bUdgx2FNQoCj2xZSZYspJEzq7ysuhFIbRRsksNrOwoE/vx3m8vGcyyk6izksynaNFs7NwTpG53AG254jy6PCUkiZQGpv2mgBdzoW32Zq3sVsb4OAC/Ci5GPzEDMyrsavwVPqBuCfv+7cd01ooW8Z5FkcXoRNRLMQRbEgUNz9f3YodSnd5XdxTFjqG+xGxG/FenbFWsADYWHwsYBzhCBpGWNFZmc0Aosn6DvjrBD4ey4Pi5hhqSIBfLN4UqE//AHE7to5I9DjGAYSBZZI4kH4hIkoAJ+HzDJq8yVVvJHJHxRO/G5wd6j1JEjBVUzbjZSY/DzKmq0zBvnAHfzHbtzil8PdPaRiHUzSWGkjY+BmEYAftIpG3cMQWI738puxochlHzEwlcieFQY1OYjUybN3avMQdr429RhfJx3RxkaqrMr07L5rMyhTpWvlSOyFYmtchBZRpBJotdgUMepdO6cIowo4UACttgKH7sSwRhRVBQNgAKFfbjD5jMBULHYAEmvQbnG33ZGwD1eQGWidKRAs5PYkHfb0TUfuMfPHxD1g5rNSzH87WB6KNlH2UDHq38JPWzBkWXcS5pip9lNM/6LoTHjGO0qVDsEesjq8PjkHD3jSkV4WFhYAPrCeIhQPLq0galXgegIN164qR5Yc1X9IHf9f9ffFTpPUnLLHK6MxW7AKEEMQVKsbvY9vS6sYM6L3rjvhLR5s4U9lNMoORd+vBP+R+/rhfhb2NH7VX2/0PbFonD3jmjmkCepZVljYqPEYA6FY7A13PIG3bfnAeULJ+2SMSlj5ZsozfiIWIFCSPlwDtxX0vGh6pk2lWkkMbBgysKsEcc4y3XMtPu02WWdgCPGgZ4nPoXVLuq50tsTuOcEElKyjE4pUznO551hMzmdwvyzq8eXmhkIbySxqS7AnfzbeYeXvjz3M5hndnclmYksTySdycEetdcM0aNJDFG9EytGhQym/mcE7t7nffA14iFVjwwsbg4pRWixk+mPILFKo/McQPl2VdRHlJoHsa/wCfuOCWXz2qBYl2YnSSeKu7/wCemJeuZyMRLFGQarjegPf1J/zwGgPCGHvCwANWGw5wjgAbF09R1JpkGoDdWB0sDSj0IYUqjcXtyMUsLAAQ6bIA0SodMjsA0hG8dtQC3wa3Lc71tRubwFclWiMa6joIBBARWLhifmNVvXPoNsCMWYOpSK4fUSwUqCxLaQQRtZ2q8AHcmRkjFd2jLOByq6qIb03A257c7Y7fPpIB4oYaWJpAKIIQadz5aCgA77VttvHm+pakVAKAA1G7LkEmyfqTQ9ycUzjADk+cWWQpqJXzA7AxknUzSb7rpJJGxNKBYxUl6aH3SlHmYebUCqg73yD2o9z2xQjnZTakg8fY8j3xag6lWzLa77LS8qwrYUNyT+noMAFPwzQNGjwa2OOcWs9mdekDhRtVgWdzQ9Bx/V98VbwARy3VCyTsAObONNHlhpgyy+G7JdiRPAkWQ0JIWker1I9rvvQ9MCeg5MyTl/DMqQKZHRJFjcgd1LfmHNf0caTo8BnmOoid3q45yFeZLYo8c5qpNBVdquvzAVjh7NCyxVCIgAzbIkWYicT5csaGmY1qQc71sD5e2Nnk4RFGqLwoAv1of54zuXkc5lE/8wyxA/xzBvAYgeWwKPl2vtxWNAsvf/DHDknr0I8z2W1kxR6pIDpXkE6m/wC1CCR/WYqv3OJ0e6/y/wBMZv4v68MvlpswDvVRe+klY/1kLP8ASsbFWxK2eRfwldc/EZ5lBtYf2Y92u3P9rb+qMZXDMxJJO5O5PqcPhpfGPFUPh6www9YDoesLD4bAB7N0yBkySSyRrLNPIpIcnX570BTzrYktsR8x32xtFz4yriKXxFWMElywcUbatfJYWB5tO21kjAz/AMCPiGaOQiRdLRBlQrG6AgECtwQa34vbEL/F75O2zUXiTtGWRovMocsVGpSbHrtqG+J296EwWOV8ns16ZpZIw4og1RBv1NnYY4LYx/wtkRDIEWVnLoZJCP4vWzaioHIIHtV3jVasDkm9E2WHF0WYVtgP+H23/TD5xjff1IPbc8Hmv9cVf34YnByOL0eM/GkphzUiFSVLE2e+rer4P39MC8tmUIpdvbjHqHxVlgrI7KskcjKk0bX51B1bUQbGnntXBBIxk5ug5HOshy7HLSzyyEKxHgxRRqbIOx3YbfXgULbCdluKVx2AcIDHOa6PmYI45CuqKXWYnHmDrGaZh+ZRwfMBsRiGLPKdjsffj9cMsaWcNhYWABYRw+GwALDYRw2ABYRw+GwALDYc4bAA2FhxhVjAOccSvQJxLiTp2QbMTpGsby153SOtZVdzpsgXX7yMYwCPToAuXRVMDyO4Yh1ZJoJBbRgyMQvhyBa9LONT0tI44/DcKdAo5TNK7OnF+BMoGxPYaR66uSKykn4mcDWJ6ULGmaVFaaI6Sq+IKVZY2LgGwd9ieDpcxE5UZcNmYkFFkl0l4q4Ebim0k16Ai9jyFt0mwk0upa6LAyR0wUEkkBOFB4B9xxfesFA//wAjFRWs47D4nTPOnK3ZaMlqdLeZvIp9C17/ANVQzf1ceR/wwdcDyx5aP5IwGIH00oD9Fs/1senZrOrDFLIxoRqRfozqGY/1Y9I+rNj536r1AzzySty7E16DsPsKH2xVBUhuGNv5FQDDjCrHQGOiwWOsNhxjQEMLHV4WNA+lmnAQtewBO3tiLI5LSrGQAvL/ABgO4rekrigNvreKedyES5XMZlX0szeUR6aeYkEBkIIO9WCLq/TEvR83KyHxlVZFIDaTYsqrH6VYFH355xF1Vk2XC8d9y7lMokQIjUIDuQoAB/TFgNiHVjuKPUwHqavGWSliKC63AJNAf84/+cQ68c9azzRR+VAZCrFB5gQqadWrevla6uz9cD8p1MsqNJE8YkFoWHlYXyD+W+QGokVjpr0GPFKro4zQ8RnII8TV+GgSwTqkFSuV7DSQobtvjN9Y+Ek0yNCpHhJ+Cy/h7+JKWt3I7WCTt3rGo6s0UcySxsIyDZtV8SVdBWgRuDv8303xR6f1BowjaARAriEbAGRmppDzqKlq3q6X3w3HJPRTGSUUY7N/isl+IeF9axQx5GORfOC0lF9N33BO3+eK2fXJy+MDF4TQiHKZcRUBJLuHkku77Xtf1O+N7BJEY0cbrloteo1qkzLsStLZDaWuueDyDihnvhWNSPEX/wClH4rMsta3nlHlUn5SVaj9L29WUNTTMH1D4TmhMzZdxmIYplg8RPzyMFIVUu2O4HlvfA5c7RIdSpBo+x9xyMauPoE+UkhKtqOUWTOT+iStsqkcFh5f1xBFnYn8FM/EToilzmakXyzSNKW0KW2oDUu3HHbYlmgJZARYo/THWLT/AAixCnLyq7jKnN5hSQngLYpSx2ZiDdbcH2sXLLJEQssbKSAwBBU0dwaPII746sCzhYjinDcH/X9Md3jQHw14V4a8AD4Y4WLOSyPibk0OPrgArYWLWc6aUGoGx3sbj/XFTAAzNQwQ6Pll/DvIwidpGEakTMk+Wc/xcmgcoWIUkmtxgd4LSOsahiWNUoLGvYDc/TGmZFkljiR4JxGmmISRtl2njLUYjVEyo6bEkE8jvjiTNQW6JltijBR5iz5TNsVpmNsYJBQW79QfXVgp06MqTSFVK6gbsDzVo33JArc4hCMqJl1aYKu/gZiJdUVC6SVhelj5dgvO45xcy16ELLpYqCy3ek9xeEZX0iT5Zassh8drKBuRYUFmHc12+5offEeOmkVQNXA/aMPXSajX6tJv/wD54XFW6Il1MR/Cv1oxwJl78734hHck6pP3kKPa8eUKMG/jPq5zGcka7VTpX7E2fu1n9MBAcWHoYo1HY5x0MMMPjRg2HBwjhAYAHwsOMLAB9BZ34PBf8QJSZhJq8QAgFvykpe+w51H/ACxb6fk/CUi9TO2qR+7tVWR61t3+pxfkzDPRbc0P3779r+mODiOT2ec5t6s5w9YinzSohdvlUWa59KHYkmh98Z/L/HUW4kRoyLrfUDXuACP0rGKEmrSBQk+gRzGZlZw0LvGQGjDMh8Nyd2CtuL29N+2LB6uwWOTOxgKG0nwVLhAo2YoLKqeNi30GKcOWM8YPjeT8oAVkYg7sR9dhRBAAxG2QnkYZcShSdJ+awylqNE03qdPm2G5wyNp0Vwm4uo/qcLko58yZYwfBl8wjAMYjUAquwogu3mrYEWSOMdSdRDSmKMMEh2YojMFHDN5QdIFFd+5vtsWGT8KZo4wz62pZF0nU1D5yK0kFhWzAXuRvQ/ofWZFaTLxRwtp2kZWRHRksUyk0/Gotq5bvtjppqVs3jyl4tF+aMShWV6/aLLa6Tq0nv6g7C/asVZoWjJZ3eWIzpLJHpXUzagAS3JUckHsD3xW6hmMtmIo5IH0zr+0lkRXDpGvKsGomyaGq+RRxo+la1gjLsNVapACATdUtcHavpZ9ML4ONuLOZXjaV2gG2Zjd/DzPkaXMNNmWfZWSMHRHHv51I2++K+c+HxmYwJB5s4fGkLDzx5eGygFUACBsfce+Dc8Qewyij27D6elevOA2a6f4IbRKyLICjDYnR8x83IAAv17WbwyORPTOY5jM9Q+E3lJ8IkHPTLpjP5MtFdEkbVe2/8kYpydXllLidBJ+OzCRxu4BaPL5dvN4R4WxqFjvZ53xtp+qBlnDgRu0cUCJuUy8Dn5ie90PcH0vEmayaOHaIBlsZLJBhYpxUrqBVc3qPvfOGJ30KLPO5Ph3L5pg2Tfw3zGaMOVy72f2aqNUhk7DVe2/pucBc3lZ4BciEoXaNX5VijFWCyDytRB4xuOq/CapraDUPw6fhMso83izMf2rirrZi3P8AhihJmJ8gWsLLFkIfAjVgHjOYnHnIHBPzc+hHesbZplIs2rex9DiWsFs/0rJlZAS0DZTLKJG3f8RmW/KFulHPFfat6HVPhfNZV5FIDrCqNK0ZLpH4gtQx/Kf+dxjqwIDi903OhRpbbfY4ER50Hnb/AAxN9MaAWz/UFKlVNk7fQYFjDViPMvQ9ztgYBf4cyp/aZllmEaERrNDIqNA7FQrMCQSu9GuzHB/oOVaViGUSux1TZWceA/iEDU0MvJLGzpsXe6tyBcfT1qGKNMvM+gtrhlo5mNg+uNidvEQkEAb78HjGlyRTwhHqWYHy+FmY2/EZfk+WUfMq/UDjyi6wrvYSdIvZJidQuSkYoqSSeIY65XV9e3pX1xdVcQ5XLqi0ooE6jzZJqyb77DFkYlbbds8/I03oSpew74zHxp1zwco7g00nyjuBRWIf2dUn3xo823l0g0ZDov0FW5v2W/1x5J/CV1nxcwIxsEGogcAsBQ+yV/aOH4l3Mxx5NL8ox2HrCrDjDz0Rxh8MBhxgNHIwww+HOAwbV7YfDUPXCwAfTQXbAvrjhgIyWAbeQoAX0AqCEW/MxYqABvVngYIeJir1OFGjcyKCEUtvyKHZhuN6GJI9UedjaUjvpvwmM0dC5l5somklmADM9XoBABpQRd8E12xrI/gnJha/Dxn3Is/2ucZz4H+IQmSQ/MqSus2+pgHOtW9+dx6BvTG6y+aWRQyMGB3BBu8Uauj0qroY/qH8HSK2vKzPl3J3B/aI3/cDuf1NYA9QyE8YrOZYSKOJoLcD3oedK5vbHpsxFi8cafT922Ey6g8cZbZ5ek4j0TZJotdMjM5dtZbhm0sLZRe7g7A8YJdChDhCw0BU0i9rs2zf13Iq+AF9Mafqnwnl8z5nj0ub88Z0NuN7I2b+sDgBnfh7MZfzazPEO4X9qnuVFBwO+nf2ODbQueOVVdjTdBXzam8RRJ4mk7aNlBTY0VHsb3Pri7m89rHHf60N+/O5P7hgW3XN/DLLbAOCPzrvTD+UOd+bBB3FBxN/wYU/CqXQkyzk3ssFsAp82llpJFLByvgj5goJ9fmJIUn22wWMuI3hVuQpvmwCT9zzjE6Fwko9UMnUkdWKUxCm1IpthdEHev3YoZWN42WZXA8LWNls7xkWo4BLNf00jbCznSkAtAQeBufKT8pXuN6HNebCyEiMiAF7KlJQaC2F2oDvW1/0T6Y7UfDaY7HKvEv1FkOr+H4epbXKq2hR+eeTbU180dX9n3xOmXiCp5lZMrEMzKeUkzEhuPYUHqyAfTbA18s2oNRKTWuuvKXBP6gsv6McEGyETqp06aUBCuxUDgX7e/GHSnVegz3nFbBme+E47VZRp8P/AM7nXG+p33RNIuqO1em/rgHB0/MZfwkcn9q5z+cUb0kTWiOPqPlP8oemNgxk/aIytKrvHNM9jVMoNeEO3lq673tjpJUzLMjeWTNT3ODaeHBGL0lttWpR7/qNtjJS6DuS0YZ/AzjRfiY/Cmzc75iWZNhBllUgKE+Uklbsgne97wGPwlMVikyp8Zcw0phRf40xxMw1tH+WwL5PIHOPQOpfDwzKswUeJnD4UBrT4eXy/J0gG9QXf1oeuwHM9BlR3myrlQ9ZXKb6ZPBCtreuQDpIvbvjq6Or1ZhY+pb0w/TFnJ5lvEEser9kQwKpr3sflOx77HmsGM38IeChM6/s1/8AuIw1C+BpbZj7CvrgflPiFoCRDEioWJANs1dra7JrHPPktHEZclaNR0jLtm3ZzFHMXIeSJAUniYBQXhsaSraQdIDfRecaNZ1eQL4ssnhx+VZkCyxqWIIZhu1EDknvsMCOiZtM3Hr06XU0aJDKfUMN8HoS1eZmcnlmNse+7c4VOeqQueRbTLUELP8AKrNXOlSa/TEwyEv/AKcn9hv9MGOg5mdMvcMYkGt9a8NssbCjYG4DoL/M6cAHBOTO5wax4SNpDFWA2fSFYKAX2LBtAJOzRuSKIxscdqxawcldnn/VctMNZ8GZgi6QBHIfRmIod6VR98eN5r4Zz8kjO2UzOp2LH9hNyT/24+pc1mMw0WkqyuZUHkBI8MTRBzqDWNSFj2IAPcYgXqWdr+JUERM1aTvIEQ+Fq10BqLKHOx+274qlQ6GNQbZ8vf8ASOd/mea/u8v+3C/6Rzv8zzP/AOCX/bj6lbqeZDH9naWAGEbhireH59N8qS6lbvyhgK2wP6d1jO6AugOY/DSXUja1JiyrMxIY62BeS1Udh6U2jT5rHwjnf5nmv7vN/tw//Sed/meZ/u83+3H05mM3nDR0WVL0iq6hysVrbFrKlzQ2F1R9rAz+aLLa6QJFvTGx1xkDzeYgqQSQVIsVfGAD5c/6Szv8zzX93m/24p5/pc0NeNFLET8okjdLrmtQF4+rp+q5rW2iG4/yWjBqrLEknVuQHm8tAkxgfXzb+HKaVshF49Bhml0UpUaTlSW06vMRr1c0RQvtjQPD7wsIH3wsAH0aJsSCa1ZSAyuKZWFgj0/4cLCxGeRdArL9OOVkL5YnQwAeCUlkYAk7P8yEHcHzVfpd2ulfEMTT+HG0uWmO5Q0yN72tj7kAn2wsLHcXb2Wez5pOSizUD4gkj/jlDCvmQ9vXSf8A3wZyPUo5VBQkgjbYjDYWOml1PR+BeUYZuMPhY3scHjf8IWUXwJXUUYc2BHRrSJFYOB6DWgb6364n6ZmG0Lq3YKAx9SAAT9zZwsLCesRHtSCSTXjvXhYWODzmgb1qRiY4lcR6rdnYMVUKGKghfMbYVtxXbAvpvVg0rsq0HVpQp5GnzVtY+TUOfbfCwsU414aLIwXBf5JM3nw0e2oKHsKTekgEtVdvMv6nB2GORQhcAJKpdN978urb0s2MLCwTikq+YrzRk32SJ6w00CuKdQw9+30PIw2FiUnuiu0UkdtFJuIWiXxLbQh38h/LVbbcH9FDMkvhSRqREsCJDdWVI1MxA4JOFhY33snoqTbxNv1BnxlkzJk3r8hEn1C2D+439sAvhz4xhy/TszlnyweSbVpfy0dSgDXe/kO4r9x3wsLFGLoO9l3An/g4yLHxWAsGhXrQJP7sbjN5dAFKX5ux3GwF0easkb+mFhY5yLbJc78TZCkrpelmW+dLEX+mBvV+tTBlQSyD8xqRx7Ac/X9MPhY5h5kT8mkzyTrfxznHzDlM3mFUHSoE0qil2ug3er++KQ+MM7/PM1/eJv8AdhYWKj14qlQ4+MM7/PM1/eJv92H/AOsM7/PM1/eJv92FhY00YfF+d/nma/vE3+7C/wCsM7/PM1/eJv8AdhYWAB/+sM7/ADzNf3ib/dinn+rTT140ssunjxJHfTfpqJr7YWFgAqAnCwsLAB//2Q=="/>
          <p:cNvSpPr>
            <a:spLocks noChangeAspect="1" noChangeArrowheads="1"/>
          </p:cNvSpPr>
          <p:nvPr/>
        </p:nvSpPr>
        <p:spPr bwMode="auto">
          <a:xfrm>
            <a:off x="6350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cs-CZ"/>
          </a:p>
        </p:txBody>
      </p:sp>
      <p:pic>
        <p:nvPicPr>
          <p:cNvPr id="8200" name="Picture 8" descr="http://www.forcedperfect.net/hardware/cards/applempegmediasystem/images/applempegmediasystem-tidsp.jpg">
            <a:hlinkClick r:id="rId4"/>
          </p:cNvPr>
          <p:cNvPicPr>
            <a:picLocks noChangeAspect="1" noChangeArrowheads="1"/>
          </p:cNvPicPr>
          <p:nvPr/>
        </p:nvPicPr>
        <p:blipFill>
          <a:blip r:embed="rId5" cstate="print"/>
          <a:srcRect/>
          <a:stretch>
            <a:fillRect/>
          </a:stretch>
        </p:blipFill>
        <p:spPr bwMode="auto">
          <a:xfrm>
            <a:off x="5148064" y="4581128"/>
            <a:ext cx="2880320" cy="192021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0"/>
            <a:ext cx="8229600" cy="908720"/>
          </a:xfrm>
        </p:spPr>
        <p:txBody>
          <a:bodyPr>
            <a:normAutofit/>
          </a:bodyPr>
          <a:lstStyle/>
          <a:p>
            <a:r>
              <a:rPr lang="cs-CZ" dirty="0"/>
              <a:t>MCU (</a:t>
            </a:r>
            <a:r>
              <a:rPr lang="cs-CZ" dirty="0" err="1"/>
              <a:t>Micro</a:t>
            </a:r>
            <a:r>
              <a:rPr lang="cs-CZ" dirty="0"/>
              <a:t> </a:t>
            </a:r>
            <a:r>
              <a:rPr lang="cs-CZ" dirty="0" err="1"/>
              <a:t>Controller</a:t>
            </a:r>
            <a:r>
              <a:rPr lang="cs-CZ" dirty="0"/>
              <a:t> Unit)</a:t>
            </a:r>
          </a:p>
        </p:txBody>
      </p:sp>
      <p:sp>
        <p:nvSpPr>
          <p:cNvPr id="3" name="Zástupný symbol pro obsah 2"/>
          <p:cNvSpPr>
            <a:spLocks noGrp="1"/>
          </p:cNvSpPr>
          <p:nvPr>
            <p:ph idx="1"/>
          </p:nvPr>
        </p:nvSpPr>
        <p:spPr>
          <a:xfrm>
            <a:off x="0" y="836712"/>
            <a:ext cx="8892480" cy="6021288"/>
          </a:xfrm>
        </p:spPr>
        <p:txBody>
          <a:bodyPr>
            <a:noAutofit/>
          </a:bodyPr>
          <a:lstStyle/>
          <a:p>
            <a:pPr algn="just"/>
            <a:r>
              <a:rPr lang="cs-CZ" sz="2700" dirty="0"/>
              <a:t>Někdy je také zvaný „jednočipový mikropočítač“. Jedná se zařízení, které v sobě kombinuje několik zařízení. Mezi průkopníky této kategorie patří 8bitový procesor Intel i8051, který poprvé integroval všechny základní periferie - jádro procesoru, paměť RAM, grafika, EEPROM, čítače a časovače.</a:t>
            </a:r>
          </a:p>
          <a:p>
            <a:pPr algn="just"/>
            <a:r>
              <a:rPr lang="cs-CZ" sz="2700" dirty="0"/>
              <a:t>Dnes jsou známé jako procesory ARM, většinou šlo o 32bitové RISC, v současné době se vyrábějí i 64bitové RISC i CISC procesory a jsou nejpoužívanější architekturou na světě. Procesory ARM je možné najít v odvětvích spotřební elektroniky - od PDA, mobilních telefonů, multimediálních přehrávačů, herních </a:t>
            </a:r>
            <a:r>
              <a:rPr lang="cs-CZ" sz="2700" dirty="0" err="1"/>
              <a:t>konzolí</a:t>
            </a:r>
            <a:r>
              <a:rPr lang="cs-CZ" sz="2700" dirty="0"/>
              <a:t>, kalkulaček až po počítačové periferie (</a:t>
            </a:r>
            <a:r>
              <a:rPr lang="cs-CZ" sz="2700" dirty="0" err="1"/>
              <a:t>Marvell</a:t>
            </a:r>
            <a:r>
              <a:rPr lang="cs-CZ" sz="2700" dirty="0"/>
              <a:t> </a:t>
            </a:r>
            <a:r>
              <a:rPr lang="cs-CZ" sz="2700" dirty="0" err="1"/>
              <a:t>XScale</a:t>
            </a:r>
            <a:r>
              <a:rPr lang="cs-CZ" sz="2700" dirty="0"/>
              <a:t> a OMAP od Texas Instruments). Tyto procesory jsou použity i v iPhone.</a:t>
            </a:r>
          </a:p>
          <a:p>
            <a:pPr algn="just"/>
            <a:r>
              <a:rPr lang="cs-CZ" sz="1800" dirty="0">
                <a:hlinkClick r:id="rId2"/>
              </a:rPr>
              <a:t>http://www.fish15.estranky.cz/</a:t>
            </a:r>
            <a:r>
              <a:rPr lang="cs-CZ" sz="1800" dirty="0" err="1">
                <a:hlinkClick r:id="rId2"/>
              </a:rPr>
              <a:t>clanky</a:t>
            </a:r>
            <a:r>
              <a:rPr lang="cs-CZ" sz="1800" dirty="0">
                <a:hlinkClick r:id="rId2"/>
              </a:rPr>
              <a:t>/</a:t>
            </a:r>
            <a:r>
              <a:rPr lang="cs-CZ" sz="1800" dirty="0" err="1">
                <a:hlinkClick r:id="rId2"/>
              </a:rPr>
              <a:t>microcontroller</a:t>
            </a:r>
            <a:r>
              <a:rPr lang="cs-CZ" sz="1800" dirty="0">
                <a:hlinkClick r:id="rId2"/>
              </a:rPr>
              <a:t>---</a:t>
            </a:r>
            <a:r>
              <a:rPr lang="cs-CZ" sz="1800" dirty="0" err="1">
                <a:hlinkClick r:id="rId2"/>
              </a:rPr>
              <a:t>mcu.html</a:t>
            </a:r>
            <a:endParaRPr lang="cs-CZ" sz="1800" dirty="0"/>
          </a:p>
          <a:p>
            <a:pPr algn="just"/>
            <a:endParaRPr lang="cs-CZ"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0"/>
            <a:ext cx="8229600" cy="1052736"/>
          </a:xfrm>
        </p:spPr>
        <p:txBody>
          <a:bodyPr>
            <a:normAutofit/>
          </a:bodyPr>
          <a:lstStyle/>
          <a:p>
            <a:r>
              <a:rPr lang="cs-CZ" dirty="0"/>
              <a:t>CPU (</a:t>
            </a:r>
            <a:r>
              <a:rPr lang="cs-CZ" dirty="0" err="1"/>
              <a:t>Central</a:t>
            </a:r>
            <a:r>
              <a:rPr lang="cs-CZ" dirty="0"/>
              <a:t> </a:t>
            </a:r>
            <a:r>
              <a:rPr lang="cs-CZ" dirty="0" err="1"/>
              <a:t>Processor</a:t>
            </a:r>
            <a:r>
              <a:rPr lang="cs-CZ" dirty="0"/>
              <a:t> Unit)</a:t>
            </a:r>
          </a:p>
        </p:txBody>
      </p:sp>
      <p:sp>
        <p:nvSpPr>
          <p:cNvPr id="3" name="Zástupný symbol pro obsah 2"/>
          <p:cNvSpPr>
            <a:spLocks noGrp="1"/>
          </p:cNvSpPr>
          <p:nvPr>
            <p:ph idx="1"/>
          </p:nvPr>
        </p:nvSpPr>
        <p:spPr>
          <a:xfrm>
            <a:off x="323528" y="1484784"/>
            <a:ext cx="8496944" cy="4968552"/>
          </a:xfrm>
        </p:spPr>
        <p:txBody>
          <a:bodyPr>
            <a:normAutofit/>
          </a:bodyPr>
          <a:lstStyle/>
          <a:p>
            <a:pPr algn="just"/>
            <a:r>
              <a:rPr lang="cs-CZ" dirty="0"/>
              <a:t>CPU je základní součástí počítače. Procesor čte z paměti strojové instrukce a na jejich základě vykonává program. Protože procesor, který by vykonával program zapsaný ve vyšším programovacím jazyku, by byl příliš složitý, má každá architektura procesoru svůj vlastní jazyk, ve kterém zpracovává úkoly. Tomuto základnímu jazyku říkáme strojový kód.</a:t>
            </a:r>
          </a:p>
          <a:p>
            <a:pPr algn="just"/>
            <a:r>
              <a:rPr lang="cs-CZ" sz="1800" dirty="0">
                <a:hlinkClick r:id="rId2"/>
              </a:rPr>
              <a:t>http://www.fish15.estranky.cz/</a:t>
            </a:r>
            <a:r>
              <a:rPr lang="cs-CZ" sz="1800" dirty="0" err="1">
                <a:hlinkClick r:id="rId2"/>
              </a:rPr>
              <a:t>clanky</a:t>
            </a:r>
            <a:r>
              <a:rPr lang="cs-CZ" sz="1800" dirty="0">
                <a:hlinkClick r:id="rId2"/>
              </a:rPr>
              <a:t>/cpu---</a:t>
            </a:r>
            <a:r>
              <a:rPr lang="cs-CZ" sz="1800" dirty="0" err="1">
                <a:hlinkClick r:id="rId2"/>
              </a:rPr>
              <a:t>central</a:t>
            </a:r>
            <a:r>
              <a:rPr lang="cs-CZ" sz="1800" dirty="0">
                <a:hlinkClick r:id="rId2"/>
              </a:rPr>
              <a:t>-</a:t>
            </a:r>
            <a:r>
              <a:rPr lang="cs-CZ" sz="1800" dirty="0" err="1">
                <a:hlinkClick r:id="rId2"/>
              </a:rPr>
              <a:t>processing</a:t>
            </a:r>
            <a:r>
              <a:rPr lang="cs-CZ" sz="1800" dirty="0">
                <a:hlinkClick r:id="rId2"/>
              </a:rPr>
              <a:t>--unit.</a:t>
            </a:r>
            <a:r>
              <a:rPr lang="cs-CZ" sz="1800" dirty="0" err="1">
                <a:hlinkClick r:id="rId2"/>
              </a:rPr>
              <a:t>html</a:t>
            </a:r>
            <a:endParaRPr lang="cs-CZ"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DSP (Digital </a:t>
            </a:r>
            <a:r>
              <a:rPr lang="cs-CZ" dirty="0" err="1"/>
              <a:t>Signal</a:t>
            </a:r>
            <a:r>
              <a:rPr lang="cs-CZ" dirty="0"/>
              <a:t> </a:t>
            </a:r>
            <a:r>
              <a:rPr lang="cs-CZ" dirty="0" err="1"/>
              <a:t>Processor</a:t>
            </a:r>
            <a:r>
              <a:rPr lang="cs-CZ" dirty="0"/>
              <a:t>)</a:t>
            </a:r>
          </a:p>
        </p:txBody>
      </p:sp>
      <p:sp>
        <p:nvSpPr>
          <p:cNvPr id="3" name="Zástupný symbol pro obsah 2"/>
          <p:cNvSpPr>
            <a:spLocks noGrp="1"/>
          </p:cNvSpPr>
          <p:nvPr>
            <p:ph idx="1"/>
          </p:nvPr>
        </p:nvSpPr>
        <p:spPr/>
        <p:txBody>
          <a:bodyPr>
            <a:normAutofit/>
          </a:bodyPr>
          <a:lstStyle/>
          <a:p>
            <a:pPr algn="just"/>
            <a:r>
              <a:rPr lang="cs-CZ" b="1" dirty="0"/>
              <a:t>Digitální signálový procesor</a:t>
            </a:r>
            <a:r>
              <a:rPr lang="cs-CZ" dirty="0"/>
              <a:t> (DSP) je mikroprocesor, jehož návrh je optimalizován pro algoritmy používané při zpracování digitálně reprezentovaných signálů. Hlavním nárokem na systém bývá průběžné zpracování velkého množství dat protékajících procesorem.</a:t>
            </a:r>
          </a:p>
          <a:p>
            <a:pPr algn="just"/>
            <a:r>
              <a:rPr lang="cs-CZ" sz="1800" dirty="0">
                <a:hlinkClick r:id="rId2"/>
              </a:rPr>
              <a:t>http://www.fish15.estranky.cz/</a:t>
            </a:r>
            <a:r>
              <a:rPr lang="cs-CZ" sz="1800" dirty="0" err="1">
                <a:hlinkClick r:id="rId2"/>
              </a:rPr>
              <a:t>clanky</a:t>
            </a:r>
            <a:r>
              <a:rPr lang="cs-CZ" sz="1800" dirty="0">
                <a:hlinkClick r:id="rId2"/>
              </a:rPr>
              <a:t>/</a:t>
            </a:r>
            <a:r>
              <a:rPr lang="cs-CZ" sz="1800" dirty="0" err="1">
                <a:hlinkClick r:id="rId2"/>
              </a:rPr>
              <a:t>digital</a:t>
            </a:r>
            <a:r>
              <a:rPr lang="cs-CZ" sz="1800" dirty="0">
                <a:hlinkClick r:id="rId2"/>
              </a:rPr>
              <a:t>-</a:t>
            </a:r>
            <a:r>
              <a:rPr lang="cs-CZ" sz="1800" dirty="0" err="1">
                <a:hlinkClick r:id="rId2"/>
              </a:rPr>
              <a:t>signal</a:t>
            </a:r>
            <a:r>
              <a:rPr lang="cs-CZ" sz="1800" dirty="0">
                <a:hlinkClick r:id="rId2"/>
              </a:rPr>
              <a:t>-procesor.</a:t>
            </a:r>
            <a:r>
              <a:rPr lang="cs-CZ" sz="1800" dirty="0" err="1">
                <a:hlinkClick r:id="rId2"/>
              </a:rPr>
              <a:t>html</a:t>
            </a:r>
            <a:endParaRPr lang="cs-CZ"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b="1" dirty="0"/>
              <a:t>Dělení podle velikosti instrukční sady</a:t>
            </a:r>
            <a:endParaRPr lang="cs-CZ" dirty="0"/>
          </a:p>
        </p:txBody>
      </p:sp>
      <p:sp>
        <p:nvSpPr>
          <p:cNvPr id="3" name="Zástupný symbol pro obsah 2"/>
          <p:cNvSpPr>
            <a:spLocks noGrp="1"/>
          </p:cNvSpPr>
          <p:nvPr>
            <p:ph idx="1"/>
          </p:nvPr>
        </p:nvSpPr>
        <p:spPr>
          <a:xfrm>
            <a:off x="457200" y="1600200"/>
            <a:ext cx="8229600" cy="4925144"/>
          </a:xfrm>
        </p:spPr>
        <p:txBody>
          <a:bodyPr>
            <a:normAutofit lnSpcReduction="10000"/>
          </a:bodyPr>
          <a:lstStyle/>
          <a:p>
            <a:pPr marL="0" indent="0" algn="just">
              <a:buNone/>
            </a:pPr>
            <a:r>
              <a:rPr lang="cs-CZ" dirty="0"/>
              <a:t>Základní úlohou procesoru je vykonávání programu, který se skládá z posloupnosti příkazů uložených v paměti. Každý příkaz, který procesor musí vykonat, je složený z jednodušších částí, kroků (instrukcí). Úlohou procesoru je příkazy přečíst, dekódovat, vykonat a případně zapsat – tuto posloupnost označujeme jako instrukční cyklus. Elementární operace, které je procesor schopný vykonat na jeden takt označujeme jako mikroinstrukce.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b="1" dirty="0"/>
              <a:t>Dělení podle velikosti instrukční sady</a:t>
            </a:r>
            <a:endParaRPr lang="cs-CZ" dirty="0"/>
          </a:p>
        </p:txBody>
      </p:sp>
      <p:sp>
        <p:nvSpPr>
          <p:cNvPr id="3" name="Zástupný symbol pro obsah 2"/>
          <p:cNvSpPr>
            <a:spLocks noGrp="1"/>
          </p:cNvSpPr>
          <p:nvPr>
            <p:ph idx="1"/>
          </p:nvPr>
        </p:nvSpPr>
        <p:spPr>
          <a:xfrm>
            <a:off x="251520" y="1268760"/>
            <a:ext cx="8640960" cy="5589240"/>
          </a:xfrm>
        </p:spPr>
        <p:txBody>
          <a:bodyPr>
            <a:normAutofit/>
          </a:bodyPr>
          <a:lstStyle/>
          <a:p>
            <a:pPr marL="0" indent="0">
              <a:buNone/>
            </a:pPr>
            <a:r>
              <a:rPr lang="cs-CZ" b="1" dirty="0"/>
              <a:t>CISC – </a:t>
            </a:r>
            <a:r>
              <a:rPr lang="cs-CZ" b="1" dirty="0" err="1"/>
              <a:t>Complex</a:t>
            </a:r>
            <a:r>
              <a:rPr lang="cs-CZ" b="1" dirty="0"/>
              <a:t> </a:t>
            </a:r>
            <a:r>
              <a:rPr lang="cs-CZ" b="1" dirty="0" err="1"/>
              <a:t>Instruction</a:t>
            </a:r>
            <a:r>
              <a:rPr lang="cs-CZ" b="1" dirty="0"/>
              <a:t> Set </a:t>
            </a:r>
            <a:r>
              <a:rPr lang="cs-CZ" b="1" dirty="0" err="1"/>
              <a:t>Computer</a:t>
            </a:r>
            <a:endParaRPr lang="cs-CZ" b="1" dirty="0"/>
          </a:p>
          <a:p>
            <a:pPr algn="just"/>
            <a:r>
              <a:rPr lang="cs-CZ" dirty="0"/>
              <a:t>Zkratka CISC označuje procesor s velkým množstvím strojových instrukcí (řádově stovky) a relativně malým počtem registrů (jejich počet obvykle nepřesahuje 30). Procesory CISC mají různě dlouhé strojové instrukce, jejichž vykonání trvá různě dlouhou dobu. Jeho hlavní vlastností je, že používá tzv. plnou instrukční sadu – snaží se mít pro každý příkaz jednu instrukci. Seznam instrukcí je uložen v </a:t>
            </a:r>
            <a:r>
              <a:rPr lang="cs-CZ" dirty="0" err="1"/>
              <a:t>mikrokódu</a:t>
            </a:r>
            <a:r>
              <a:rPr lang="cs-CZ" dirty="0"/>
              <a:t>, který se stará jak o překlad, tak i o jejich vykonávání.</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0"/>
            <a:ext cx="8229600" cy="922114"/>
          </a:xfrm>
        </p:spPr>
        <p:txBody>
          <a:bodyPr>
            <a:normAutofit fontScale="90000"/>
          </a:bodyPr>
          <a:lstStyle/>
          <a:p>
            <a:r>
              <a:rPr lang="cs-CZ" b="1" dirty="0"/>
              <a:t>Dělení podle velikosti instrukční sady</a:t>
            </a:r>
            <a:endParaRPr lang="cs-CZ" dirty="0"/>
          </a:p>
        </p:txBody>
      </p:sp>
      <p:sp>
        <p:nvSpPr>
          <p:cNvPr id="3" name="Zástupný symbol pro obsah 2"/>
          <p:cNvSpPr>
            <a:spLocks noGrp="1"/>
          </p:cNvSpPr>
          <p:nvPr>
            <p:ph idx="1"/>
          </p:nvPr>
        </p:nvSpPr>
        <p:spPr>
          <a:xfrm>
            <a:off x="323528" y="836712"/>
            <a:ext cx="8568952" cy="5760640"/>
          </a:xfrm>
        </p:spPr>
        <p:txBody>
          <a:bodyPr>
            <a:normAutofit fontScale="85000" lnSpcReduction="20000"/>
          </a:bodyPr>
          <a:lstStyle/>
          <a:p>
            <a:pPr marL="0" indent="0">
              <a:buNone/>
            </a:pPr>
            <a:r>
              <a:rPr lang="cs-CZ" b="1" dirty="0"/>
              <a:t>RISC – </a:t>
            </a:r>
            <a:r>
              <a:rPr lang="cs-CZ" b="1" dirty="0" err="1"/>
              <a:t>Reduced</a:t>
            </a:r>
            <a:r>
              <a:rPr lang="cs-CZ" b="1" dirty="0"/>
              <a:t> </a:t>
            </a:r>
            <a:r>
              <a:rPr lang="cs-CZ" b="1" dirty="0" err="1"/>
              <a:t>Instruction</a:t>
            </a:r>
            <a:r>
              <a:rPr lang="cs-CZ" b="1" dirty="0"/>
              <a:t> Set </a:t>
            </a:r>
            <a:r>
              <a:rPr lang="cs-CZ" b="1" dirty="0" err="1"/>
              <a:t>Computer</a:t>
            </a:r>
            <a:endParaRPr lang="cs-CZ" b="1" dirty="0"/>
          </a:p>
          <a:p>
            <a:pPr algn="just"/>
            <a:r>
              <a:rPr lang="cs-CZ" dirty="0"/>
              <a:t>Zkratka RISC označuje procesory s redukovanou instrukční sadou, jejichž návrh je zaměřen na jednoduchou, vysoce optimalizovanou sadu strojových instrukcí, která využívá jen velmi malého množství nejčastěji užívaných, instrukcí. Téměř všechny instrukce potřebují stejnou dobu pro své vykonání, obvykle jen jeden cyklus pro své vykonání, na rozdíl od CISC, kde se doba vykonání instrukce liší podle vykonávané instrukce. Jsou rychlejší než CISC, protože pro vykonáni 80% operací stačí jen 20% instrukcí a tím tedy se sníží jejich počet. Instrukce jsou navrženy tak, aby měly pevnou délku, pevný formát a co nejkratší trvání.</a:t>
            </a:r>
          </a:p>
          <a:p>
            <a:pPr marL="0" indent="0" algn="just">
              <a:buNone/>
            </a:pPr>
            <a:endParaRPr lang="cs-CZ"/>
          </a:p>
          <a:p>
            <a:pPr marL="0" indent="0" algn="just">
              <a:buNone/>
            </a:pPr>
            <a:r>
              <a:rPr lang="cs-CZ"/>
              <a:t>Dnešní </a:t>
            </a:r>
            <a:r>
              <a:rPr lang="cs-CZ" dirty="0"/>
              <a:t>procesory nelze jednoznačně zařadit -  označujeme je jako hybridní.</a:t>
            </a:r>
          </a:p>
          <a:p>
            <a:endParaRPr lang="cs-CZ"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475656" y="188640"/>
            <a:ext cx="5544616" cy="620688"/>
          </a:xfrm>
        </p:spPr>
        <p:txBody>
          <a:bodyPr>
            <a:normAutofit/>
          </a:bodyPr>
          <a:lstStyle/>
          <a:p>
            <a:r>
              <a:rPr lang="cs-CZ" sz="3200" b="1" dirty="0"/>
              <a:t>Historie mikroprocesorů</a:t>
            </a:r>
            <a:endParaRPr lang="cs-CZ" sz="3200" dirty="0"/>
          </a:p>
        </p:txBody>
      </p:sp>
      <p:sp>
        <p:nvSpPr>
          <p:cNvPr id="3" name="Zástupný symbol pro obsah 2"/>
          <p:cNvSpPr>
            <a:spLocks noGrp="1"/>
          </p:cNvSpPr>
          <p:nvPr>
            <p:ph idx="1"/>
          </p:nvPr>
        </p:nvSpPr>
        <p:spPr>
          <a:xfrm>
            <a:off x="0" y="980728"/>
            <a:ext cx="9144000" cy="5688632"/>
          </a:xfrm>
        </p:spPr>
        <p:txBody>
          <a:bodyPr>
            <a:normAutofit fontScale="40000" lnSpcReduction="20000"/>
          </a:bodyPr>
          <a:lstStyle/>
          <a:p>
            <a:r>
              <a:rPr lang="cs-CZ" sz="4000" dirty="0">
                <a:solidFill>
                  <a:srgbClr val="92D050"/>
                </a:solidFill>
                <a:hlinkClick r:id="rId2" tooltip="1971"/>
              </a:rPr>
              <a:t>1971</a:t>
            </a:r>
            <a:r>
              <a:rPr lang="cs-CZ" sz="4000" dirty="0">
                <a:solidFill>
                  <a:srgbClr val="92D050"/>
                </a:solidFill>
              </a:rPr>
              <a:t> - </a:t>
            </a:r>
            <a:r>
              <a:rPr lang="cs-CZ" sz="4000" dirty="0">
                <a:solidFill>
                  <a:srgbClr val="92D050"/>
                </a:solidFill>
                <a:hlinkClick r:id="rId3" tooltip="Intel 4004"/>
              </a:rPr>
              <a:t>Intel 4004</a:t>
            </a:r>
            <a:r>
              <a:rPr lang="cs-CZ" sz="4000" dirty="0">
                <a:solidFill>
                  <a:srgbClr val="92D050"/>
                </a:solidFill>
              </a:rPr>
              <a:t> - první mikroprocesor - 4bitový</a:t>
            </a:r>
          </a:p>
          <a:p>
            <a:r>
              <a:rPr lang="cs-CZ" sz="4000" dirty="0">
                <a:solidFill>
                  <a:srgbClr val="92D050"/>
                </a:solidFill>
                <a:hlinkClick r:id="rId4" tooltip="1972"/>
              </a:rPr>
              <a:t>1972</a:t>
            </a:r>
            <a:r>
              <a:rPr lang="cs-CZ" sz="4000" dirty="0">
                <a:solidFill>
                  <a:srgbClr val="92D050"/>
                </a:solidFill>
              </a:rPr>
              <a:t> - </a:t>
            </a:r>
            <a:r>
              <a:rPr lang="cs-CZ" sz="4000" dirty="0">
                <a:solidFill>
                  <a:srgbClr val="92D050"/>
                </a:solidFill>
                <a:hlinkClick r:id="rId5" tooltip="Intel 8008"/>
              </a:rPr>
              <a:t>Intel 8008</a:t>
            </a:r>
            <a:r>
              <a:rPr lang="cs-CZ" sz="4000" dirty="0">
                <a:solidFill>
                  <a:srgbClr val="92D050"/>
                </a:solidFill>
              </a:rPr>
              <a:t> - 8bitový mikroprocesor</a:t>
            </a:r>
          </a:p>
          <a:p>
            <a:r>
              <a:rPr lang="cs-CZ" sz="4000" dirty="0">
                <a:solidFill>
                  <a:srgbClr val="92D050"/>
                </a:solidFill>
                <a:hlinkClick r:id="rId6" tooltip="1974"/>
              </a:rPr>
              <a:t>1974</a:t>
            </a:r>
            <a:r>
              <a:rPr lang="cs-CZ" sz="4000" dirty="0">
                <a:solidFill>
                  <a:srgbClr val="92D050"/>
                </a:solidFill>
              </a:rPr>
              <a:t> - </a:t>
            </a:r>
            <a:r>
              <a:rPr lang="cs-CZ" sz="4000" dirty="0">
                <a:solidFill>
                  <a:srgbClr val="92D050"/>
                </a:solidFill>
                <a:hlinkClick r:id="rId7" tooltip="Intel 8080"/>
              </a:rPr>
              <a:t>Intel 8080</a:t>
            </a:r>
            <a:r>
              <a:rPr lang="cs-CZ" sz="4000" dirty="0">
                <a:solidFill>
                  <a:srgbClr val="92D050"/>
                </a:solidFill>
              </a:rPr>
              <a:t> - 8bitový mikroprocesor, který se stal základem prvních 8bitových osobních počítačů</a:t>
            </a:r>
          </a:p>
          <a:p>
            <a:r>
              <a:rPr lang="cs-CZ" sz="4000" dirty="0">
                <a:hlinkClick r:id="rId8" tooltip="1975"/>
              </a:rPr>
              <a:t>1975</a:t>
            </a:r>
            <a:r>
              <a:rPr lang="cs-CZ" sz="4000" dirty="0"/>
              <a:t> - </a:t>
            </a:r>
            <a:r>
              <a:rPr lang="cs-CZ" sz="4000" dirty="0">
                <a:hlinkClick r:id="rId9" tooltip="MOS Technology 6502"/>
              </a:rPr>
              <a:t>MOS Technology 6502</a:t>
            </a:r>
            <a:r>
              <a:rPr lang="cs-CZ" sz="4000" dirty="0"/>
              <a:t> - 8bitový mikroprocesor, montovány do </a:t>
            </a:r>
            <a:r>
              <a:rPr lang="cs-CZ" sz="4000" dirty="0">
                <a:hlinkClick r:id="rId10" tooltip="Apple II"/>
              </a:rPr>
              <a:t>Apple II</a:t>
            </a:r>
            <a:r>
              <a:rPr lang="cs-CZ" sz="4000" dirty="0"/>
              <a:t>, </a:t>
            </a:r>
            <a:r>
              <a:rPr lang="cs-CZ" sz="4000" dirty="0" err="1">
                <a:hlinkClick r:id="rId11" tooltip="Commodore 64"/>
              </a:rPr>
              <a:t>Commodore</a:t>
            </a:r>
            <a:r>
              <a:rPr lang="cs-CZ" sz="4000" dirty="0">
                <a:hlinkClick r:id="rId11" tooltip="Commodore 64"/>
              </a:rPr>
              <a:t> 64</a:t>
            </a:r>
            <a:r>
              <a:rPr lang="cs-CZ" sz="4000" dirty="0"/>
              <a:t> a </a:t>
            </a:r>
            <a:r>
              <a:rPr lang="cs-CZ" sz="4000" dirty="0" err="1">
                <a:hlinkClick r:id="rId12" tooltip="Atari"/>
              </a:rPr>
              <a:t>Atari</a:t>
            </a:r>
            <a:endParaRPr lang="cs-CZ" sz="4000" dirty="0"/>
          </a:p>
          <a:p>
            <a:r>
              <a:rPr lang="cs-CZ" sz="4000" dirty="0">
                <a:hlinkClick r:id="rId8" tooltip="1975"/>
              </a:rPr>
              <a:t>1975</a:t>
            </a:r>
            <a:r>
              <a:rPr lang="cs-CZ" sz="4000" dirty="0"/>
              <a:t> - </a:t>
            </a:r>
            <a:r>
              <a:rPr lang="cs-CZ" sz="4000" dirty="0">
                <a:hlinkClick r:id="rId13" tooltip="Motorola 6800"/>
              </a:rPr>
              <a:t>Motorola 6800</a:t>
            </a:r>
            <a:r>
              <a:rPr lang="cs-CZ" sz="4000" dirty="0"/>
              <a:t> - první procesor firmy </a:t>
            </a:r>
            <a:r>
              <a:rPr lang="cs-CZ" sz="4000" dirty="0">
                <a:hlinkClick r:id="rId14" tooltip="Motorola"/>
              </a:rPr>
              <a:t>Motorola</a:t>
            </a:r>
            <a:endParaRPr lang="cs-CZ" sz="4000" dirty="0"/>
          </a:p>
          <a:p>
            <a:r>
              <a:rPr lang="cs-CZ" sz="4000" dirty="0">
                <a:solidFill>
                  <a:srgbClr val="92D050"/>
                </a:solidFill>
                <a:hlinkClick r:id="rId8" tooltip="1975"/>
              </a:rPr>
              <a:t>1975</a:t>
            </a:r>
            <a:r>
              <a:rPr lang="cs-CZ" sz="4000" dirty="0">
                <a:solidFill>
                  <a:srgbClr val="92D050"/>
                </a:solidFill>
              </a:rPr>
              <a:t> - </a:t>
            </a:r>
            <a:r>
              <a:rPr lang="cs-CZ" sz="4000" dirty="0">
                <a:solidFill>
                  <a:srgbClr val="92D050"/>
                </a:solidFill>
                <a:hlinkClick r:id="rId15" tooltip="AMD (firma)"/>
              </a:rPr>
              <a:t>AMD</a:t>
            </a:r>
            <a:r>
              <a:rPr lang="cs-CZ" sz="4000" dirty="0">
                <a:solidFill>
                  <a:srgbClr val="92D050"/>
                </a:solidFill>
              </a:rPr>
              <a:t> nastupuje na trh s řadou </a:t>
            </a:r>
            <a:r>
              <a:rPr lang="cs-CZ" sz="4000" dirty="0">
                <a:solidFill>
                  <a:srgbClr val="92D050"/>
                </a:solidFill>
                <a:hlinkClick r:id="rId16" tooltip="AMD Am2900"/>
              </a:rPr>
              <a:t>Am2900</a:t>
            </a:r>
            <a:endParaRPr lang="cs-CZ" sz="4000" dirty="0">
              <a:solidFill>
                <a:srgbClr val="92D050"/>
              </a:solidFill>
            </a:endParaRPr>
          </a:p>
          <a:p>
            <a:r>
              <a:rPr lang="cs-CZ" sz="4000" dirty="0">
                <a:hlinkClick r:id="rId17" tooltip="1976"/>
              </a:rPr>
              <a:t>1976</a:t>
            </a:r>
            <a:r>
              <a:rPr lang="cs-CZ" sz="4000" dirty="0"/>
              <a:t> - </a:t>
            </a:r>
            <a:r>
              <a:rPr lang="cs-CZ" sz="4000" dirty="0">
                <a:hlinkClick r:id="rId18" tooltip="TI TMS 9900 (stránka neexistuje)"/>
              </a:rPr>
              <a:t>TI TMS 9900</a:t>
            </a:r>
            <a:r>
              <a:rPr lang="cs-CZ" sz="4000" dirty="0"/>
              <a:t> - 16bitový mikroprocesor</a:t>
            </a:r>
          </a:p>
          <a:p>
            <a:r>
              <a:rPr lang="cs-CZ" sz="4000" dirty="0">
                <a:hlinkClick r:id="rId17" tooltip="1976"/>
              </a:rPr>
              <a:t>1976</a:t>
            </a:r>
            <a:r>
              <a:rPr lang="cs-CZ" sz="4000" dirty="0"/>
              <a:t> - </a:t>
            </a:r>
            <a:r>
              <a:rPr lang="cs-CZ" sz="4000" dirty="0" err="1">
                <a:hlinkClick r:id="rId19" tooltip="Zilog Z80"/>
              </a:rPr>
              <a:t>Zilog</a:t>
            </a:r>
            <a:r>
              <a:rPr lang="cs-CZ" sz="4000" dirty="0">
                <a:hlinkClick r:id="rId19" tooltip="Zilog Z80"/>
              </a:rPr>
              <a:t> Z80</a:t>
            </a:r>
            <a:r>
              <a:rPr lang="cs-CZ" sz="4000" dirty="0"/>
              <a:t> - 8bitový mikroprocesor, s rozšířenou instrukční sadou Intel 8080, frekvence až 10 </a:t>
            </a:r>
            <a:r>
              <a:rPr lang="cs-CZ" sz="4000" dirty="0">
                <a:hlinkClick r:id="rId20" tooltip="Hertz"/>
              </a:rPr>
              <a:t>MHz</a:t>
            </a:r>
            <a:endParaRPr lang="cs-CZ" sz="4000" dirty="0"/>
          </a:p>
          <a:p>
            <a:r>
              <a:rPr lang="cs-CZ" sz="4000" dirty="0">
                <a:hlinkClick r:id="rId21" tooltip="1978"/>
              </a:rPr>
              <a:t>1978</a:t>
            </a:r>
            <a:r>
              <a:rPr lang="cs-CZ" sz="4000" dirty="0"/>
              <a:t> - </a:t>
            </a:r>
            <a:r>
              <a:rPr lang="cs-CZ" sz="4000" dirty="0">
                <a:hlinkClick r:id="rId22" tooltip="Intel 8086"/>
              </a:rPr>
              <a:t>Intel 8086</a:t>
            </a:r>
            <a:r>
              <a:rPr lang="cs-CZ" sz="4000" dirty="0"/>
              <a:t> - 16bitový mikroprocesor, první z </a:t>
            </a:r>
            <a:r>
              <a:rPr lang="cs-CZ" sz="4000" dirty="0">
                <a:hlinkClick r:id="rId23" tooltip="X86"/>
              </a:rPr>
              <a:t>architektury x86</a:t>
            </a:r>
            <a:endParaRPr lang="cs-CZ" sz="4000" dirty="0"/>
          </a:p>
          <a:p>
            <a:r>
              <a:rPr lang="cs-CZ" sz="4000" dirty="0">
                <a:hlinkClick r:id="rId21" tooltip="1978"/>
              </a:rPr>
              <a:t>1978</a:t>
            </a:r>
            <a:r>
              <a:rPr lang="cs-CZ" sz="4000" dirty="0"/>
              <a:t> - </a:t>
            </a:r>
            <a:r>
              <a:rPr lang="cs-CZ" sz="4000" dirty="0">
                <a:hlinkClick r:id="rId24" tooltip="Intel 8088"/>
              </a:rPr>
              <a:t>Intel 8088</a:t>
            </a:r>
            <a:r>
              <a:rPr lang="cs-CZ" sz="4000" dirty="0"/>
              <a:t> - 16bitový mikroprocesor s 8bitovou sběrnicí, který byl použit v prvním </a:t>
            </a:r>
            <a:r>
              <a:rPr lang="cs-CZ" sz="4000" dirty="0">
                <a:hlinkClick r:id="rId23" tooltip="X86"/>
              </a:rPr>
              <a:t>IBM PC</a:t>
            </a:r>
            <a:r>
              <a:rPr lang="cs-CZ" sz="4000" dirty="0"/>
              <a:t> v roce 1981</a:t>
            </a:r>
          </a:p>
          <a:p>
            <a:r>
              <a:rPr lang="cs-CZ" sz="4000" dirty="0">
                <a:hlinkClick r:id="rId25" tooltip="1979"/>
              </a:rPr>
              <a:t>1979</a:t>
            </a:r>
            <a:r>
              <a:rPr lang="cs-CZ" sz="4000" dirty="0"/>
              <a:t> - </a:t>
            </a:r>
            <a:r>
              <a:rPr lang="cs-CZ" sz="4000" dirty="0">
                <a:hlinkClick r:id="rId26" tooltip="Motorola 68000"/>
              </a:rPr>
              <a:t>Motorola 68000</a:t>
            </a:r>
            <a:r>
              <a:rPr lang="cs-CZ" sz="4000" dirty="0"/>
              <a:t> - 32/16bitový mikroprocesor</a:t>
            </a:r>
          </a:p>
          <a:p>
            <a:r>
              <a:rPr lang="cs-CZ" sz="4000" dirty="0">
                <a:hlinkClick r:id="rId25" tooltip="1979"/>
              </a:rPr>
              <a:t>1979</a:t>
            </a:r>
            <a:r>
              <a:rPr lang="cs-CZ" sz="4000" dirty="0"/>
              <a:t> - </a:t>
            </a:r>
            <a:r>
              <a:rPr lang="cs-CZ" sz="4000" dirty="0" err="1">
                <a:hlinkClick r:id="rId27" tooltip="Zilog Z8000 (stránka neexistuje)"/>
              </a:rPr>
              <a:t>Zilog</a:t>
            </a:r>
            <a:r>
              <a:rPr lang="cs-CZ" sz="4000" dirty="0">
                <a:hlinkClick r:id="rId27" tooltip="Zilog Z8000 (stránka neexistuje)"/>
              </a:rPr>
              <a:t> Z8000</a:t>
            </a:r>
            <a:r>
              <a:rPr lang="cs-CZ" sz="4000" dirty="0"/>
              <a:t> - 16bitový mikroprocesor</a:t>
            </a:r>
          </a:p>
          <a:p>
            <a:r>
              <a:rPr lang="cs-CZ" sz="4000" dirty="0">
                <a:hlinkClick r:id="rId28" tooltip="1980"/>
              </a:rPr>
              <a:t>1980</a:t>
            </a:r>
            <a:r>
              <a:rPr lang="cs-CZ" sz="4000" dirty="0"/>
              <a:t> - </a:t>
            </a:r>
            <a:r>
              <a:rPr lang="cs-CZ" sz="4000" dirty="0">
                <a:hlinkClick r:id="rId29" tooltip="IBM 801 (stránka neexistuje)"/>
              </a:rPr>
              <a:t>IBM 801</a:t>
            </a:r>
            <a:r>
              <a:rPr lang="cs-CZ" sz="4000" dirty="0"/>
              <a:t> - 24bitový experimentální procesor s revoluční </a:t>
            </a:r>
            <a:r>
              <a:rPr lang="cs-CZ" sz="4000" dirty="0">
                <a:hlinkClick r:id="rId30" tooltip="RISC"/>
              </a:rPr>
              <a:t>RISC</a:t>
            </a:r>
            <a:r>
              <a:rPr lang="cs-CZ" sz="4000" dirty="0"/>
              <a:t> architekturou dosahující vynikajícího výkonu</a:t>
            </a:r>
          </a:p>
          <a:p>
            <a:r>
              <a:rPr lang="cs-CZ" sz="4000" dirty="0">
                <a:hlinkClick r:id="rId28" tooltip="1980"/>
              </a:rPr>
              <a:t>1980</a:t>
            </a:r>
            <a:r>
              <a:rPr lang="cs-CZ" sz="4000" dirty="0"/>
              <a:t> - </a:t>
            </a:r>
            <a:r>
              <a:rPr lang="cs-CZ" sz="4000" dirty="0">
                <a:hlinkClick r:id="rId31" tooltip="Intel 8051"/>
              </a:rPr>
              <a:t>Intel 8051</a:t>
            </a:r>
            <a:r>
              <a:rPr lang="cs-CZ" sz="4000" dirty="0"/>
              <a:t> - 8bitový mikroprocesor se základní sadou periferií pro </a:t>
            </a:r>
            <a:r>
              <a:rPr lang="cs-CZ" sz="4000" dirty="0" err="1"/>
              <a:t>embedded</a:t>
            </a:r>
            <a:r>
              <a:rPr lang="cs-CZ" sz="4000" dirty="0"/>
              <a:t> systémy</a:t>
            </a:r>
          </a:p>
          <a:p>
            <a:r>
              <a:rPr lang="cs-CZ" sz="4000" dirty="0">
                <a:solidFill>
                  <a:srgbClr val="92D050"/>
                </a:solidFill>
                <a:hlinkClick r:id="rId32" tooltip="1982"/>
              </a:rPr>
              <a:t>1982</a:t>
            </a:r>
            <a:r>
              <a:rPr lang="cs-CZ" sz="4000" dirty="0">
                <a:solidFill>
                  <a:srgbClr val="92D050"/>
                </a:solidFill>
              </a:rPr>
              <a:t> - </a:t>
            </a:r>
            <a:r>
              <a:rPr lang="cs-CZ" sz="4000" dirty="0">
                <a:solidFill>
                  <a:srgbClr val="92D050"/>
                </a:solidFill>
                <a:hlinkClick r:id="rId33" tooltip="Intel 80286"/>
              </a:rPr>
              <a:t>Intel 80286</a:t>
            </a:r>
            <a:r>
              <a:rPr lang="cs-CZ" sz="4000" dirty="0">
                <a:solidFill>
                  <a:srgbClr val="92D050"/>
                </a:solidFill>
              </a:rPr>
              <a:t> - 16bitový mikroprocesor</a:t>
            </a:r>
          </a:p>
          <a:p>
            <a:r>
              <a:rPr lang="cs-CZ" sz="4000" dirty="0">
                <a:hlinkClick r:id="rId34" tooltip="1983"/>
              </a:rPr>
              <a:t>1983</a:t>
            </a:r>
            <a:r>
              <a:rPr lang="cs-CZ" sz="4000" dirty="0"/>
              <a:t> - </a:t>
            </a:r>
            <a:r>
              <a:rPr lang="cs-CZ" sz="4000" dirty="0">
                <a:hlinkClick r:id="rId35" tooltip="TMS32010 (stránka neexistuje)"/>
              </a:rPr>
              <a:t>TMS32010</a:t>
            </a:r>
            <a:r>
              <a:rPr lang="cs-CZ" sz="4000" dirty="0"/>
              <a:t> - první DSP firmy </a:t>
            </a:r>
            <a:r>
              <a:rPr lang="cs-CZ" sz="4000" dirty="0">
                <a:hlinkClick r:id="rId36" tooltip="Texas Instruments"/>
              </a:rPr>
              <a:t>Texas Instruments</a:t>
            </a:r>
            <a:endParaRPr lang="cs-CZ" sz="4000" dirty="0"/>
          </a:p>
          <a:p>
            <a:r>
              <a:rPr lang="cs-CZ" sz="4000" dirty="0">
                <a:solidFill>
                  <a:srgbClr val="92D050"/>
                </a:solidFill>
                <a:hlinkClick r:id="rId37" tooltip="1985"/>
              </a:rPr>
              <a:t>1985</a:t>
            </a:r>
            <a:r>
              <a:rPr lang="cs-CZ" sz="4000" dirty="0">
                <a:solidFill>
                  <a:srgbClr val="92D050"/>
                </a:solidFill>
              </a:rPr>
              <a:t> - </a:t>
            </a:r>
            <a:r>
              <a:rPr lang="cs-CZ" sz="4000" dirty="0">
                <a:solidFill>
                  <a:srgbClr val="92D050"/>
                </a:solidFill>
                <a:hlinkClick r:id="rId38" tooltip="Intel 80386"/>
              </a:rPr>
              <a:t>Intel 80386</a:t>
            </a:r>
            <a:r>
              <a:rPr lang="cs-CZ" sz="4000" dirty="0">
                <a:solidFill>
                  <a:srgbClr val="92D050"/>
                </a:solidFill>
              </a:rPr>
              <a:t> - 32bitový mikroprocesor (měl 275 000 </a:t>
            </a:r>
            <a:r>
              <a:rPr lang="cs-CZ" sz="4000" dirty="0">
                <a:solidFill>
                  <a:srgbClr val="92D050"/>
                </a:solidFill>
                <a:hlinkClick r:id="rId39" tooltip="Tranzistor"/>
              </a:rPr>
              <a:t>tranzistorů</a:t>
            </a:r>
            <a:r>
              <a:rPr lang="cs-CZ" sz="4000" dirty="0">
                <a:solidFill>
                  <a:srgbClr val="92D050"/>
                </a:solidFill>
              </a:rPr>
              <a:t>)</a:t>
            </a:r>
          </a:p>
          <a:p>
            <a:r>
              <a:rPr lang="cs-CZ" sz="4000" dirty="0">
                <a:hlinkClick r:id="rId40" tooltip="1986"/>
              </a:rPr>
              <a:t>1986</a:t>
            </a:r>
            <a:r>
              <a:rPr lang="cs-CZ" sz="4000" dirty="0"/>
              <a:t> - </a:t>
            </a:r>
            <a:r>
              <a:rPr lang="cs-CZ" sz="4000" dirty="0" err="1">
                <a:hlinkClick r:id="rId41" tooltip="Acorn ARM (stránka neexistuje)"/>
              </a:rPr>
              <a:t>Acorn</a:t>
            </a:r>
            <a:r>
              <a:rPr lang="cs-CZ" sz="4000" dirty="0">
                <a:hlinkClick r:id="rId41" tooltip="Acorn ARM (stránka neexistuje)"/>
              </a:rPr>
              <a:t> ARM</a:t>
            </a:r>
            <a:r>
              <a:rPr lang="cs-CZ" sz="4000" dirty="0"/>
              <a:t> - 32bitový </a:t>
            </a:r>
            <a:r>
              <a:rPr lang="cs-CZ" sz="4000" dirty="0">
                <a:hlinkClick r:id="rId30" tooltip="RISC"/>
              </a:rPr>
              <a:t>RISC</a:t>
            </a:r>
            <a:r>
              <a:rPr lang="cs-CZ" sz="4000" dirty="0"/>
              <a:t> mikroprocesor, z </a:t>
            </a:r>
            <a:r>
              <a:rPr lang="cs-CZ" sz="4000" dirty="0" err="1"/>
              <a:t>Advanced</a:t>
            </a:r>
            <a:r>
              <a:rPr lang="cs-CZ" sz="4000" dirty="0"/>
              <a:t> RISC </a:t>
            </a:r>
            <a:r>
              <a:rPr lang="cs-CZ" sz="4000" dirty="0" err="1"/>
              <a:t>Machine</a:t>
            </a:r>
            <a:r>
              <a:rPr lang="cs-CZ" sz="4000" dirty="0"/>
              <a:t>, původně </a:t>
            </a:r>
            <a:r>
              <a:rPr lang="cs-CZ" sz="4000" dirty="0" err="1"/>
              <a:t>Acorn</a:t>
            </a:r>
            <a:r>
              <a:rPr lang="cs-CZ" sz="4000" dirty="0"/>
              <a:t> RISC </a:t>
            </a:r>
            <a:r>
              <a:rPr lang="cs-CZ" sz="4000" dirty="0" err="1"/>
              <a:t>Machine</a:t>
            </a:r>
            <a:r>
              <a:rPr lang="cs-CZ" sz="4000" dirty="0"/>
              <a:t>, použit i v domácích počítačích</a:t>
            </a:r>
          </a:p>
          <a:p>
            <a:r>
              <a:rPr lang="cs-CZ" sz="4000" dirty="0">
                <a:solidFill>
                  <a:srgbClr val="92D050"/>
                </a:solidFill>
                <a:hlinkClick r:id="rId42" tooltip="1989"/>
              </a:rPr>
              <a:t>1989</a:t>
            </a:r>
            <a:r>
              <a:rPr lang="cs-CZ" sz="4000" dirty="0">
                <a:solidFill>
                  <a:srgbClr val="92D050"/>
                </a:solidFill>
              </a:rPr>
              <a:t> - </a:t>
            </a:r>
            <a:r>
              <a:rPr lang="cs-CZ" sz="4000" dirty="0">
                <a:solidFill>
                  <a:srgbClr val="92D050"/>
                </a:solidFill>
                <a:hlinkClick r:id="rId43" tooltip="Intel 80486"/>
              </a:rPr>
              <a:t>Intel 80486</a:t>
            </a:r>
            <a:r>
              <a:rPr lang="cs-CZ" sz="4000" dirty="0">
                <a:solidFill>
                  <a:srgbClr val="92D050"/>
                </a:solidFill>
              </a:rPr>
              <a:t> - 32bitový mikroprocesor s integrovaným matematickým koprocesorem</a:t>
            </a:r>
          </a:p>
          <a:p>
            <a:r>
              <a:rPr lang="cs-CZ" sz="4000" dirty="0">
                <a:hlinkClick r:id="rId42" tooltip="1989"/>
              </a:rPr>
              <a:t>1989</a:t>
            </a:r>
            <a:r>
              <a:rPr lang="cs-CZ" sz="4000" dirty="0"/>
              <a:t> - </a:t>
            </a:r>
            <a:r>
              <a:rPr lang="cs-CZ" sz="4000" dirty="0">
                <a:hlinkClick r:id="rId44" tooltip="Sun SPARC"/>
              </a:rPr>
              <a:t>Sun SPARC</a:t>
            </a:r>
            <a:r>
              <a:rPr lang="cs-CZ" sz="4000" dirty="0"/>
              <a:t> - 32bitový </a:t>
            </a:r>
            <a:r>
              <a:rPr lang="cs-CZ" sz="4000" dirty="0">
                <a:hlinkClick r:id="rId30" tooltip="RISC"/>
              </a:rPr>
              <a:t>RISC</a:t>
            </a:r>
            <a:r>
              <a:rPr lang="cs-CZ" sz="4000" dirty="0"/>
              <a:t> mikroprocesor, z </a:t>
            </a:r>
            <a:r>
              <a:rPr lang="cs-CZ" sz="4000" dirty="0" err="1"/>
              <a:t>Scalable</a:t>
            </a:r>
            <a:r>
              <a:rPr lang="cs-CZ" sz="4000" dirty="0"/>
              <a:t> (původně </a:t>
            </a:r>
            <a:r>
              <a:rPr lang="cs-CZ" sz="4000" dirty="0">
                <a:hlinkClick r:id="rId45" tooltip="Sun Microsystems"/>
              </a:rPr>
              <a:t>Sun</a:t>
            </a:r>
            <a:r>
              <a:rPr lang="cs-CZ" sz="4000" dirty="0"/>
              <a:t> </a:t>
            </a:r>
            <a:r>
              <a:rPr lang="cs-CZ" sz="4000" dirty="0" err="1"/>
              <a:t>Processor</a:t>
            </a:r>
            <a:r>
              <a:rPr lang="cs-CZ" sz="4000" dirty="0"/>
              <a:t> </a:t>
            </a:r>
            <a:r>
              <a:rPr lang="cs-CZ" sz="4000" dirty="0" err="1"/>
              <a:t>ARChitecture</a:t>
            </a:r>
            <a:r>
              <a:rPr lang="cs-CZ" sz="4000" dirty="0"/>
              <a:t>)</a:t>
            </a:r>
          </a:p>
          <a:p>
            <a:endParaRPr lang="cs-CZ" sz="4000" dirty="0"/>
          </a:p>
          <a:p>
            <a:endParaRPr lang="cs-CZ"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pro obsah 2"/>
          <p:cNvSpPr>
            <a:spLocks noGrp="1"/>
          </p:cNvSpPr>
          <p:nvPr>
            <p:ph idx="1"/>
          </p:nvPr>
        </p:nvSpPr>
        <p:spPr>
          <a:xfrm>
            <a:off x="0" y="908720"/>
            <a:ext cx="9144000" cy="5361459"/>
          </a:xfrm>
        </p:spPr>
        <p:txBody>
          <a:bodyPr>
            <a:noAutofit/>
          </a:bodyPr>
          <a:lstStyle/>
          <a:p>
            <a:r>
              <a:rPr lang="cs-CZ" sz="1600" dirty="0">
                <a:hlinkClick r:id="rId2" tooltip="1992"/>
              </a:rPr>
              <a:t>1992</a:t>
            </a:r>
            <a:r>
              <a:rPr lang="cs-CZ" sz="1600" dirty="0"/>
              <a:t> - </a:t>
            </a:r>
            <a:r>
              <a:rPr lang="cs-CZ" sz="1600" dirty="0">
                <a:hlinkClick r:id="rId3" tooltip="DEC Alpha"/>
              </a:rPr>
              <a:t>DEC </a:t>
            </a:r>
            <a:r>
              <a:rPr lang="cs-CZ" sz="1600" dirty="0" err="1">
                <a:hlinkClick r:id="rId3" tooltip="DEC Alpha"/>
              </a:rPr>
              <a:t>Alpha</a:t>
            </a:r>
            <a:r>
              <a:rPr lang="cs-CZ" sz="1600" dirty="0"/>
              <a:t> - 64bitový </a:t>
            </a:r>
            <a:r>
              <a:rPr lang="cs-CZ" sz="1600" dirty="0">
                <a:hlinkClick r:id="rId4" tooltip="RISC"/>
              </a:rPr>
              <a:t>RISC</a:t>
            </a:r>
            <a:r>
              <a:rPr lang="cs-CZ" sz="1600" dirty="0"/>
              <a:t> mikroprocesor</a:t>
            </a:r>
          </a:p>
          <a:p>
            <a:r>
              <a:rPr lang="cs-CZ" sz="1600" dirty="0">
                <a:hlinkClick r:id="rId2" tooltip="1992"/>
              </a:rPr>
              <a:t>1992</a:t>
            </a:r>
            <a:r>
              <a:rPr lang="cs-CZ" sz="1600" dirty="0"/>
              <a:t> - </a:t>
            </a:r>
            <a:r>
              <a:rPr lang="cs-CZ" sz="1600" dirty="0">
                <a:hlinkClick r:id="rId5" tooltip="C166"/>
              </a:rPr>
              <a:t>Siemens 80C166</a:t>
            </a:r>
            <a:r>
              <a:rPr lang="cs-CZ" sz="1600" dirty="0"/>
              <a:t> - 16bitový mikroprocesor pro průmyslové </a:t>
            </a:r>
            <a:r>
              <a:rPr lang="cs-CZ" sz="1600" dirty="0" err="1"/>
              <a:t>embedded</a:t>
            </a:r>
            <a:r>
              <a:rPr lang="cs-CZ" sz="1600" dirty="0"/>
              <a:t> systémy s bohatou sadou periferií</a:t>
            </a:r>
          </a:p>
          <a:p>
            <a:r>
              <a:rPr lang="cs-CZ" sz="1600" dirty="0">
                <a:solidFill>
                  <a:srgbClr val="92D050"/>
                </a:solidFill>
                <a:hlinkClick r:id="rId6" tooltip="1993"/>
              </a:rPr>
              <a:t>1993</a:t>
            </a:r>
            <a:r>
              <a:rPr lang="cs-CZ" sz="1600" dirty="0">
                <a:solidFill>
                  <a:srgbClr val="92D050"/>
                </a:solidFill>
              </a:rPr>
              <a:t> - </a:t>
            </a:r>
            <a:r>
              <a:rPr lang="cs-CZ" sz="1600" dirty="0">
                <a:solidFill>
                  <a:srgbClr val="92D050"/>
                </a:solidFill>
                <a:hlinkClick r:id="rId7" tooltip="Pentium"/>
              </a:rPr>
              <a:t>Intel Pentium</a:t>
            </a:r>
            <a:r>
              <a:rPr lang="cs-CZ" sz="1600" dirty="0">
                <a:solidFill>
                  <a:srgbClr val="92D050"/>
                </a:solidFill>
              </a:rPr>
              <a:t> - 32bitový mikroprocesor nové generace (3,3 milionu tranzistorů)</a:t>
            </a:r>
          </a:p>
          <a:p>
            <a:r>
              <a:rPr lang="cs-CZ" sz="1600" dirty="0">
                <a:solidFill>
                  <a:srgbClr val="92D050"/>
                </a:solidFill>
                <a:hlinkClick r:id="rId8" tooltip="1995"/>
              </a:rPr>
              <a:t>1995</a:t>
            </a:r>
            <a:r>
              <a:rPr lang="cs-CZ" sz="1600" dirty="0">
                <a:solidFill>
                  <a:srgbClr val="92D050"/>
                </a:solidFill>
              </a:rPr>
              <a:t> - </a:t>
            </a:r>
            <a:r>
              <a:rPr lang="cs-CZ" sz="1600" dirty="0">
                <a:solidFill>
                  <a:srgbClr val="92D050"/>
                </a:solidFill>
                <a:hlinkClick r:id="rId9" tooltip="Pentium Pro"/>
              </a:rPr>
              <a:t>Intel Pentium Pro</a:t>
            </a:r>
            <a:r>
              <a:rPr lang="cs-CZ" sz="1600" dirty="0">
                <a:solidFill>
                  <a:srgbClr val="92D050"/>
                </a:solidFill>
              </a:rPr>
              <a:t> - 32bitový mikroprocesor nové generace pro servery a pracovní stanice (5,5 milionu tranzistorů)</a:t>
            </a:r>
          </a:p>
          <a:p>
            <a:r>
              <a:rPr lang="cs-CZ" sz="1600" dirty="0">
                <a:hlinkClick r:id="rId8" tooltip="1995"/>
              </a:rPr>
              <a:t>1995</a:t>
            </a:r>
            <a:r>
              <a:rPr lang="cs-CZ" sz="1600" dirty="0"/>
              <a:t> - </a:t>
            </a:r>
            <a:r>
              <a:rPr lang="cs-CZ" sz="1600" dirty="0">
                <a:hlinkClick r:id="rId10" tooltip="Sun UltraSPARC (stránka neexistuje)"/>
              </a:rPr>
              <a:t>Sun </a:t>
            </a:r>
            <a:r>
              <a:rPr lang="cs-CZ" sz="1600" dirty="0" err="1">
                <a:hlinkClick r:id="rId10" tooltip="Sun UltraSPARC (stránka neexistuje)"/>
              </a:rPr>
              <a:t>UltraSPARC</a:t>
            </a:r>
            <a:r>
              <a:rPr lang="cs-CZ" sz="1600" dirty="0"/>
              <a:t> - 64bitový </a:t>
            </a:r>
            <a:r>
              <a:rPr lang="cs-CZ" sz="1600" dirty="0">
                <a:hlinkClick r:id="rId4" tooltip="RISC"/>
              </a:rPr>
              <a:t>RISC</a:t>
            </a:r>
            <a:r>
              <a:rPr lang="cs-CZ" sz="1600" dirty="0"/>
              <a:t> mikroprocesor</a:t>
            </a:r>
          </a:p>
          <a:p>
            <a:r>
              <a:rPr lang="cs-CZ" sz="1600" dirty="0">
                <a:solidFill>
                  <a:srgbClr val="92D050"/>
                </a:solidFill>
                <a:hlinkClick r:id="rId11" tooltip="1996"/>
              </a:rPr>
              <a:t>1996</a:t>
            </a:r>
            <a:r>
              <a:rPr lang="cs-CZ" sz="1600" dirty="0">
                <a:solidFill>
                  <a:srgbClr val="92D050"/>
                </a:solidFill>
              </a:rPr>
              <a:t> - </a:t>
            </a:r>
            <a:r>
              <a:rPr lang="cs-CZ" sz="1600" dirty="0">
                <a:solidFill>
                  <a:srgbClr val="92D050"/>
                </a:solidFill>
                <a:hlinkClick r:id="rId12" tooltip="Intel Pentium MMX"/>
              </a:rPr>
              <a:t>Intel Pentium MMX</a:t>
            </a:r>
            <a:r>
              <a:rPr lang="cs-CZ" sz="1600" dirty="0">
                <a:solidFill>
                  <a:srgbClr val="92D050"/>
                </a:solidFill>
              </a:rPr>
              <a:t> 32bitový první se sadou instrukcí </a:t>
            </a:r>
            <a:r>
              <a:rPr lang="cs-CZ" sz="1600" dirty="0">
                <a:solidFill>
                  <a:srgbClr val="92D050"/>
                </a:solidFill>
                <a:hlinkClick r:id="rId13" tooltip="MMX"/>
              </a:rPr>
              <a:t>MMX</a:t>
            </a:r>
            <a:r>
              <a:rPr lang="cs-CZ" sz="1600" dirty="0">
                <a:solidFill>
                  <a:srgbClr val="92D050"/>
                </a:solidFill>
              </a:rPr>
              <a:t> pro podporu 2D grafiky</a:t>
            </a:r>
          </a:p>
          <a:p>
            <a:r>
              <a:rPr lang="cs-CZ" sz="1600" dirty="0">
                <a:solidFill>
                  <a:srgbClr val="92D050"/>
                </a:solidFill>
                <a:hlinkClick r:id="rId14" tooltip="1997"/>
              </a:rPr>
              <a:t>1997</a:t>
            </a:r>
            <a:r>
              <a:rPr lang="cs-CZ" sz="1600" dirty="0">
                <a:solidFill>
                  <a:srgbClr val="92D050"/>
                </a:solidFill>
              </a:rPr>
              <a:t> - </a:t>
            </a:r>
            <a:r>
              <a:rPr lang="cs-CZ" sz="1600" dirty="0">
                <a:solidFill>
                  <a:srgbClr val="92D050"/>
                </a:solidFill>
                <a:hlinkClick r:id="rId15" tooltip="Pentium II"/>
              </a:rPr>
              <a:t>Intel Pentium II</a:t>
            </a:r>
            <a:r>
              <a:rPr lang="cs-CZ" sz="1600" dirty="0">
                <a:solidFill>
                  <a:srgbClr val="92D050"/>
                </a:solidFill>
              </a:rPr>
              <a:t> - 32bitový mikroprocesor nové generace s novou sadou instrukcí </a:t>
            </a:r>
            <a:r>
              <a:rPr lang="cs-CZ" sz="1600" dirty="0">
                <a:solidFill>
                  <a:srgbClr val="92D050"/>
                </a:solidFill>
                <a:hlinkClick r:id="rId13" tooltip="MMX"/>
              </a:rPr>
              <a:t>MMX</a:t>
            </a:r>
            <a:r>
              <a:rPr lang="cs-CZ" sz="1600" dirty="0">
                <a:solidFill>
                  <a:srgbClr val="92D050"/>
                </a:solidFill>
              </a:rPr>
              <a:t> (7,5 </a:t>
            </a:r>
            <a:r>
              <a:rPr lang="cs-CZ" sz="1600" dirty="0"/>
              <a:t>milionu tranzistorů)</a:t>
            </a:r>
          </a:p>
          <a:p>
            <a:r>
              <a:rPr lang="cs-CZ" sz="1600" dirty="0">
                <a:hlinkClick r:id="rId14" tooltip="1997"/>
              </a:rPr>
              <a:t>1997</a:t>
            </a:r>
            <a:r>
              <a:rPr lang="cs-CZ" sz="1600" dirty="0"/>
              <a:t> - </a:t>
            </a:r>
            <a:r>
              <a:rPr lang="cs-CZ" sz="1600" dirty="0">
                <a:hlinkClick r:id="rId16" tooltip="Sun picoJava (stránka neexistuje)"/>
              </a:rPr>
              <a:t>Sun </a:t>
            </a:r>
            <a:r>
              <a:rPr lang="cs-CZ" sz="1600" dirty="0" err="1">
                <a:hlinkClick r:id="rId16" tooltip="Sun picoJava (stránka neexistuje)"/>
              </a:rPr>
              <a:t>picoJava</a:t>
            </a:r>
            <a:r>
              <a:rPr lang="cs-CZ" sz="1600" dirty="0"/>
              <a:t> - mikroprocesor pro zpracování </a:t>
            </a:r>
            <a:r>
              <a:rPr lang="cs-CZ" sz="1600" dirty="0">
                <a:hlinkClick r:id="rId17" tooltip="Platforma Java"/>
              </a:rPr>
              <a:t>Java</a:t>
            </a:r>
            <a:r>
              <a:rPr lang="cs-CZ" sz="1600" dirty="0"/>
              <a:t> </a:t>
            </a:r>
            <a:r>
              <a:rPr lang="cs-CZ" sz="1600" dirty="0" err="1"/>
              <a:t>bytekódu</a:t>
            </a:r>
            <a:endParaRPr lang="cs-CZ" sz="1600" dirty="0"/>
          </a:p>
          <a:p>
            <a:r>
              <a:rPr lang="cs-CZ" sz="1600" dirty="0">
                <a:solidFill>
                  <a:srgbClr val="92D050"/>
                </a:solidFill>
                <a:hlinkClick r:id="rId14" tooltip="1997"/>
              </a:rPr>
              <a:t>1997</a:t>
            </a:r>
            <a:r>
              <a:rPr lang="cs-CZ" sz="1600" dirty="0">
                <a:solidFill>
                  <a:srgbClr val="92D050"/>
                </a:solidFill>
              </a:rPr>
              <a:t> - </a:t>
            </a:r>
            <a:r>
              <a:rPr lang="cs-CZ" sz="1600" dirty="0">
                <a:solidFill>
                  <a:srgbClr val="92D050"/>
                </a:solidFill>
                <a:hlinkClick r:id="rId18" tooltip="AMD K6-2"/>
              </a:rPr>
              <a:t>AMD K6-2</a:t>
            </a:r>
            <a:r>
              <a:rPr lang="cs-CZ" sz="1600" dirty="0">
                <a:solidFill>
                  <a:srgbClr val="92D050"/>
                </a:solidFill>
              </a:rPr>
              <a:t> - 32bitový první se sadou instrukcí pro podporu 3D grafiky </a:t>
            </a:r>
            <a:r>
              <a:rPr lang="cs-CZ" sz="1600" dirty="0">
                <a:solidFill>
                  <a:srgbClr val="92D050"/>
                </a:solidFill>
                <a:hlinkClick r:id="rId19" tooltip="3DNow!"/>
              </a:rPr>
              <a:t>3DNow!</a:t>
            </a:r>
            <a:endParaRPr lang="cs-CZ" sz="1600" dirty="0">
              <a:solidFill>
                <a:srgbClr val="92D050"/>
              </a:solidFill>
            </a:endParaRPr>
          </a:p>
          <a:p>
            <a:r>
              <a:rPr lang="cs-CZ" sz="1600" dirty="0">
                <a:solidFill>
                  <a:srgbClr val="92D050"/>
                </a:solidFill>
                <a:hlinkClick r:id="rId20" tooltip="1999"/>
              </a:rPr>
              <a:t>1999</a:t>
            </a:r>
            <a:r>
              <a:rPr lang="cs-CZ" sz="1600" dirty="0">
                <a:solidFill>
                  <a:srgbClr val="92D050"/>
                </a:solidFill>
              </a:rPr>
              <a:t> - </a:t>
            </a:r>
            <a:r>
              <a:rPr lang="cs-CZ" sz="1600" dirty="0">
                <a:solidFill>
                  <a:srgbClr val="92D050"/>
                </a:solidFill>
                <a:hlinkClick r:id="rId21" tooltip="AMD K6-III"/>
              </a:rPr>
              <a:t>AMD K6-III</a:t>
            </a:r>
            <a:r>
              <a:rPr lang="cs-CZ" sz="1600" dirty="0">
                <a:solidFill>
                  <a:srgbClr val="92D050"/>
                </a:solidFill>
              </a:rPr>
              <a:t> - 32bitový poslední procesor do základní desky se super </a:t>
            </a:r>
            <a:r>
              <a:rPr lang="cs-CZ" sz="1600" dirty="0" err="1">
                <a:solidFill>
                  <a:srgbClr val="92D050"/>
                </a:solidFill>
              </a:rPr>
              <a:t>socket</a:t>
            </a:r>
            <a:r>
              <a:rPr lang="cs-CZ" sz="1600" dirty="0">
                <a:solidFill>
                  <a:srgbClr val="92D050"/>
                </a:solidFill>
              </a:rPr>
              <a:t> 7. Od této chvíle již nemá Intel a AMD procesory do stejného </a:t>
            </a:r>
            <a:r>
              <a:rPr lang="cs-CZ" sz="1600" dirty="0" err="1">
                <a:solidFill>
                  <a:srgbClr val="92D050"/>
                </a:solidFill>
              </a:rPr>
              <a:t>socketu</a:t>
            </a:r>
            <a:r>
              <a:rPr lang="cs-CZ" sz="1600" dirty="0">
                <a:solidFill>
                  <a:srgbClr val="92D050"/>
                </a:solidFill>
              </a:rPr>
              <a:t>.</a:t>
            </a:r>
          </a:p>
          <a:p>
            <a:r>
              <a:rPr lang="cs-CZ" sz="1600" dirty="0">
                <a:solidFill>
                  <a:srgbClr val="92D050"/>
                </a:solidFill>
                <a:hlinkClick r:id="rId20" tooltip="1999"/>
              </a:rPr>
              <a:t>1999</a:t>
            </a:r>
            <a:r>
              <a:rPr lang="cs-CZ" sz="1600" dirty="0">
                <a:solidFill>
                  <a:srgbClr val="92D050"/>
                </a:solidFill>
              </a:rPr>
              <a:t> - </a:t>
            </a:r>
            <a:r>
              <a:rPr lang="cs-CZ" sz="1600" dirty="0">
                <a:solidFill>
                  <a:srgbClr val="92D050"/>
                </a:solidFill>
                <a:hlinkClick r:id="rId22" tooltip="Intel Pentium III"/>
              </a:rPr>
              <a:t>Intel Pentium III</a:t>
            </a:r>
            <a:r>
              <a:rPr lang="cs-CZ" sz="1600" dirty="0">
                <a:solidFill>
                  <a:srgbClr val="92D050"/>
                </a:solidFill>
              </a:rPr>
              <a:t> - 32bitový mikroprocesor nové generace s novou sadou instrukcí SIMD známou jako </a:t>
            </a:r>
            <a:r>
              <a:rPr lang="cs-CZ" sz="1600" dirty="0">
                <a:solidFill>
                  <a:srgbClr val="92D050"/>
                </a:solidFill>
                <a:hlinkClick r:id="rId23" tooltip="SSE"/>
              </a:rPr>
              <a:t>SSE</a:t>
            </a:r>
            <a:r>
              <a:rPr lang="cs-CZ" sz="1600" dirty="0">
                <a:solidFill>
                  <a:srgbClr val="92D050"/>
                </a:solidFill>
              </a:rPr>
              <a:t> (9,5 milionu tranzistorů)</a:t>
            </a:r>
          </a:p>
          <a:p>
            <a:r>
              <a:rPr lang="cs-CZ" sz="1600" dirty="0">
                <a:solidFill>
                  <a:srgbClr val="92D050"/>
                </a:solidFill>
                <a:hlinkClick r:id="rId20" tooltip="1999"/>
              </a:rPr>
              <a:t>1999</a:t>
            </a:r>
            <a:r>
              <a:rPr lang="cs-CZ" sz="1600" dirty="0">
                <a:solidFill>
                  <a:srgbClr val="92D050"/>
                </a:solidFill>
              </a:rPr>
              <a:t> - </a:t>
            </a:r>
            <a:r>
              <a:rPr lang="cs-CZ" sz="1600" dirty="0">
                <a:solidFill>
                  <a:srgbClr val="92D050"/>
                </a:solidFill>
                <a:hlinkClick r:id="rId24" tooltip="Intel Celeron"/>
              </a:rPr>
              <a:t>Intel </a:t>
            </a:r>
            <a:r>
              <a:rPr lang="cs-CZ" sz="1600" dirty="0" err="1">
                <a:solidFill>
                  <a:srgbClr val="92D050"/>
                </a:solidFill>
                <a:hlinkClick r:id="rId24" tooltip="Intel Celeron"/>
              </a:rPr>
              <a:t>Celeron</a:t>
            </a:r>
            <a:r>
              <a:rPr lang="cs-CZ" sz="1600" dirty="0">
                <a:solidFill>
                  <a:srgbClr val="92D050"/>
                </a:solidFill>
              </a:rPr>
              <a:t> - 32bitový mikroprocesor odvozený původně od </a:t>
            </a:r>
            <a:r>
              <a:rPr lang="cs-CZ" sz="1600" dirty="0">
                <a:solidFill>
                  <a:srgbClr val="92D050"/>
                </a:solidFill>
                <a:hlinkClick r:id="rId15" tooltip="Pentium II"/>
              </a:rPr>
              <a:t>Intel Pentium II</a:t>
            </a:r>
            <a:r>
              <a:rPr lang="cs-CZ" sz="1600" dirty="0">
                <a:solidFill>
                  <a:srgbClr val="92D050"/>
                </a:solidFill>
              </a:rPr>
              <a:t> pro nejlevnější PC</a:t>
            </a:r>
          </a:p>
        </p:txBody>
      </p:sp>
      <p:sp>
        <p:nvSpPr>
          <p:cNvPr id="5" name="Nadpis 1"/>
          <p:cNvSpPr>
            <a:spLocks noGrp="1"/>
          </p:cNvSpPr>
          <p:nvPr>
            <p:ph type="title"/>
          </p:nvPr>
        </p:nvSpPr>
        <p:spPr>
          <a:xfrm>
            <a:off x="1475656" y="188640"/>
            <a:ext cx="5544616" cy="620688"/>
          </a:xfrm>
        </p:spPr>
        <p:txBody>
          <a:bodyPr>
            <a:normAutofit/>
          </a:bodyPr>
          <a:lstStyle/>
          <a:p>
            <a:r>
              <a:rPr lang="cs-CZ" sz="3200" b="1" dirty="0"/>
              <a:t>Historie mikroprocesorů</a:t>
            </a:r>
            <a:endParaRPr lang="cs-CZ"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pro obsah 2"/>
          <p:cNvSpPr>
            <a:spLocks noGrp="1"/>
          </p:cNvSpPr>
          <p:nvPr>
            <p:ph idx="1"/>
          </p:nvPr>
        </p:nvSpPr>
        <p:spPr>
          <a:xfrm>
            <a:off x="457200" y="908720"/>
            <a:ext cx="8229600" cy="5760640"/>
          </a:xfrm>
        </p:spPr>
        <p:txBody>
          <a:bodyPr>
            <a:noAutofit/>
          </a:bodyPr>
          <a:lstStyle/>
          <a:p>
            <a:r>
              <a:rPr lang="cs-CZ" sz="1600" dirty="0">
                <a:hlinkClick r:id="rId2" tooltip="2000"/>
              </a:rPr>
              <a:t>2000</a:t>
            </a:r>
            <a:r>
              <a:rPr lang="cs-CZ" sz="1600" dirty="0"/>
              <a:t> - </a:t>
            </a:r>
            <a:r>
              <a:rPr lang="cs-CZ" sz="1600" dirty="0">
                <a:hlinkClick r:id="rId3" tooltip="AMD Athlon K75 (stránka neexistuje)"/>
              </a:rPr>
              <a:t>AMD </a:t>
            </a:r>
            <a:r>
              <a:rPr lang="cs-CZ" sz="1600" dirty="0" err="1">
                <a:hlinkClick r:id="rId3" tooltip="AMD Athlon K75 (stránka neexistuje)"/>
              </a:rPr>
              <a:t>Athlon</a:t>
            </a:r>
            <a:r>
              <a:rPr lang="cs-CZ" sz="1600" dirty="0">
                <a:hlinkClick r:id="rId3" tooltip="AMD Athlon K75 (stránka neexistuje)"/>
              </a:rPr>
              <a:t> K75</a:t>
            </a:r>
            <a:r>
              <a:rPr lang="cs-CZ" sz="1600" dirty="0"/>
              <a:t> První procesor s frekvencí 1GHz</a:t>
            </a:r>
          </a:p>
          <a:p>
            <a:r>
              <a:rPr lang="cs-CZ" sz="1600" dirty="0">
                <a:hlinkClick r:id="rId2" tooltip="2000"/>
              </a:rPr>
              <a:t>2000</a:t>
            </a:r>
            <a:r>
              <a:rPr lang="cs-CZ" sz="1600" dirty="0"/>
              <a:t> - </a:t>
            </a:r>
            <a:r>
              <a:rPr lang="cs-CZ" sz="1600" dirty="0">
                <a:hlinkClick r:id="rId4" tooltip="Intel Pentium 4"/>
              </a:rPr>
              <a:t>Intel Pentium 4</a:t>
            </a:r>
            <a:r>
              <a:rPr lang="cs-CZ" sz="1600" dirty="0"/>
              <a:t> - 32bitový mikroprocesor s řadou technologií orientovaných na dosažení vysoké frekvence</a:t>
            </a:r>
          </a:p>
          <a:p>
            <a:r>
              <a:rPr lang="cs-CZ" sz="1600" dirty="0">
                <a:hlinkClick r:id="rId5" tooltip="2001"/>
              </a:rPr>
              <a:t>2001</a:t>
            </a:r>
            <a:r>
              <a:rPr lang="cs-CZ" sz="1600" dirty="0"/>
              <a:t> - </a:t>
            </a:r>
            <a:r>
              <a:rPr lang="cs-CZ" sz="1600" dirty="0">
                <a:hlinkClick r:id="rId6" tooltip="Intel Itanium"/>
              </a:rPr>
              <a:t>Intel </a:t>
            </a:r>
            <a:r>
              <a:rPr lang="cs-CZ" sz="1600" dirty="0" err="1">
                <a:hlinkClick r:id="rId6" tooltip="Intel Itanium"/>
              </a:rPr>
              <a:t>Itanium</a:t>
            </a:r>
            <a:r>
              <a:rPr lang="cs-CZ" sz="1600" dirty="0"/>
              <a:t> - 64bitový mikroprocesor nové generace pro servery</a:t>
            </a:r>
          </a:p>
          <a:p>
            <a:r>
              <a:rPr lang="cs-CZ" sz="1600" dirty="0">
                <a:hlinkClick r:id="rId5" tooltip="2001"/>
              </a:rPr>
              <a:t>2001</a:t>
            </a:r>
            <a:r>
              <a:rPr lang="cs-CZ" sz="1600" dirty="0"/>
              <a:t> - </a:t>
            </a:r>
            <a:r>
              <a:rPr lang="cs-CZ" sz="1600" dirty="0">
                <a:hlinkClick r:id="rId7" tooltip="AMD Opteron"/>
              </a:rPr>
              <a:t>AMD </a:t>
            </a:r>
            <a:r>
              <a:rPr lang="cs-CZ" sz="1600" dirty="0" err="1">
                <a:hlinkClick r:id="rId7" tooltip="AMD Opteron"/>
              </a:rPr>
              <a:t>Opteron</a:t>
            </a:r>
            <a:r>
              <a:rPr lang="cs-CZ" sz="1600" dirty="0"/>
              <a:t> - 64bitový mikroprocesor nové generace pro servery od AMD. Jedná se o historicky nejkvalitnější procesor, jaký kdy AMD vyrobilo.</a:t>
            </a:r>
          </a:p>
          <a:p>
            <a:r>
              <a:rPr lang="cs-CZ" sz="1600" dirty="0">
                <a:hlinkClick r:id="rId8" tooltip="2003"/>
              </a:rPr>
              <a:t>2003</a:t>
            </a:r>
            <a:r>
              <a:rPr lang="cs-CZ" sz="1600" dirty="0"/>
              <a:t> - </a:t>
            </a:r>
            <a:r>
              <a:rPr lang="cs-CZ" sz="1600" dirty="0">
                <a:hlinkClick r:id="rId9" tooltip="AMD Athlon 64"/>
              </a:rPr>
              <a:t>AMD </a:t>
            </a:r>
            <a:r>
              <a:rPr lang="cs-CZ" sz="1600" dirty="0" err="1">
                <a:hlinkClick r:id="rId9" tooltip="AMD Athlon 64"/>
              </a:rPr>
              <a:t>Athlon</a:t>
            </a:r>
            <a:r>
              <a:rPr lang="cs-CZ" sz="1600" dirty="0">
                <a:hlinkClick r:id="rId9" tooltip="AMD Athlon 64"/>
              </a:rPr>
              <a:t> 64</a:t>
            </a:r>
            <a:r>
              <a:rPr lang="cs-CZ" sz="1600" dirty="0"/>
              <a:t> - 64bitový mikroprocesor nové generace pro desktopy s instrukční sadou AMD64, zpětně kompatibilní s x86</a:t>
            </a:r>
          </a:p>
          <a:p>
            <a:r>
              <a:rPr lang="cs-CZ" sz="1600" dirty="0">
                <a:hlinkClick r:id="rId10" tooltip="2006"/>
              </a:rPr>
              <a:t>2006</a:t>
            </a:r>
            <a:r>
              <a:rPr lang="cs-CZ" sz="1600" dirty="0"/>
              <a:t> - </a:t>
            </a:r>
            <a:r>
              <a:rPr lang="cs-CZ" sz="1600" dirty="0">
                <a:hlinkClick r:id="rId11" tooltip="Intel Core"/>
              </a:rPr>
              <a:t>Intel </a:t>
            </a:r>
            <a:r>
              <a:rPr lang="cs-CZ" sz="1600" dirty="0" err="1">
                <a:hlinkClick r:id="rId11" tooltip="Intel Core"/>
              </a:rPr>
              <a:t>Core</a:t>
            </a:r>
            <a:r>
              <a:rPr lang="cs-CZ" sz="1600" dirty="0"/>
              <a:t> - 64bitová architektura, na které jsou postaveny procesory </a:t>
            </a:r>
            <a:r>
              <a:rPr lang="cs-CZ" sz="1600" dirty="0" err="1">
                <a:hlinkClick r:id="rId12" tooltip="Core Duo (stránka neexistuje)"/>
              </a:rPr>
              <a:t>Core</a:t>
            </a:r>
            <a:r>
              <a:rPr lang="cs-CZ" sz="1600" dirty="0">
                <a:hlinkClick r:id="rId12" tooltip="Core Duo (stránka neexistuje)"/>
              </a:rPr>
              <a:t> Duo</a:t>
            </a:r>
            <a:r>
              <a:rPr lang="cs-CZ" sz="1600" dirty="0"/>
              <a:t>, </a:t>
            </a:r>
            <a:r>
              <a:rPr lang="cs-CZ" sz="1600" dirty="0" err="1">
                <a:hlinkClick r:id="rId13" tooltip="Core 2 Duo"/>
              </a:rPr>
              <a:t>Core</a:t>
            </a:r>
            <a:r>
              <a:rPr lang="cs-CZ" sz="1600" dirty="0">
                <a:hlinkClick r:id="rId13" tooltip="Core 2 Duo"/>
              </a:rPr>
              <a:t> 2 Duo</a:t>
            </a:r>
            <a:r>
              <a:rPr lang="cs-CZ" sz="1600" dirty="0"/>
              <a:t>, </a:t>
            </a:r>
            <a:r>
              <a:rPr lang="cs-CZ" sz="1600" dirty="0" err="1">
                <a:hlinkClick r:id="rId14" tooltip="Core Solo (stránka neexistuje)"/>
              </a:rPr>
              <a:t>Core</a:t>
            </a:r>
            <a:r>
              <a:rPr lang="cs-CZ" sz="1600" dirty="0">
                <a:hlinkClick r:id="rId14" tooltip="Core Solo (stránka neexistuje)"/>
              </a:rPr>
              <a:t> </a:t>
            </a:r>
            <a:r>
              <a:rPr lang="cs-CZ" sz="1600" dirty="0" err="1">
                <a:hlinkClick r:id="rId14" tooltip="Core Solo (stránka neexistuje)"/>
              </a:rPr>
              <a:t>Solo</a:t>
            </a:r>
            <a:r>
              <a:rPr lang="cs-CZ" sz="1600" dirty="0"/>
              <a:t>, </a:t>
            </a:r>
            <a:r>
              <a:rPr lang="cs-CZ" sz="1600" dirty="0" err="1">
                <a:hlinkClick r:id="rId15" tooltip="Core 2 Quad"/>
              </a:rPr>
              <a:t>Core</a:t>
            </a:r>
            <a:r>
              <a:rPr lang="cs-CZ" sz="1600" dirty="0">
                <a:hlinkClick r:id="rId15" tooltip="Core 2 Quad"/>
              </a:rPr>
              <a:t> 2 </a:t>
            </a:r>
            <a:r>
              <a:rPr lang="cs-CZ" sz="1600" dirty="0" err="1">
                <a:hlinkClick r:id="rId15" tooltip="Core 2 Quad"/>
              </a:rPr>
              <a:t>Quad</a:t>
            </a:r>
            <a:endParaRPr lang="cs-CZ" sz="1600" dirty="0"/>
          </a:p>
          <a:p>
            <a:r>
              <a:rPr lang="cs-CZ" sz="1600" dirty="0">
                <a:hlinkClick r:id="rId16" tooltip="2007"/>
              </a:rPr>
              <a:t>2007</a:t>
            </a:r>
            <a:r>
              <a:rPr lang="cs-CZ" sz="1600" dirty="0"/>
              <a:t> - Společnost AMD uvádí novou řadu procesorů </a:t>
            </a:r>
            <a:r>
              <a:rPr lang="cs-CZ" sz="1600" dirty="0" err="1">
                <a:hlinkClick r:id="rId17" tooltip="Phenom"/>
              </a:rPr>
              <a:t>Phenom</a:t>
            </a:r>
            <a:endParaRPr lang="cs-CZ" sz="1600" dirty="0"/>
          </a:p>
          <a:p>
            <a:r>
              <a:rPr lang="cs-CZ" sz="1600" dirty="0">
                <a:hlinkClick r:id="rId18" tooltip="2008"/>
              </a:rPr>
              <a:t>2008</a:t>
            </a:r>
            <a:r>
              <a:rPr lang="cs-CZ" sz="1600" dirty="0"/>
              <a:t> - Intel </a:t>
            </a:r>
            <a:r>
              <a:rPr lang="cs-CZ" sz="1600" dirty="0" err="1">
                <a:hlinkClick r:id="rId19" tooltip="Core i7"/>
              </a:rPr>
              <a:t>Core</a:t>
            </a:r>
            <a:r>
              <a:rPr lang="cs-CZ" sz="1600" dirty="0">
                <a:hlinkClick r:id="rId19" tooltip="Core i7"/>
              </a:rPr>
              <a:t> i7</a:t>
            </a:r>
            <a:r>
              <a:rPr lang="cs-CZ" sz="1600" dirty="0"/>
              <a:t> - nová řada CPU od </a:t>
            </a:r>
            <a:r>
              <a:rPr lang="cs-CZ" sz="1600" dirty="0" err="1"/>
              <a:t>Intelu</a:t>
            </a:r>
            <a:r>
              <a:rPr lang="cs-CZ" sz="1600" dirty="0"/>
              <a:t> pod názvem </a:t>
            </a:r>
            <a:r>
              <a:rPr lang="cs-CZ" sz="1600" dirty="0" err="1"/>
              <a:t>Nehalem</a:t>
            </a:r>
            <a:r>
              <a:rPr lang="cs-CZ" sz="1600" dirty="0"/>
              <a:t> a AMD </a:t>
            </a:r>
            <a:r>
              <a:rPr lang="cs-CZ" sz="1600" dirty="0" err="1">
                <a:hlinkClick r:id="rId20" tooltip="Phenom II"/>
              </a:rPr>
              <a:t>Phenom</a:t>
            </a:r>
            <a:r>
              <a:rPr lang="cs-CZ" sz="1600" dirty="0">
                <a:hlinkClick r:id="rId20" tooltip="Phenom II"/>
              </a:rPr>
              <a:t> II</a:t>
            </a:r>
            <a:r>
              <a:rPr lang="cs-CZ" sz="1600" dirty="0"/>
              <a:t>, který staví na 45 </a:t>
            </a:r>
            <a:r>
              <a:rPr lang="cs-CZ" sz="1600" dirty="0" err="1"/>
              <a:t>nm</a:t>
            </a:r>
            <a:r>
              <a:rPr lang="cs-CZ" sz="1600" dirty="0"/>
              <a:t> výrobě</a:t>
            </a:r>
          </a:p>
          <a:p>
            <a:r>
              <a:rPr lang="cs-CZ" sz="1600" dirty="0">
                <a:hlinkClick r:id="rId21" tooltip="2010"/>
              </a:rPr>
              <a:t>2010</a:t>
            </a:r>
            <a:r>
              <a:rPr lang="cs-CZ" sz="1600" dirty="0"/>
              <a:t> - Intel vydává slabší a </a:t>
            </a:r>
            <a:r>
              <a:rPr lang="cs-CZ" sz="1600" dirty="0" err="1"/>
              <a:t>ořezanější</a:t>
            </a:r>
            <a:r>
              <a:rPr lang="cs-CZ" sz="1600" dirty="0"/>
              <a:t> procesory </a:t>
            </a:r>
            <a:r>
              <a:rPr lang="cs-CZ" sz="1600" dirty="0" err="1"/>
              <a:t>Core</a:t>
            </a:r>
            <a:r>
              <a:rPr lang="cs-CZ" sz="1600" dirty="0"/>
              <a:t> i3 a </a:t>
            </a:r>
            <a:r>
              <a:rPr lang="cs-CZ" sz="1600" dirty="0" err="1"/>
              <a:t>Core</a:t>
            </a:r>
            <a:r>
              <a:rPr lang="cs-CZ" sz="1600" dirty="0"/>
              <a:t> i5 postavené na architektuře </a:t>
            </a:r>
            <a:r>
              <a:rPr lang="cs-CZ" sz="1600" dirty="0" err="1"/>
              <a:t>Nehalem</a:t>
            </a:r>
            <a:r>
              <a:rPr lang="cs-CZ" sz="1600" dirty="0"/>
              <a:t> a AMD vydává svůj první </a:t>
            </a:r>
            <a:r>
              <a:rPr lang="cs-CZ" sz="1600" dirty="0" err="1"/>
              <a:t>šestijádrový</a:t>
            </a:r>
            <a:r>
              <a:rPr lang="cs-CZ" sz="1600" dirty="0"/>
              <a:t> procesor </a:t>
            </a:r>
            <a:r>
              <a:rPr lang="cs-CZ" sz="1600" dirty="0" err="1">
                <a:hlinkClick r:id="rId20" tooltip="Phenom II"/>
              </a:rPr>
              <a:t>Phenom</a:t>
            </a:r>
            <a:r>
              <a:rPr lang="cs-CZ" sz="1600" dirty="0">
                <a:hlinkClick r:id="rId20" tooltip="Phenom II"/>
              </a:rPr>
              <a:t> II</a:t>
            </a:r>
            <a:r>
              <a:rPr lang="cs-CZ" sz="1600" dirty="0"/>
              <a:t> X6</a:t>
            </a:r>
          </a:p>
          <a:p>
            <a:r>
              <a:rPr lang="cs-CZ" sz="1600" dirty="0">
                <a:hlinkClick r:id="rId22" tooltip="2011"/>
              </a:rPr>
              <a:t>2011</a:t>
            </a:r>
            <a:r>
              <a:rPr lang="cs-CZ" sz="1600" dirty="0"/>
              <a:t> - Intel vydává novou architekturu </a:t>
            </a:r>
            <a:r>
              <a:rPr lang="cs-CZ" sz="1600" dirty="0" err="1"/>
              <a:t>Sandy</a:t>
            </a:r>
            <a:r>
              <a:rPr lang="cs-CZ" sz="1600" dirty="0"/>
              <a:t> </a:t>
            </a:r>
            <a:r>
              <a:rPr lang="cs-CZ" sz="1600" dirty="0" err="1"/>
              <a:t>Bridge</a:t>
            </a:r>
            <a:r>
              <a:rPr lang="cs-CZ" sz="1600" dirty="0"/>
              <a:t> a AMD vydává první procesory s integrovanou grafikou</a:t>
            </a:r>
          </a:p>
          <a:p>
            <a:r>
              <a:rPr lang="cs-CZ" sz="1600" dirty="0">
                <a:hlinkClick r:id="rId23" tooltip="2012"/>
              </a:rPr>
              <a:t>2012</a:t>
            </a:r>
            <a:r>
              <a:rPr lang="cs-CZ" sz="1600" dirty="0"/>
              <a:t> - Intel vydává novou architekturu </a:t>
            </a:r>
            <a:r>
              <a:rPr lang="cs-CZ" sz="1600" dirty="0">
                <a:hlinkClick r:id="rId24" tooltip="Ivy Bridge"/>
              </a:rPr>
              <a:t>Ivy </a:t>
            </a:r>
            <a:r>
              <a:rPr lang="cs-CZ" sz="1600" dirty="0" err="1">
                <a:hlinkClick r:id="rId24" tooltip="Ivy Bridge"/>
              </a:rPr>
              <a:t>Bridge</a:t>
            </a:r>
            <a:r>
              <a:rPr lang="cs-CZ" sz="1600" dirty="0"/>
              <a:t> s tzv. "3D" (Tri-</a:t>
            </a:r>
            <a:r>
              <a:rPr lang="cs-CZ" sz="1600" dirty="0" err="1"/>
              <a:t>Gate</a:t>
            </a:r>
            <a:r>
              <a:rPr lang="cs-CZ" sz="1600" dirty="0"/>
              <a:t>) technologií tranzistorů ve 22nm výrobním procesu</a:t>
            </a:r>
          </a:p>
          <a:p>
            <a:r>
              <a:rPr lang="cs-CZ" sz="1600" dirty="0">
                <a:hlinkClick r:id="rId25" tooltip="2013"/>
              </a:rPr>
              <a:t>2013</a:t>
            </a:r>
            <a:r>
              <a:rPr lang="cs-CZ" sz="1600" dirty="0"/>
              <a:t> - Intel vydá architekturu </a:t>
            </a:r>
            <a:r>
              <a:rPr lang="cs-CZ" sz="1600" dirty="0">
                <a:hlinkClick r:id="rId26" tooltip="Haswell (stránka neexistuje)"/>
              </a:rPr>
              <a:t>Haswell</a:t>
            </a:r>
            <a:r>
              <a:rPr lang="cs-CZ" sz="1600" dirty="0"/>
              <a:t> vycházející z Ivy </a:t>
            </a:r>
            <a:r>
              <a:rPr lang="cs-CZ" sz="1600" dirty="0" err="1"/>
              <a:t>Bridge</a:t>
            </a:r>
            <a:r>
              <a:rPr lang="cs-CZ" sz="1600" dirty="0"/>
              <a:t>, která má velmi znatelně snížit spotřebu</a:t>
            </a:r>
          </a:p>
        </p:txBody>
      </p:sp>
      <p:sp>
        <p:nvSpPr>
          <p:cNvPr id="4" name="Nadpis 1"/>
          <p:cNvSpPr>
            <a:spLocks noGrp="1"/>
          </p:cNvSpPr>
          <p:nvPr>
            <p:ph type="title"/>
          </p:nvPr>
        </p:nvSpPr>
        <p:spPr>
          <a:xfrm>
            <a:off x="1475656" y="188640"/>
            <a:ext cx="5544616" cy="620688"/>
          </a:xfrm>
        </p:spPr>
        <p:txBody>
          <a:bodyPr>
            <a:normAutofit/>
          </a:bodyPr>
          <a:lstStyle/>
          <a:p>
            <a:r>
              <a:rPr lang="cs-CZ" sz="3200" b="1" dirty="0"/>
              <a:t>Historie mikroprocesorů</a:t>
            </a:r>
            <a:endParaRPr lang="cs-CZ"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79512" y="274638"/>
            <a:ext cx="8964488" cy="706090"/>
          </a:xfrm>
        </p:spPr>
        <p:txBody>
          <a:bodyPr>
            <a:noAutofit/>
          </a:bodyPr>
          <a:lstStyle/>
          <a:p>
            <a:r>
              <a:rPr lang="cs-CZ" sz="3600" b="1" dirty="0"/>
              <a:t>Společnosti zabývající se výrobou procesorů</a:t>
            </a:r>
            <a:endParaRPr lang="cs-CZ" sz="3600" dirty="0"/>
          </a:p>
        </p:txBody>
      </p:sp>
      <p:sp>
        <p:nvSpPr>
          <p:cNvPr id="3" name="Zástupný symbol pro obsah 2"/>
          <p:cNvSpPr>
            <a:spLocks noGrp="1"/>
          </p:cNvSpPr>
          <p:nvPr>
            <p:ph idx="1"/>
          </p:nvPr>
        </p:nvSpPr>
        <p:spPr>
          <a:xfrm>
            <a:off x="457200" y="908720"/>
            <a:ext cx="8229600" cy="5217443"/>
          </a:xfrm>
        </p:spPr>
        <p:txBody>
          <a:bodyPr>
            <a:normAutofit fontScale="77500" lnSpcReduction="20000"/>
          </a:bodyPr>
          <a:lstStyle/>
          <a:p>
            <a:pPr>
              <a:buNone/>
            </a:pPr>
            <a:r>
              <a:rPr lang="cs-CZ" b="1" u="sng" dirty="0"/>
              <a:t>Intel</a:t>
            </a:r>
          </a:p>
          <a:p>
            <a:pPr>
              <a:buNone/>
            </a:pPr>
            <a:endParaRPr lang="cs-CZ" b="1" u="sng" dirty="0"/>
          </a:p>
          <a:p>
            <a:pPr algn="just"/>
            <a:r>
              <a:rPr lang="cs-CZ" b="1" dirty="0"/>
              <a:t>Intel </a:t>
            </a:r>
            <a:r>
              <a:rPr lang="cs-CZ" b="1" dirty="0" err="1"/>
              <a:t>Corporation</a:t>
            </a:r>
            <a:r>
              <a:rPr lang="cs-CZ" dirty="0"/>
              <a:t> je největší mezinárodní výrobce procesorů a polovodičových součástek se sídlem v kalifornském křemíkovém údolí ve Spojených Státech. Intel založili Robert </a:t>
            </a:r>
            <a:r>
              <a:rPr lang="cs-CZ" dirty="0" err="1"/>
              <a:t>Noyce</a:t>
            </a:r>
            <a:r>
              <a:rPr lang="cs-CZ" dirty="0"/>
              <a:t> a </a:t>
            </a:r>
            <a:r>
              <a:rPr lang="cs-CZ" dirty="0" err="1"/>
              <a:t>Gordon</a:t>
            </a:r>
            <a:r>
              <a:rPr lang="cs-CZ" dirty="0"/>
              <a:t> </a:t>
            </a:r>
            <a:r>
              <a:rPr lang="cs-CZ" dirty="0" err="1"/>
              <a:t>Moore</a:t>
            </a:r>
            <a:r>
              <a:rPr lang="cs-CZ" dirty="0"/>
              <a:t> roku 1968 jako </a:t>
            </a:r>
            <a:r>
              <a:rPr lang="cs-CZ" b="1" dirty="0" err="1"/>
              <a:t>Int</a:t>
            </a:r>
            <a:r>
              <a:rPr lang="cs-CZ" dirty="0" err="1"/>
              <a:t>egrated</a:t>
            </a:r>
            <a:r>
              <a:rPr lang="cs-CZ" dirty="0"/>
              <a:t> </a:t>
            </a:r>
            <a:r>
              <a:rPr lang="cs-CZ" b="1" dirty="0" err="1"/>
              <a:t>El</a:t>
            </a:r>
            <a:r>
              <a:rPr lang="cs-CZ" dirty="0" err="1"/>
              <a:t>ectronics</a:t>
            </a:r>
            <a:r>
              <a:rPr lang="cs-CZ" dirty="0"/>
              <a:t> </a:t>
            </a:r>
            <a:r>
              <a:rPr lang="cs-CZ" dirty="0" err="1"/>
              <a:t>Corporation</a:t>
            </a:r>
            <a:r>
              <a:rPr lang="cs-CZ" dirty="0"/>
              <a:t>. Společnost Intel vyvinula architekturu x86, která se v současné době používá ve většině osobních počítačů. Až do roku 1981 se Intel zaměřoval především na vývoj paměťových čipů SRAM a DRAM, ale souběžně vyvíjel i procesory. Po úspěchu osobních počítačů v 90. letech Intel investoval velké prostředky do jejich vývoje, a stal se tak dominantním dodavatelem pro osobní počítače. V současné době se Intel věnuje především vývoji procesorů řad x86 a x86-64, čipových sad nebo grafických karet.</a:t>
            </a:r>
          </a:p>
          <a:p>
            <a:endParaRPr lang="cs-CZ"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pro obsah 2"/>
          <p:cNvSpPr>
            <a:spLocks noGrp="1"/>
          </p:cNvSpPr>
          <p:nvPr>
            <p:ph idx="1"/>
          </p:nvPr>
        </p:nvSpPr>
        <p:spPr/>
        <p:txBody>
          <a:bodyPr>
            <a:normAutofit fontScale="77500" lnSpcReduction="20000"/>
          </a:bodyPr>
          <a:lstStyle/>
          <a:p>
            <a:pPr>
              <a:buNone/>
            </a:pPr>
            <a:r>
              <a:rPr lang="cs-CZ" b="1" u="sng" dirty="0"/>
              <a:t>AMD</a:t>
            </a:r>
          </a:p>
          <a:p>
            <a:pPr>
              <a:buNone/>
            </a:pPr>
            <a:endParaRPr lang="cs-CZ" b="1" u="sng" dirty="0"/>
          </a:p>
          <a:p>
            <a:pPr algn="just"/>
            <a:r>
              <a:rPr lang="cs-CZ" b="1" dirty="0" err="1"/>
              <a:t>Advanced</a:t>
            </a:r>
            <a:r>
              <a:rPr lang="cs-CZ" b="1" dirty="0"/>
              <a:t> </a:t>
            </a:r>
            <a:r>
              <a:rPr lang="cs-CZ" b="1" dirty="0" err="1"/>
              <a:t>Micro</a:t>
            </a:r>
            <a:r>
              <a:rPr lang="cs-CZ" b="1" dirty="0"/>
              <a:t> </a:t>
            </a:r>
            <a:r>
              <a:rPr lang="cs-CZ" b="1" dirty="0" err="1"/>
              <a:t>Devices</a:t>
            </a:r>
            <a:r>
              <a:rPr lang="cs-CZ" dirty="0"/>
              <a:t> (zkráceně </a:t>
            </a:r>
            <a:r>
              <a:rPr lang="cs-CZ" b="1" dirty="0"/>
              <a:t>AMD</a:t>
            </a:r>
            <a:r>
              <a:rPr lang="cs-CZ" dirty="0"/>
              <a:t>) je mezinárodní výrobce procesorů se sídlem v kalifornském </a:t>
            </a:r>
            <a:r>
              <a:rPr lang="cs-CZ" dirty="0" err="1"/>
              <a:t>Sunnyvale</a:t>
            </a:r>
            <a:r>
              <a:rPr lang="cs-CZ" dirty="0"/>
              <a:t> ve Spojených Státech. V únoru roku 1982 podepsala firma AMD kontrakt se společností Intel a stala se licencovaným výrobcem procesorů řad 8086 a 8088, později i Am286. Později však firma Intel odmítla poskytnout technické specifikace procesoru i386, což vedlo k vleklým soudním sporům, které později AMD vyhrálo. V roce 2006 společnost AMD ohlásila akvizici společnosti ATI Technologies a stala se tak předním světovým výrobcem grafických čipů. Firma AMD se v současné době věnuje hlavně vývoji procesorů (zejména x86 kompatibilních), grafických karet a </a:t>
            </a:r>
            <a:r>
              <a:rPr lang="cs-CZ" dirty="0" err="1"/>
              <a:t>čipsetů</a:t>
            </a:r>
            <a:r>
              <a:rPr lang="cs-CZ" dirty="0"/>
              <a:t>.</a:t>
            </a:r>
          </a:p>
          <a:p>
            <a:endParaRPr lang="cs-CZ" dirty="0"/>
          </a:p>
        </p:txBody>
      </p:sp>
      <p:sp>
        <p:nvSpPr>
          <p:cNvPr id="4" name="Nadpis 1"/>
          <p:cNvSpPr>
            <a:spLocks noGrp="1"/>
          </p:cNvSpPr>
          <p:nvPr>
            <p:ph type="title"/>
          </p:nvPr>
        </p:nvSpPr>
        <p:spPr>
          <a:xfrm>
            <a:off x="179512" y="274638"/>
            <a:ext cx="8964488" cy="706090"/>
          </a:xfrm>
        </p:spPr>
        <p:txBody>
          <a:bodyPr>
            <a:noAutofit/>
          </a:bodyPr>
          <a:lstStyle/>
          <a:p>
            <a:r>
              <a:rPr lang="cs-CZ" sz="3600" b="1" dirty="0"/>
              <a:t>Společnosti zabývající se výrobou procesorů</a:t>
            </a:r>
            <a:endParaRPr lang="cs-CZ"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pro obsah 2"/>
          <p:cNvSpPr>
            <a:spLocks noGrp="1"/>
          </p:cNvSpPr>
          <p:nvPr>
            <p:ph idx="1"/>
          </p:nvPr>
        </p:nvSpPr>
        <p:spPr/>
        <p:txBody>
          <a:bodyPr>
            <a:normAutofit fontScale="85000" lnSpcReduction="10000"/>
          </a:bodyPr>
          <a:lstStyle/>
          <a:p>
            <a:pPr>
              <a:buNone/>
            </a:pPr>
            <a:r>
              <a:rPr lang="cs-CZ" b="1" u="sng" dirty="0"/>
              <a:t>VIA</a:t>
            </a:r>
          </a:p>
          <a:p>
            <a:pPr>
              <a:buNone/>
            </a:pPr>
            <a:endParaRPr lang="cs-CZ" b="1" u="sng" dirty="0"/>
          </a:p>
          <a:p>
            <a:pPr algn="just"/>
            <a:r>
              <a:rPr lang="cs-CZ" b="1" dirty="0"/>
              <a:t>VIA Technologies</a:t>
            </a:r>
            <a:r>
              <a:rPr lang="cs-CZ" dirty="0"/>
              <a:t> je </a:t>
            </a:r>
            <a:r>
              <a:rPr lang="cs-CZ" dirty="0" err="1"/>
              <a:t>tchaj</a:t>
            </a:r>
            <a:r>
              <a:rPr lang="cs-CZ" dirty="0"/>
              <a:t>-</a:t>
            </a:r>
            <a:r>
              <a:rPr lang="cs-CZ" dirty="0" err="1"/>
              <a:t>wanský</a:t>
            </a:r>
            <a:r>
              <a:rPr lang="cs-CZ" dirty="0"/>
              <a:t> výrobce integrovaných obvodů, procesorů, pamětí a největší nezávislý výrobce </a:t>
            </a:r>
            <a:r>
              <a:rPr lang="cs-CZ" dirty="0" err="1"/>
              <a:t>čipsetů</a:t>
            </a:r>
            <a:r>
              <a:rPr lang="cs-CZ" dirty="0"/>
              <a:t> na světě. Společnosti založil v roce 1983 zaměstnanec </a:t>
            </a:r>
            <a:r>
              <a:rPr lang="cs-CZ" dirty="0" err="1"/>
              <a:t>Intelu</a:t>
            </a:r>
            <a:r>
              <a:rPr lang="cs-CZ" dirty="0"/>
              <a:t> Wen </a:t>
            </a:r>
            <a:r>
              <a:rPr lang="cs-CZ" dirty="0" err="1"/>
              <a:t>Chi</a:t>
            </a:r>
            <a:r>
              <a:rPr lang="cs-CZ" dirty="0"/>
              <a:t> </a:t>
            </a:r>
            <a:r>
              <a:rPr lang="cs-CZ" dirty="0" err="1"/>
              <a:t>Chen</a:t>
            </a:r>
            <a:r>
              <a:rPr lang="cs-CZ" dirty="0"/>
              <a:t> a zabývá především integrací čipů na základní desce, snižováním spotřeby a vývojem čipů pro práci se zvukem, obrazem nebo čipů pro optické mechaniky, síťové karty, grafické karty a počítačové periferie. V únoru 2005 firma oslavila výrobu 100 milionů </a:t>
            </a:r>
            <a:r>
              <a:rPr lang="cs-CZ" dirty="0" err="1"/>
              <a:t>čipsetu</a:t>
            </a:r>
            <a:r>
              <a:rPr lang="cs-CZ" dirty="0"/>
              <a:t> VIA AMD.</a:t>
            </a:r>
            <a:endParaRPr lang="cs-CZ" b="1" u="sng" dirty="0"/>
          </a:p>
          <a:p>
            <a:endParaRPr lang="cs-CZ" b="1" dirty="0"/>
          </a:p>
          <a:p>
            <a:endParaRPr lang="cs-CZ" dirty="0"/>
          </a:p>
        </p:txBody>
      </p:sp>
      <p:sp>
        <p:nvSpPr>
          <p:cNvPr id="4" name="Nadpis 1"/>
          <p:cNvSpPr>
            <a:spLocks noGrp="1"/>
          </p:cNvSpPr>
          <p:nvPr>
            <p:ph type="title"/>
          </p:nvPr>
        </p:nvSpPr>
        <p:spPr>
          <a:xfrm>
            <a:off x="179512" y="274638"/>
            <a:ext cx="8964488" cy="706090"/>
          </a:xfrm>
        </p:spPr>
        <p:txBody>
          <a:bodyPr>
            <a:noAutofit/>
          </a:bodyPr>
          <a:lstStyle/>
          <a:p>
            <a:r>
              <a:rPr lang="cs-CZ" sz="3600" b="1" dirty="0"/>
              <a:t>Společnosti zabývající se výrobou procesorů</a:t>
            </a:r>
            <a:endParaRPr lang="cs-CZ"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pro obsah 2"/>
          <p:cNvSpPr>
            <a:spLocks noGrp="1"/>
          </p:cNvSpPr>
          <p:nvPr>
            <p:ph idx="1"/>
          </p:nvPr>
        </p:nvSpPr>
        <p:spPr>
          <a:xfrm>
            <a:off x="251520" y="1600200"/>
            <a:ext cx="8640960" cy="5069160"/>
          </a:xfrm>
        </p:spPr>
        <p:txBody>
          <a:bodyPr>
            <a:normAutofit fontScale="70000" lnSpcReduction="20000"/>
          </a:bodyPr>
          <a:lstStyle/>
          <a:p>
            <a:pPr>
              <a:buNone/>
            </a:pPr>
            <a:r>
              <a:rPr lang="cs-CZ" b="1" u="sng" dirty="0"/>
              <a:t>IBM</a:t>
            </a:r>
          </a:p>
          <a:p>
            <a:pPr>
              <a:buNone/>
            </a:pPr>
            <a:endParaRPr lang="cs-CZ" b="1" u="sng" dirty="0"/>
          </a:p>
          <a:p>
            <a:pPr algn="just"/>
            <a:r>
              <a:rPr lang="cs-CZ" b="1" dirty="0" err="1"/>
              <a:t>International</a:t>
            </a:r>
            <a:r>
              <a:rPr lang="cs-CZ" b="1" dirty="0"/>
              <a:t> Business </a:t>
            </a:r>
            <a:r>
              <a:rPr lang="cs-CZ" b="1" dirty="0" err="1"/>
              <a:t>Machines</a:t>
            </a:r>
            <a:r>
              <a:rPr lang="cs-CZ" b="1" dirty="0"/>
              <a:t> </a:t>
            </a:r>
            <a:r>
              <a:rPr lang="cs-CZ" b="1" dirty="0" err="1"/>
              <a:t>Corporation</a:t>
            </a:r>
            <a:r>
              <a:rPr lang="cs-CZ" b="1" dirty="0"/>
              <a:t> (IBM)</a:t>
            </a:r>
            <a:r>
              <a:rPr lang="cs-CZ" dirty="0"/>
              <a:t> se řadí mezi největší společnosti na světě a mezi její hlavní činnosti patří v současnosti výroba a prodej počítačového hardwaru a softwaru. Společnost má sídlo v New Yorku, USA. Firma vznikla již roku 1880 jako </a:t>
            </a:r>
            <a:r>
              <a:rPr lang="cs-CZ" dirty="0" err="1"/>
              <a:t>Computing</a:t>
            </a:r>
            <a:r>
              <a:rPr lang="cs-CZ" dirty="0"/>
              <a:t>-</a:t>
            </a:r>
            <a:r>
              <a:rPr lang="cs-CZ" dirty="0" err="1"/>
              <a:t>Tabulating</a:t>
            </a:r>
            <a:r>
              <a:rPr lang="cs-CZ" dirty="0"/>
              <a:t>-</a:t>
            </a:r>
            <a:r>
              <a:rPr lang="cs-CZ" dirty="0" err="1"/>
              <a:t>Recording</a:t>
            </a:r>
            <a:r>
              <a:rPr lang="cs-CZ" dirty="0"/>
              <a:t> </a:t>
            </a:r>
            <a:r>
              <a:rPr lang="cs-CZ" dirty="0" err="1"/>
              <a:t>Company</a:t>
            </a:r>
            <a:r>
              <a:rPr lang="cs-CZ" dirty="0"/>
              <a:t> a zabývala se vývojem prostředků ke čtení dat z děrných štítků, zpracování dat, ale například i výrobou kráječů masa, kuchyňských vah nebo minutek. Firma dodávala prostředky ke zpracování velkých objemů dat vládě Spojených Států nebo Třetí říši. IBM v roce 1957 vyvinula jazyk FORTRAN. Počítače IBM také pomáhaly NASA počítat údaje při letech do vesmíru. V roce 1981 začalo IBM prodávat počítač IBM PC, který se stal jedním z nejúspěšnějších počítačů tehdejší doby. V roce 2005 firma IBM odprodala divizi výroby počítačů společnosti </a:t>
            </a:r>
            <a:r>
              <a:rPr lang="cs-CZ" dirty="0" err="1"/>
              <a:t>Lenovo</a:t>
            </a:r>
            <a:r>
              <a:rPr lang="cs-CZ" dirty="0"/>
              <a:t> a zabývá se už pouze výrobou serverů a superpočítačů jako </a:t>
            </a:r>
            <a:r>
              <a:rPr lang="cs-CZ" dirty="0" err="1"/>
              <a:t>Blue</a:t>
            </a:r>
            <a:r>
              <a:rPr lang="cs-CZ" dirty="0"/>
              <a:t> Gene nebo IBM </a:t>
            </a:r>
            <a:r>
              <a:rPr lang="cs-CZ" dirty="0" err="1"/>
              <a:t>Watson</a:t>
            </a:r>
            <a:r>
              <a:rPr lang="cs-CZ" dirty="0"/>
              <a:t>, který dokázal porazit člověka ve hře </a:t>
            </a:r>
            <a:r>
              <a:rPr lang="cs-CZ" dirty="0" err="1"/>
              <a:t>Jeopardy</a:t>
            </a:r>
            <a:r>
              <a:rPr lang="cs-CZ" dirty="0"/>
              <a:t>!</a:t>
            </a:r>
          </a:p>
        </p:txBody>
      </p:sp>
      <p:sp>
        <p:nvSpPr>
          <p:cNvPr id="4" name="Nadpis 1"/>
          <p:cNvSpPr>
            <a:spLocks noGrp="1"/>
          </p:cNvSpPr>
          <p:nvPr>
            <p:ph type="title"/>
          </p:nvPr>
        </p:nvSpPr>
        <p:spPr>
          <a:xfrm>
            <a:off x="179512" y="274638"/>
            <a:ext cx="8964488" cy="706090"/>
          </a:xfrm>
        </p:spPr>
        <p:txBody>
          <a:bodyPr>
            <a:noAutofit/>
          </a:bodyPr>
          <a:lstStyle/>
          <a:p>
            <a:r>
              <a:rPr lang="cs-CZ" sz="3600" b="1" dirty="0"/>
              <a:t>Společnosti zabývající se výrobou procesorů</a:t>
            </a:r>
            <a:endParaRPr lang="cs-CZ"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pro obsah 2"/>
          <p:cNvSpPr>
            <a:spLocks noGrp="1"/>
          </p:cNvSpPr>
          <p:nvPr>
            <p:ph idx="1"/>
          </p:nvPr>
        </p:nvSpPr>
        <p:spPr/>
        <p:txBody>
          <a:bodyPr>
            <a:normAutofit fontScale="77500" lnSpcReduction="20000"/>
          </a:bodyPr>
          <a:lstStyle/>
          <a:p>
            <a:pPr>
              <a:buNone/>
            </a:pPr>
            <a:r>
              <a:rPr lang="cs-CZ" b="1" u="sng" dirty="0"/>
              <a:t>Motorola</a:t>
            </a:r>
          </a:p>
          <a:p>
            <a:endParaRPr lang="cs-CZ" b="1" dirty="0"/>
          </a:p>
          <a:p>
            <a:pPr algn="just"/>
            <a:r>
              <a:rPr lang="cs-CZ" b="1" dirty="0"/>
              <a:t>Motorola, </a:t>
            </a:r>
            <a:r>
              <a:rPr lang="cs-CZ" b="1" dirty="0" err="1"/>
              <a:t>Inc</a:t>
            </a:r>
            <a:r>
              <a:rPr lang="cs-CZ" b="1" dirty="0"/>
              <a:t>.</a:t>
            </a:r>
            <a:r>
              <a:rPr lang="cs-CZ" dirty="0"/>
              <a:t> je americký výrobce mobilních technologií a telefonů. Firma je ale známa i svými procesory. Firma byla založena roku 1928 a zabývala se vývojem elektronických součástek především z oblasti radiové elektroniky. Počínaje rokem 1958 a letem Exploreru 1 do vesmíru se Motorola stala dodavatelem radiové techniky pro většinu letů do vesmíru. V 80. letech byla Motorola významným dodavatelem integrovaných obvodů a mikročipů řad 6800 a 68000, které používaly firmy jako </a:t>
            </a:r>
            <a:r>
              <a:rPr lang="cs-CZ" dirty="0" err="1"/>
              <a:t>Atari</a:t>
            </a:r>
            <a:r>
              <a:rPr lang="cs-CZ" dirty="0"/>
              <a:t> ST, </a:t>
            </a:r>
            <a:r>
              <a:rPr lang="cs-CZ" dirty="0" err="1"/>
              <a:t>Amiga</a:t>
            </a:r>
            <a:r>
              <a:rPr lang="cs-CZ" dirty="0"/>
              <a:t> nebo Apple. Firma vyvinula princip sítě GSM a souvisejících technologií (jako například GPRS ve spolupráci s firmou </a:t>
            </a:r>
            <a:r>
              <a:rPr lang="cs-CZ" dirty="0" err="1"/>
              <a:t>Cisco</a:t>
            </a:r>
            <a:r>
              <a:rPr lang="cs-CZ" dirty="0"/>
              <a:t>)</a:t>
            </a:r>
          </a:p>
        </p:txBody>
      </p:sp>
      <p:sp>
        <p:nvSpPr>
          <p:cNvPr id="4" name="Nadpis 1"/>
          <p:cNvSpPr>
            <a:spLocks noGrp="1"/>
          </p:cNvSpPr>
          <p:nvPr>
            <p:ph type="title"/>
          </p:nvPr>
        </p:nvSpPr>
        <p:spPr>
          <a:xfrm>
            <a:off x="179512" y="274638"/>
            <a:ext cx="8964488" cy="706090"/>
          </a:xfrm>
        </p:spPr>
        <p:txBody>
          <a:bodyPr>
            <a:noAutofit/>
          </a:bodyPr>
          <a:lstStyle/>
          <a:p>
            <a:r>
              <a:rPr lang="cs-CZ" sz="3600" b="1" dirty="0"/>
              <a:t>Společnosti zabývající se výrobou procesorů</a:t>
            </a:r>
            <a:endParaRPr lang="cs-CZ"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b="1" dirty="0"/>
              <a:t>Architektury mikropočítačů a osobních počítačů</a:t>
            </a:r>
            <a:endParaRPr lang="cs-CZ" dirty="0"/>
          </a:p>
        </p:txBody>
      </p:sp>
      <p:sp>
        <p:nvSpPr>
          <p:cNvPr id="3" name="Zástupný symbol pro obsah 2"/>
          <p:cNvSpPr>
            <a:spLocks noGrp="1"/>
          </p:cNvSpPr>
          <p:nvPr>
            <p:ph idx="1"/>
          </p:nvPr>
        </p:nvSpPr>
        <p:spPr/>
        <p:txBody>
          <a:bodyPr>
            <a:normAutofit fontScale="92500"/>
          </a:bodyPr>
          <a:lstStyle/>
          <a:p>
            <a:r>
              <a:rPr lang="cs-CZ" dirty="0"/>
              <a:t>Intel: x86</a:t>
            </a:r>
          </a:p>
          <a:p>
            <a:r>
              <a:rPr lang="cs-CZ" dirty="0"/>
              <a:t>AMD: x86-64</a:t>
            </a:r>
          </a:p>
          <a:p>
            <a:r>
              <a:rPr lang="cs-CZ" dirty="0"/>
              <a:t>Motorola (dnes </a:t>
            </a:r>
            <a:r>
              <a:rPr lang="cs-CZ" dirty="0" err="1"/>
              <a:t>Freescale</a:t>
            </a:r>
            <a:r>
              <a:rPr lang="cs-CZ" dirty="0"/>
              <a:t>): 6800, 6809 a 68000</a:t>
            </a:r>
          </a:p>
          <a:p>
            <a:r>
              <a:rPr lang="cs-CZ" dirty="0"/>
              <a:t>MOS Technology 6502</a:t>
            </a:r>
          </a:p>
          <a:p>
            <a:r>
              <a:rPr lang="cs-CZ" dirty="0" err="1"/>
              <a:t>Zilog</a:t>
            </a:r>
            <a:r>
              <a:rPr lang="cs-CZ" dirty="0"/>
              <a:t> Z80</a:t>
            </a:r>
          </a:p>
          <a:p>
            <a:r>
              <a:rPr lang="cs-CZ" dirty="0"/>
              <a:t>IBM a později AIM </a:t>
            </a:r>
            <a:r>
              <a:rPr lang="cs-CZ" dirty="0" err="1"/>
              <a:t>alliance</a:t>
            </a:r>
            <a:r>
              <a:rPr lang="cs-CZ" dirty="0"/>
              <a:t>: </a:t>
            </a:r>
            <a:r>
              <a:rPr lang="cs-CZ" dirty="0" err="1"/>
              <a:t>PowerPC</a:t>
            </a:r>
            <a:endParaRPr lang="cs-CZ" dirty="0"/>
          </a:p>
          <a:p>
            <a:r>
              <a:rPr lang="cs-CZ" dirty="0"/>
              <a:t>různí výrobci: čipy založené na architektuře ARM - např. procesory TI OMAP</a:t>
            </a:r>
          </a:p>
          <a:p>
            <a:endParaRPr lang="cs-CZ"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0"/>
            <a:ext cx="7776864" cy="836712"/>
          </a:xfrm>
        </p:spPr>
        <p:txBody>
          <a:bodyPr/>
          <a:lstStyle/>
          <a:p>
            <a:r>
              <a:rPr lang="cs-CZ" dirty="0"/>
              <a:t>Firma INTEL</a:t>
            </a:r>
          </a:p>
        </p:txBody>
      </p:sp>
      <p:sp>
        <p:nvSpPr>
          <p:cNvPr id="3" name="Zástupný symbol pro obsah 2"/>
          <p:cNvSpPr>
            <a:spLocks noGrp="1"/>
          </p:cNvSpPr>
          <p:nvPr>
            <p:ph idx="1"/>
          </p:nvPr>
        </p:nvSpPr>
        <p:spPr>
          <a:xfrm>
            <a:off x="179512" y="764704"/>
            <a:ext cx="8964488" cy="6093296"/>
          </a:xfrm>
        </p:spPr>
        <p:txBody>
          <a:bodyPr>
            <a:normAutofit fontScale="32500" lnSpcReduction="20000"/>
          </a:bodyPr>
          <a:lstStyle/>
          <a:p>
            <a:r>
              <a:rPr lang="pl-PL" b="1" dirty="0">
                <a:latin typeface="Times New Roman" pitchFamily="18" charset="0"/>
                <a:cs typeface="Times New Roman" pitchFamily="18" charset="0"/>
              </a:rPr>
              <a:t>Skalární architektura: </a:t>
            </a:r>
          </a:p>
          <a:p>
            <a:pPr lvl="1"/>
            <a:r>
              <a:rPr lang="pl-PL" dirty="0">
                <a:latin typeface="Times New Roman" pitchFamily="18" charset="0"/>
                <a:cs typeface="Times New Roman" pitchFamily="18" charset="0"/>
              </a:rPr>
              <a:t>8088, 8086, 80286, 80386, 80486</a:t>
            </a:r>
          </a:p>
          <a:p>
            <a:r>
              <a:rPr lang="cs-CZ" b="1" dirty="0">
                <a:latin typeface="Times New Roman" pitchFamily="18" charset="0"/>
                <a:cs typeface="Times New Roman" pitchFamily="18" charset="0"/>
              </a:rPr>
              <a:t> </a:t>
            </a:r>
            <a:r>
              <a:rPr lang="cs-CZ" b="1" dirty="0" err="1">
                <a:latin typeface="Times New Roman" pitchFamily="18" charset="0"/>
                <a:cs typeface="Times New Roman" pitchFamily="18" charset="0"/>
              </a:rPr>
              <a:t>Superskalární</a:t>
            </a:r>
            <a:r>
              <a:rPr lang="cs-CZ" b="1" dirty="0">
                <a:latin typeface="Times New Roman" pitchFamily="18" charset="0"/>
                <a:cs typeface="Times New Roman" pitchFamily="18" charset="0"/>
              </a:rPr>
              <a:t> architektura: </a:t>
            </a:r>
          </a:p>
          <a:p>
            <a:pPr lvl="1"/>
            <a:r>
              <a:rPr lang="cs-CZ" dirty="0">
                <a:latin typeface="Times New Roman" pitchFamily="18" charset="0"/>
                <a:cs typeface="Times New Roman" pitchFamily="18" charset="0"/>
              </a:rPr>
              <a:t>Pentium, </a:t>
            </a:r>
            <a:r>
              <a:rPr lang="cs-CZ" dirty="0" err="1">
                <a:latin typeface="Times New Roman" pitchFamily="18" charset="0"/>
                <a:cs typeface="Times New Roman" pitchFamily="18" charset="0"/>
              </a:rPr>
              <a:t>Pentium</a:t>
            </a:r>
            <a:r>
              <a:rPr lang="cs-CZ" dirty="0">
                <a:latin typeface="Times New Roman" pitchFamily="18" charset="0"/>
                <a:cs typeface="Times New Roman" pitchFamily="18" charset="0"/>
              </a:rPr>
              <a:t> Pro, Pentium MMX, Pentium II, Pentium III, </a:t>
            </a:r>
            <a:r>
              <a:rPr lang="cs-CZ" dirty="0" err="1">
                <a:latin typeface="Times New Roman" pitchFamily="18" charset="0"/>
                <a:cs typeface="Times New Roman" pitchFamily="18" charset="0"/>
              </a:rPr>
              <a:t>Celeron</a:t>
            </a:r>
            <a:endParaRPr lang="cs-CZ" dirty="0">
              <a:latin typeface="Times New Roman" pitchFamily="18" charset="0"/>
              <a:cs typeface="Times New Roman" pitchFamily="18" charset="0"/>
            </a:endParaRPr>
          </a:p>
          <a:p>
            <a:r>
              <a:rPr lang="cs-CZ" b="1" dirty="0">
                <a:latin typeface="Times New Roman" pitchFamily="18" charset="0"/>
                <a:cs typeface="Times New Roman" pitchFamily="18" charset="0"/>
              </a:rPr>
              <a:t> </a:t>
            </a:r>
            <a:r>
              <a:rPr lang="cs-CZ" b="1" dirty="0" err="1">
                <a:latin typeface="Times New Roman" pitchFamily="18" charset="0"/>
                <a:cs typeface="Times New Roman" pitchFamily="18" charset="0"/>
              </a:rPr>
              <a:t>NetBurst</a:t>
            </a:r>
            <a:r>
              <a:rPr lang="cs-CZ" b="1" dirty="0">
                <a:latin typeface="Times New Roman" pitchFamily="18" charset="0"/>
                <a:cs typeface="Times New Roman" pitchFamily="18" charset="0"/>
              </a:rPr>
              <a:t> – </a:t>
            </a:r>
            <a:r>
              <a:rPr lang="cs-CZ" b="1" dirty="0" err="1">
                <a:latin typeface="Times New Roman" pitchFamily="18" charset="0"/>
                <a:cs typeface="Times New Roman" pitchFamily="18" charset="0"/>
              </a:rPr>
              <a:t>hyperskalární</a:t>
            </a:r>
            <a:r>
              <a:rPr lang="cs-CZ" b="1" dirty="0">
                <a:latin typeface="Times New Roman" pitchFamily="18" charset="0"/>
                <a:cs typeface="Times New Roman" pitchFamily="18" charset="0"/>
              </a:rPr>
              <a:t> architektura: </a:t>
            </a:r>
          </a:p>
          <a:p>
            <a:pPr lvl="1"/>
            <a:r>
              <a:rPr lang="cs-CZ" dirty="0">
                <a:latin typeface="Times New Roman" pitchFamily="18" charset="0"/>
                <a:cs typeface="Times New Roman" pitchFamily="18" charset="0"/>
              </a:rPr>
              <a:t>Pentium 4, Pentium D, </a:t>
            </a:r>
            <a:r>
              <a:rPr lang="cs-CZ" dirty="0" err="1">
                <a:latin typeface="Times New Roman" pitchFamily="18" charset="0"/>
                <a:cs typeface="Times New Roman" pitchFamily="18" charset="0"/>
              </a:rPr>
              <a:t>Xeon</a:t>
            </a:r>
            <a:r>
              <a:rPr lang="cs-CZ" dirty="0">
                <a:latin typeface="Times New Roman" pitchFamily="18" charset="0"/>
                <a:cs typeface="Times New Roman" pitchFamily="18" charset="0"/>
              </a:rPr>
              <a:t>, </a:t>
            </a:r>
            <a:r>
              <a:rPr lang="cs-CZ" dirty="0" err="1">
                <a:latin typeface="Times New Roman" pitchFamily="18" charset="0"/>
                <a:cs typeface="Times New Roman" pitchFamily="18" charset="0"/>
              </a:rPr>
              <a:t>Celeron</a:t>
            </a:r>
            <a:endParaRPr lang="cs-CZ" dirty="0">
              <a:latin typeface="Times New Roman" pitchFamily="18" charset="0"/>
              <a:cs typeface="Times New Roman" pitchFamily="18" charset="0"/>
            </a:endParaRPr>
          </a:p>
          <a:p>
            <a:r>
              <a:rPr lang="cs-CZ" b="1" dirty="0">
                <a:latin typeface="Times New Roman" pitchFamily="18" charset="0"/>
                <a:cs typeface="Times New Roman" pitchFamily="18" charset="0"/>
              </a:rPr>
              <a:t> </a:t>
            </a:r>
            <a:r>
              <a:rPr lang="cs-CZ" b="1" dirty="0" err="1">
                <a:latin typeface="Times New Roman" pitchFamily="18" charset="0"/>
                <a:cs typeface="Times New Roman" pitchFamily="18" charset="0"/>
              </a:rPr>
              <a:t>Core</a:t>
            </a:r>
            <a:r>
              <a:rPr lang="cs-CZ" b="1" dirty="0">
                <a:latin typeface="Times New Roman" pitchFamily="18" charset="0"/>
                <a:cs typeface="Times New Roman" pitchFamily="18" charset="0"/>
              </a:rPr>
              <a:t>:</a:t>
            </a:r>
          </a:p>
          <a:p>
            <a:pPr lvl="1"/>
            <a:r>
              <a:rPr lang="cs-CZ" dirty="0" err="1">
                <a:latin typeface="Times New Roman" pitchFamily="18" charset="0"/>
                <a:cs typeface="Times New Roman" pitchFamily="18" charset="0"/>
              </a:rPr>
              <a:t>Core</a:t>
            </a:r>
            <a:r>
              <a:rPr lang="cs-CZ" dirty="0">
                <a:latin typeface="Times New Roman" pitchFamily="18" charset="0"/>
                <a:cs typeface="Times New Roman" pitchFamily="18" charset="0"/>
              </a:rPr>
              <a:t> Duo, </a:t>
            </a:r>
            <a:r>
              <a:rPr lang="cs-CZ" dirty="0" err="1">
                <a:latin typeface="Times New Roman" pitchFamily="18" charset="0"/>
                <a:cs typeface="Times New Roman" pitchFamily="18" charset="0"/>
              </a:rPr>
              <a:t>Core</a:t>
            </a:r>
            <a:r>
              <a:rPr lang="cs-CZ" dirty="0">
                <a:latin typeface="Times New Roman" pitchFamily="18" charset="0"/>
                <a:cs typeface="Times New Roman" pitchFamily="18" charset="0"/>
              </a:rPr>
              <a:t> 2 Duo, </a:t>
            </a:r>
            <a:r>
              <a:rPr lang="cs-CZ" dirty="0" err="1">
                <a:latin typeface="Times New Roman" pitchFamily="18" charset="0"/>
                <a:cs typeface="Times New Roman" pitchFamily="18" charset="0"/>
              </a:rPr>
              <a:t>Core</a:t>
            </a:r>
            <a:r>
              <a:rPr lang="cs-CZ" dirty="0">
                <a:latin typeface="Times New Roman" pitchFamily="18" charset="0"/>
                <a:cs typeface="Times New Roman" pitchFamily="18" charset="0"/>
              </a:rPr>
              <a:t> 2 </a:t>
            </a:r>
            <a:r>
              <a:rPr lang="cs-CZ" dirty="0" err="1">
                <a:latin typeface="Times New Roman" pitchFamily="18" charset="0"/>
                <a:cs typeface="Times New Roman" pitchFamily="18" charset="0"/>
              </a:rPr>
              <a:t>Extreme</a:t>
            </a:r>
            <a:r>
              <a:rPr lang="cs-CZ" dirty="0">
                <a:latin typeface="Times New Roman" pitchFamily="18" charset="0"/>
                <a:cs typeface="Times New Roman" pitchFamily="18" charset="0"/>
              </a:rPr>
              <a:t>, </a:t>
            </a:r>
            <a:r>
              <a:rPr lang="cs-CZ" dirty="0" err="1">
                <a:latin typeface="Times New Roman" pitchFamily="18" charset="0"/>
                <a:cs typeface="Times New Roman" pitchFamily="18" charset="0"/>
              </a:rPr>
              <a:t>Core</a:t>
            </a:r>
            <a:r>
              <a:rPr lang="cs-CZ" dirty="0">
                <a:latin typeface="Times New Roman" pitchFamily="18" charset="0"/>
                <a:cs typeface="Times New Roman" pitchFamily="18" charset="0"/>
              </a:rPr>
              <a:t> 2 </a:t>
            </a:r>
            <a:r>
              <a:rPr lang="cs-CZ" dirty="0" err="1">
                <a:latin typeface="Times New Roman" pitchFamily="18" charset="0"/>
                <a:cs typeface="Times New Roman" pitchFamily="18" charset="0"/>
              </a:rPr>
              <a:t>Quard</a:t>
            </a:r>
            <a:r>
              <a:rPr lang="cs-CZ" dirty="0">
                <a:latin typeface="Times New Roman" pitchFamily="18" charset="0"/>
                <a:cs typeface="Times New Roman" pitchFamily="18" charset="0"/>
              </a:rPr>
              <a:t>, </a:t>
            </a:r>
            <a:r>
              <a:rPr lang="cs-CZ" dirty="0" err="1">
                <a:latin typeface="Times New Roman" pitchFamily="18" charset="0"/>
                <a:cs typeface="Times New Roman" pitchFamily="18" charset="0"/>
              </a:rPr>
              <a:t>Celeron</a:t>
            </a:r>
            <a:endParaRPr lang="cs-CZ" dirty="0">
              <a:latin typeface="Times New Roman" pitchFamily="18" charset="0"/>
              <a:cs typeface="Times New Roman" pitchFamily="18" charset="0"/>
            </a:endParaRPr>
          </a:p>
          <a:p>
            <a:r>
              <a:rPr lang="cs-CZ" b="1" dirty="0">
                <a:latin typeface="Times New Roman" pitchFamily="18" charset="0"/>
                <a:cs typeface="Times New Roman" pitchFamily="18" charset="0"/>
              </a:rPr>
              <a:t> Atom:</a:t>
            </a:r>
          </a:p>
          <a:p>
            <a:pPr lvl="1"/>
            <a:r>
              <a:rPr lang="cs-CZ" dirty="0">
                <a:latin typeface="Times New Roman" pitchFamily="18" charset="0"/>
                <a:cs typeface="Times New Roman" pitchFamily="18" charset="0"/>
              </a:rPr>
              <a:t>procesory optimalizované výhradně na co nejnižší spotřebu elektrické energie</a:t>
            </a:r>
          </a:p>
          <a:p>
            <a:r>
              <a:rPr lang="it-IT" b="1" dirty="0">
                <a:latin typeface="Times New Roman" pitchFamily="18" charset="0"/>
                <a:cs typeface="Times New Roman" pitchFamily="18" charset="0"/>
              </a:rPr>
              <a:t> Nehalem</a:t>
            </a:r>
            <a:r>
              <a:rPr lang="cs-CZ" b="1" dirty="0">
                <a:latin typeface="Times New Roman" pitchFamily="18" charset="0"/>
                <a:cs typeface="Times New Roman" pitchFamily="18" charset="0"/>
              </a:rPr>
              <a:t>:</a:t>
            </a:r>
          </a:p>
          <a:p>
            <a:pPr lvl="1"/>
            <a:r>
              <a:rPr lang="it-IT" dirty="0">
                <a:latin typeface="Times New Roman" pitchFamily="18" charset="0"/>
                <a:cs typeface="Times New Roman" pitchFamily="18" charset="0"/>
              </a:rPr>
              <a:t>řada procesorů Core i7, Core i5, Core i3</a:t>
            </a:r>
          </a:p>
          <a:p>
            <a:r>
              <a:rPr lang="it-IT" b="1" dirty="0">
                <a:latin typeface="Times New Roman" pitchFamily="18" charset="0"/>
                <a:cs typeface="Times New Roman" pitchFamily="18" charset="0"/>
              </a:rPr>
              <a:t> Sandy Bridge</a:t>
            </a:r>
            <a:r>
              <a:rPr lang="cs-CZ" b="1" dirty="0">
                <a:latin typeface="Times New Roman" pitchFamily="18" charset="0"/>
                <a:cs typeface="Times New Roman" pitchFamily="18" charset="0"/>
              </a:rPr>
              <a:t>:</a:t>
            </a:r>
            <a:r>
              <a:rPr lang="it-IT" b="1" dirty="0">
                <a:latin typeface="Times New Roman" pitchFamily="18" charset="0"/>
                <a:cs typeface="Times New Roman" pitchFamily="18" charset="0"/>
              </a:rPr>
              <a:t> </a:t>
            </a:r>
            <a:endParaRPr lang="cs-CZ" b="1" dirty="0">
              <a:latin typeface="Times New Roman" pitchFamily="18" charset="0"/>
              <a:cs typeface="Times New Roman" pitchFamily="18" charset="0"/>
            </a:endParaRPr>
          </a:p>
          <a:p>
            <a:pPr lvl="1"/>
            <a:r>
              <a:rPr lang="it-IT" dirty="0">
                <a:latin typeface="Times New Roman" pitchFamily="18" charset="0"/>
                <a:cs typeface="Times New Roman" pitchFamily="18" charset="0"/>
              </a:rPr>
              <a:t>2. generace procesorů řady Core i7, Core i5, Core i3</a:t>
            </a:r>
          </a:p>
          <a:p>
            <a:r>
              <a:rPr lang="it-IT" b="1" dirty="0">
                <a:latin typeface="Times New Roman" pitchFamily="18" charset="0"/>
                <a:cs typeface="Times New Roman" pitchFamily="18" charset="0"/>
              </a:rPr>
              <a:t> Ivy Bridge </a:t>
            </a:r>
            <a:endParaRPr lang="cs-CZ" b="1" dirty="0">
              <a:latin typeface="Times New Roman" pitchFamily="18" charset="0"/>
              <a:cs typeface="Times New Roman" pitchFamily="18" charset="0"/>
            </a:endParaRPr>
          </a:p>
          <a:p>
            <a:pPr lvl="1"/>
            <a:r>
              <a:rPr lang="it-IT" dirty="0">
                <a:latin typeface="Times New Roman" pitchFamily="18" charset="0"/>
                <a:cs typeface="Times New Roman" pitchFamily="18" charset="0"/>
              </a:rPr>
              <a:t>3. generace procesorů řady Core i7, Core i5, Core i3</a:t>
            </a:r>
            <a:endParaRPr lang="cs-CZ" dirty="0">
              <a:latin typeface="Times New Roman" pitchFamily="18" charset="0"/>
              <a:cs typeface="Times New Roman" pitchFamily="18" charset="0"/>
            </a:endParaRPr>
          </a:p>
          <a:p>
            <a:pPr marL="342900" lvl="1" indent="-342900">
              <a:buFont typeface="Arial" pitchFamily="34" charset="0"/>
              <a:buChar char="•"/>
            </a:pPr>
            <a:r>
              <a:rPr lang="cs-CZ" sz="3200" b="1" dirty="0">
                <a:latin typeface="Times New Roman" pitchFamily="18" charset="0"/>
                <a:cs typeface="Times New Roman" pitchFamily="18" charset="0"/>
              </a:rPr>
              <a:t>Haswell  </a:t>
            </a:r>
          </a:p>
          <a:p>
            <a:pPr lvl="1"/>
            <a:r>
              <a:rPr lang="cs-CZ" sz="2900" dirty="0">
                <a:latin typeface="Times New Roman" pitchFamily="18" charset="0"/>
                <a:cs typeface="Times New Roman" pitchFamily="18" charset="0"/>
              </a:rPr>
              <a:t>4</a:t>
            </a:r>
            <a:r>
              <a:rPr lang="it-IT" sz="2900" dirty="0">
                <a:latin typeface="Times New Roman" pitchFamily="18" charset="0"/>
                <a:cs typeface="Times New Roman" pitchFamily="18" charset="0"/>
              </a:rPr>
              <a:t>. generace procesorů řady Core i7, Core i5, Core i3</a:t>
            </a:r>
            <a:endParaRPr lang="cs-CZ" sz="2900" dirty="0">
              <a:latin typeface="Times New Roman" pitchFamily="18" charset="0"/>
              <a:cs typeface="Times New Roman" pitchFamily="18" charset="0"/>
            </a:endParaRPr>
          </a:p>
          <a:p>
            <a:pPr marL="342900" lvl="1" indent="-342900">
              <a:buFont typeface="Arial" pitchFamily="34" charset="0"/>
              <a:buChar char="•"/>
            </a:pPr>
            <a:r>
              <a:rPr lang="cs-CZ" sz="3200" b="1" dirty="0">
                <a:latin typeface="Times New Roman" pitchFamily="18" charset="0"/>
                <a:cs typeface="Times New Roman" pitchFamily="18" charset="0"/>
              </a:rPr>
              <a:t>Haswell </a:t>
            </a:r>
            <a:r>
              <a:rPr lang="cs-CZ" sz="3200" b="1" dirty="0" err="1">
                <a:latin typeface="Times New Roman" pitchFamily="18" charset="0"/>
                <a:cs typeface="Times New Roman" pitchFamily="18" charset="0"/>
              </a:rPr>
              <a:t>refresh</a:t>
            </a:r>
            <a:endParaRPr lang="cs-CZ" sz="3200" b="1" dirty="0">
              <a:latin typeface="Times New Roman" pitchFamily="18" charset="0"/>
              <a:cs typeface="Times New Roman" pitchFamily="18" charset="0"/>
            </a:endParaRPr>
          </a:p>
          <a:p>
            <a:pPr lvl="1"/>
            <a:r>
              <a:rPr lang="cs-CZ" sz="2900" dirty="0">
                <a:latin typeface="Times New Roman" pitchFamily="18" charset="0"/>
                <a:cs typeface="Times New Roman" pitchFamily="18" charset="0"/>
              </a:rPr>
              <a:t>5</a:t>
            </a:r>
            <a:r>
              <a:rPr lang="it-IT" sz="2900" dirty="0">
                <a:latin typeface="Times New Roman" pitchFamily="18" charset="0"/>
                <a:cs typeface="Times New Roman" pitchFamily="18" charset="0"/>
              </a:rPr>
              <a:t>. generace procesorů řady Core i7, Core i5, Core i3</a:t>
            </a:r>
            <a:endParaRPr lang="cs-CZ" sz="2900" dirty="0">
              <a:latin typeface="Times New Roman" pitchFamily="18" charset="0"/>
              <a:cs typeface="Times New Roman" pitchFamily="18" charset="0"/>
            </a:endParaRPr>
          </a:p>
          <a:p>
            <a:pPr marL="342900" lvl="1" indent="-342900">
              <a:buFont typeface="Arial" pitchFamily="34" charset="0"/>
              <a:buChar char="•"/>
            </a:pPr>
            <a:r>
              <a:rPr lang="cs-CZ" sz="3200" b="1" dirty="0">
                <a:latin typeface="Times New Roman" pitchFamily="18" charset="0"/>
                <a:cs typeface="Times New Roman" pitchFamily="18" charset="0"/>
              </a:rPr>
              <a:t>Skylake</a:t>
            </a:r>
          </a:p>
          <a:p>
            <a:pPr lvl="1"/>
            <a:r>
              <a:rPr lang="cs-CZ" sz="3000" dirty="0">
                <a:latin typeface="Times New Roman" pitchFamily="18" charset="0"/>
                <a:cs typeface="Times New Roman" pitchFamily="18" charset="0"/>
              </a:rPr>
              <a:t>6</a:t>
            </a:r>
            <a:r>
              <a:rPr lang="it-IT" sz="3000" dirty="0">
                <a:latin typeface="Times New Roman" pitchFamily="18" charset="0"/>
                <a:cs typeface="Times New Roman" pitchFamily="18" charset="0"/>
              </a:rPr>
              <a:t>. generace procesorů řady Core i7, Core i5, Core i3</a:t>
            </a:r>
            <a:endParaRPr lang="cs-CZ" sz="3000" dirty="0">
              <a:latin typeface="Times New Roman" pitchFamily="18" charset="0"/>
              <a:cs typeface="Times New Roman" pitchFamily="18" charset="0"/>
            </a:endParaRPr>
          </a:p>
          <a:p>
            <a:pPr marL="342900" lvl="1" indent="-342900">
              <a:buFont typeface="Arial" pitchFamily="34" charset="0"/>
              <a:buChar char="•"/>
            </a:pPr>
            <a:r>
              <a:rPr lang="cs-CZ" sz="3200" b="1" dirty="0" err="1">
                <a:latin typeface="Times New Roman" pitchFamily="18" charset="0"/>
                <a:cs typeface="Times New Roman" pitchFamily="18" charset="0"/>
              </a:rPr>
              <a:t>Kabylake</a:t>
            </a:r>
            <a:endParaRPr lang="cs-CZ" sz="3200" b="1" dirty="0">
              <a:latin typeface="Times New Roman" pitchFamily="18" charset="0"/>
              <a:cs typeface="Times New Roman" pitchFamily="18" charset="0"/>
            </a:endParaRPr>
          </a:p>
          <a:p>
            <a:pPr lvl="1"/>
            <a:r>
              <a:rPr lang="cs-CZ" sz="2900" dirty="0">
                <a:latin typeface="Times New Roman" pitchFamily="18" charset="0"/>
                <a:cs typeface="Times New Roman" pitchFamily="18" charset="0"/>
              </a:rPr>
              <a:t>7</a:t>
            </a:r>
            <a:r>
              <a:rPr lang="it-IT" sz="2900" dirty="0">
                <a:latin typeface="Times New Roman" pitchFamily="18" charset="0"/>
                <a:cs typeface="Times New Roman" pitchFamily="18" charset="0"/>
              </a:rPr>
              <a:t>. generace procesorů řady Core i7, Core i5, Core i3</a:t>
            </a:r>
            <a:endParaRPr lang="cs-CZ" sz="2900" dirty="0">
              <a:latin typeface="Times New Roman" pitchFamily="18" charset="0"/>
              <a:cs typeface="Times New Roman" pitchFamily="18" charset="0"/>
            </a:endParaRPr>
          </a:p>
          <a:p>
            <a:pPr marL="342900" lvl="1" indent="-342900">
              <a:buFont typeface="Arial" pitchFamily="34" charset="0"/>
              <a:buChar char="•"/>
            </a:pPr>
            <a:r>
              <a:rPr lang="cs-CZ" sz="3200" b="1" dirty="0">
                <a:latin typeface="Times New Roman" pitchFamily="18" charset="0"/>
                <a:cs typeface="Times New Roman" pitchFamily="18" charset="0"/>
              </a:rPr>
              <a:t>Kaby </a:t>
            </a:r>
            <a:r>
              <a:rPr lang="cs-CZ" sz="3200" b="1" dirty="0" err="1">
                <a:latin typeface="Times New Roman" pitchFamily="18" charset="0"/>
                <a:cs typeface="Times New Roman" pitchFamily="18" charset="0"/>
              </a:rPr>
              <a:t>Lake</a:t>
            </a:r>
            <a:r>
              <a:rPr lang="cs-CZ" sz="3200" b="1" dirty="0">
                <a:latin typeface="Times New Roman" pitchFamily="18" charset="0"/>
                <a:cs typeface="Times New Roman" pitchFamily="18" charset="0"/>
              </a:rPr>
              <a:t>-R (</a:t>
            </a:r>
            <a:r>
              <a:rPr lang="cs-CZ" sz="3200" b="1" dirty="0" err="1">
                <a:latin typeface="Times New Roman" pitchFamily="18" charset="0"/>
                <a:cs typeface="Times New Roman" pitchFamily="18" charset="0"/>
              </a:rPr>
              <a:t>Refresh</a:t>
            </a:r>
            <a:r>
              <a:rPr lang="cs-CZ" sz="3200" b="1" dirty="0">
                <a:latin typeface="Times New Roman" pitchFamily="18" charset="0"/>
                <a:cs typeface="Times New Roman" pitchFamily="18" charset="0"/>
              </a:rPr>
              <a:t>), </a:t>
            </a:r>
            <a:r>
              <a:rPr lang="cs-CZ" sz="3200" b="1" dirty="0" err="1">
                <a:latin typeface="Times New Roman" pitchFamily="18" charset="0"/>
                <a:cs typeface="Times New Roman" pitchFamily="18" charset="0"/>
              </a:rPr>
              <a:t>Coffee</a:t>
            </a:r>
            <a:r>
              <a:rPr lang="cs-CZ" sz="3200" b="1" dirty="0">
                <a:latin typeface="Times New Roman" pitchFamily="18" charset="0"/>
                <a:cs typeface="Times New Roman" pitchFamily="18" charset="0"/>
              </a:rPr>
              <a:t> </a:t>
            </a:r>
            <a:r>
              <a:rPr lang="cs-CZ" sz="3200" b="1" dirty="0" err="1">
                <a:latin typeface="Times New Roman" pitchFamily="18" charset="0"/>
                <a:cs typeface="Times New Roman" pitchFamily="18" charset="0"/>
              </a:rPr>
              <a:t>Lake</a:t>
            </a:r>
            <a:r>
              <a:rPr lang="cs-CZ" sz="3200" b="1" dirty="0">
                <a:latin typeface="Times New Roman" pitchFamily="18" charset="0"/>
                <a:cs typeface="Times New Roman" pitchFamily="18" charset="0"/>
              </a:rPr>
              <a:t> </a:t>
            </a:r>
          </a:p>
          <a:p>
            <a:pPr lvl="1"/>
            <a:r>
              <a:rPr lang="cs-CZ" sz="2500" dirty="0">
                <a:latin typeface="Times New Roman" pitchFamily="18" charset="0"/>
                <a:cs typeface="Times New Roman" pitchFamily="18" charset="0"/>
              </a:rPr>
              <a:t>8</a:t>
            </a:r>
            <a:r>
              <a:rPr lang="it-IT" sz="3000" dirty="0">
                <a:latin typeface="Times New Roman" pitchFamily="18" charset="0"/>
                <a:cs typeface="Times New Roman" pitchFamily="18" charset="0"/>
              </a:rPr>
              <a:t>. generace procesorů řady Core i7, Core i5, </a:t>
            </a:r>
            <a:r>
              <a:rPr lang="cs-CZ" sz="3000" dirty="0" err="1">
                <a:latin typeface="Times New Roman" pitchFamily="18" charset="0"/>
                <a:cs typeface="Times New Roman" pitchFamily="18" charset="0"/>
              </a:rPr>
              <a:t>Core</a:t>
            </a:r>
            <a:r>
              <a:rPr lang="cs-CZ" sz="3000" dirty="0">
                <a:latin typeface="Times New Roman" pitchFamily="18" charset="0"/>
                <a:cs typeface="Times New Roman" pitchFamily="18" charset="0"/>
              </a:rPr>
              <a:t> i9</a:t>
            </a:r>
          </a:p>
          <a:p>
            <a:r>
              <a:rPr lang="cs-CZ" sz="3300" b="1" dirty="0" err="1">
                <a:latin typeface="Times New Roman" pitchFamily="18" charset="0"/>
                <a:cs typeface="Times New Roman" pitchFamily="18" charset="0"/>
              </a:rPr>
              <a:t>Coffee</a:t>
            </a:r>
            <a:r>
              <a:rPr lang="cs-CZ" sz="3300" b="1" dirty="0">
                <a:latin typeface="Times New Roman" pitchFamily="18" charset="0"/>
                <a:cs typeface="Times New Roman" pitchFamily="18" charset="0"/>
              </a:rPr>
              <a:t> </a:t>
            </a:r>
            <a:r>
              <a:rPr lang="cs-CZ" sz="3300" b="1" dirty="0" err="1">
                <a:latin typeface="Times New Roman" pitchFamily="18" charset="0"/>
                <a:cs typeface="Times New Roman" pitchFamily="18" charset="0"/>
              </a:rPr>
              <a:t>Lake</a:t>
            </a:r>
            <a:r>
              <a:rPr lang="cs-CZ" sz="3300" b="1" dirty="0">
                <a:latin typeface="Times New Roman" pitchFamily="18" charset="0"/>
                <a:cs typeface="Times New Roman" pitchFamily="18" charset="0"/>
              </a:rPr>
              <a:t> </a:t>
            </a:r>
            <a:r>
              <a:rPr lang="cs-CZ" sz="3300" b="1" dirty="0" err="1">
                <a:latin typeface="Times New Roman" pitchFamily="18" charset="0"/>
                <a:cs typeface="Times New Roman" pitchFamily="18" charset="0"/>
              </a:rPr>
              <a:t>Refresh</a:t>
            </a:r>
            <a:r>
              <a:rPr lang="cs-CZ" sz="3300" b="1" dirty="0">
                <a:latin typeface="Times New Roman" pitchFamily="18" charset="0"/>
                <a:cs typeface="Times New Roman" pitchFamily="18" charset="0"/>
              </a:rPr>
              <a:t>, </a:t>
            </a:r>
            <a:r>
              <a:rPr lang="cs-CZ" sz="3300" b="1" dirty="0" err="1">
                <a:latin typeface="Times New Roman" pitchFamily="18" charset="0"/>
                <a:cs typeface="Times New Roman" pitchFamily="18" charset="0"/>
              </a:rPr>
              <a:t>Whiskey</a:t>
            </a:r>
            <a:r>
              <a:rPr lang="cs-CZ" sz="3300" b="1" dirty="0">
                <a:latin typeface="Times New Roman" pitchFamily="18" charset="0"/>
                <a:cs typeface="Times New Roman" pitchFamily="18" charset="0"/>
              </a:rPr>
              <a:t> </a:t>
            </a:r>
            <a:r>
              <a:rPr lang="cs-CZ" sz="3300" b="1" dirty="0" err="1">
                <a:latin typeface="Times New Roman" pitchFamily="18" charset="0"/>
                <a:cs typeface="Times New Roman" pitchFamily="18" charset="0"/>
              </a:rPr>
              <a:t>Lake</a:t>
            </a:r>
            <a:endParaRPr lang="cs-CZ" sz="3300" b="1" dirty="0">
              <a:latin typeface="Times New Roman" pitchFamily="18" charset="0"/>
              <a:cs typeface="Times New Roman" pitchFamily="18" charset="0"/>
            </a:endParaRPr>
          </a:p>
          <a:p>
            <a:pPr lvl="1"/>
            <a:r>
              <a:rPr lang="cs-CZ" sz="2900" dirty="0">
                <a:latin typeface="Times New Roman" pitchFamily="18" charset="0"/>
                <a:cs typeface="Times New Roman" pitchFamily="18" charset="0"/>
              </a:rPr>
              <a:t>9. generace procesorů řady </a:t>
            </a:r>
            <a:r>
              <a:rPr lang="it-IT" sz="2900" dirty="0">
                <a:latin typeface="Times New Roman" pitchFamily="18" charset="0"/>
                <a:cs typeface="Times New Roman" pitchFamily="18" charset="0"/>
              </a:rPr>
              <a:t>Core i7, Core i5</a:t>
            </a:r>
            <a:r>
              <a:rPr lang="cs-CZ" sz="2900" dirty="0">
                <a:latin typeface="Times New Roman" pitchFamily="18" charset="0"/>
                <a:cs typeface="Times New Roman" pitchFamily="18" charset="0"/>
              </a:rPr>
              <a:t>,</a:t>
            </a:r>
            <a:r>
              <a:rPr lang="it-IT" sz="2900" dirty="0">
                <a:latin typeface="Times New Roman" pitchFamily="18" charset="0"/>
                <a:cs typeface="Times New Roman" pitchFamily="18" charset="0"/>
              </a:rPr>
              <a:t> Core i9</a:t>
            </a:r>
            <a:endParaRPr lang="cs-CZ" sz="2900" dirty="0">
              <a:latin typeface="Times New Roman" pitchFamily="18" charset="0"/>
              <a:cs typeface="Times New Roman" pitchFamily="18" charset="0"/>
            </a:endParaRPr>
          </a:p>
          <a:p>
            <a:pPr marL="342900" lvl="1" indent="-342900">
              <a:buFont typeface="Arial" pitchFamily="34" charset="0"/>
              <a:buChar char="•"/>
            </a:pPr>
            <a:r>
              <a:rPr lang="cs-CZ" sz="3400" b="1" dirty="0" err="1">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Comet</a:t>
            </a:r>
            <a:r>
              <a:rPr lang="cs-CZ" sz="3400" b="1" dirty="0">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 </a:t>
            </a:r>
            <a:r>
              <a:rPr lang="cs-CZ" sz="3400" b="1" dirty="0" err="1">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Lake</a:t>
            </a:r>
            <a:r>
              <a:rPr lang="cs-CZ" sz="3400" b="1" dirty="0">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 – 10. generace procesorů Intel </a:t>
            </a:r>
            <a:r>
              <a:rPr lang="cs-CZ" sz="3400" b="1" dirty="0" err="1">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Core</a:t>
            </a:r>
            <a:endParaRPr lang="cs-CZ" sz="3400" b="1" dirty="0">
              <a:latin typeface="Times New Roman" pitchFamily="18" charset="0"/>
              <a:cs typeface="Times New Roman" pitchFamily="18" charset="0"/>
            </a:endParaRPr>
          </a:p>
          <a:p>
            <a:pPr marL="342900" lvl="1" indent="-342900">
              <a:buFont typeface="Arial" pitchFamily="34" charset="0"/>
              <a:buChar char="•"/>
            </a:pPr>
            <a:r>
              <a:rPr lang="cs-CZ" sz="3400" b="1" dirty="0" err="1">
                <a:latin typeface="Times New Roman" pitchFamily="18" charset="0"/>
                <a:cs typeface="Times New Roman" pitchFamily="18" charset="0"/>
                <a:hlinkClick r:id="rId3">
                  <a:extLst>
                    <a:ext uri="{A12FA001-AC4F-418D-AE19-62706E023703}">
                      <ahyp:hlinkClr xmlns:ahyp="http://schemas.microsoft.com/office/drawing/2018/hyperlinkcolor" val="tx"/>
                    </a:ext>
                  </a:extLst>
                </a:hlinkClick>
              </a:rPr>
              <a:t>Rocket</a:t>
            </a:r>
            <a:r>
              <a:rPr lang="cs-CZ" sz="3400" b="1" dirty="0">
                <a:latin typeface="Times New Roman" pitchFamily="18" charset="0"/>
                <a:cs typeface="Times New Roman" pitchFamily="18" charset="0"/>
                <a:hlinkClick r:id="rId3">
                  <a:extLst>
                    <a:ext uri="{A12FA001-AC4F-418D-AE19-62706E023703}">
                      <ahyp:hlinkClr xmlns:ahyp="http://schemas.microsoft.com/office/drawing/2018/hyperlinkcolor" val="tx"/>
                    </a:ext>
                  </a:extLst>
                </a:hlinkClick>
              </a:rPr>
              <a:t> </a:t>
            </a:r>
            <a:r>
              <a:rPr lang="cs-CZ" sz="3400" b="1" dirty="0" err="1">
                <a:latin typeface="Times New Roman" pitchFamily="18" charset="0"/>
                <a:cs typeface="Times New Roman" pitchFamily="18" charset="0"/>
                <a:hlinkClick r:id="rId3">
                  <a:extLst>
                    <a:ext uri="{A12FA001-AC4F-418D-AE19-62706E023703}">
                      <ahyp:hlinkClr xmlns:ahyp="http://schemas.microsoft.com/office/drawing/2018/hyperlinkcolor" val="tx"/>
                    </a:ext>
                  </a:extLst>
                </a:hlinkClick>
              </a:rPr>
              <a:t>Lake</a:t>
            </a:r>
            <a:r>
              <a:rPr lang="cs-CZ" sz="3400" b="1" dirty="0">
                <a:latin typeface="Times New Roman" pitchFamily="18" charset="0"/>
                <a:cs typeface="Times New Roman" pitchFamily="18" charset="0"/>
                <a:hlinkClick r:id="rId3">
                  <a:extLst>
                    <a:ext uri="{A12FA001-AC4F-418D-AE19-62706E023703}">
                      <ahyp:hlinkClr xmlns:ahyp="http://schemas.microsoft.com/office/drawing/2018/hyperlinkcolor" val="tx"/>
                    </a:ext>
                  </a:extLst>
                </a:hlinkClick>
              </a:rPr>
              <a:t> – 11. generace procesorů Intel </a:t>
            </a:r>
            <a:r>
              <a:rPr lang="cs-CZ" sz="3400" b="1" dirty="0" err="1">
                <a:latin typeface="Times New Roman" pitchFamily="18" charset="0"/>
                <a:cs typeface="Times New Roman" pitchFamily="18" charset="0"/>
                <a:hlinkClick r:id="rId3">
                  <a:extLst>
                    <a:ext uri="{A12FA001-AC4F-418D-AE19-62706E023703}">
                      <ahyp:hlinkClr xmlns:ahyp="http://schemas.microsoft.com/office/drawing/2018/hyperlinkcolor" val="tx"/>
                    </a:ext>
                  </a:extLst>
                </a:hlinkClick>
              </a:rPr>
              <a:t>Core</a:t>
            </a:r>
            <a:endParaRPr lang="cs-CZ" sz="3400" b="1" dirty="0">
              <a:latin typeface="Times New Roman" pitchFamily="18" charset="0"/>
              <a:cs typeface="Times New Roman" pitchFamily="18" charset="0"/>
            </a:endParaRPr>
          </a:p>
          <a:p>
            <a:pPr marL="342900" lvl="1" indent="-342900">
              <a:buFont typeface="Arial" pitchFamily="34" charset="0"/>
              <a:buChar char="•"/>
            </a:pPr>
            <a:r>
              <a:rPr lang="cs-CZ" sz="3400" b="1" dirty="0" err="1">
                <a:latin typeface="Times New Roman" pitchFamily="18" charset="0"/>
                <a:cs typeface="Times New Roman" pitchFamily="18" charset="0"/>
                <a:hlinkClick r:id="rId4">
                  <a:extLst>
                    <a:ext uri="{A12FA001-AC4F-418D-AE19-62706E023703}">
                      <ahyp:hlinkClr xmlns:ahyp="http://schemas.microsoft.com/office/drawing/2018/hyperlinkcolor" val="tx"/>
                    </a:ext>
                  </a:extLst>
                </a:hlinkClick>
              </a:rPr>
              <a:t>Alder</a:t>
            </a:r>
            <a:r>
              <a:rPr lang="cs-CZ" sz="3400" b="1" dirty="0">
                <a:latin typeface="Times New Roman" pitchFamily="18" charset="0"/>
                <a:cs typeface="Times New Roman" pitchFamily="18" charset="0"/>
                <a:hlinkClick r:id="rId4">
                  <a:extLst>
                    <a:ext uri="{A12FA001-AC4F-418D-AE19-62706E023703}">
                      <ahyp:hlinkClr xmlns:ahyp="http://schemas.microsoft.com/office/drawing/2018/hyperlinkcolor" val="tx"/>
                    </a:ext>
                  </a:extLst>
                </a:hlinkClick>
              </a:rPr>
              <a:t> </a:t>
            </a:r>
            <a:r>
              <a:rPr lang="cs-CZ" sz="3400" b="1" dirty="0" err="1">
                <a:latin typeface="Times New Roman" pitchFamily="18" charset="0"/>
                <a:cs typeface="Times New Roman" pitchFamily="18" charset="0"/>
                <a:hlinkClick r:id="rId4">
                  <a:extLst>
                    <a:ext uri="{A12FA001-AC4F-418D-AE19-62706E023703}">
                      <ahyp:hlinkClr xmlns:ahyp="http://schemas.microsoft.com/office/drawing/2018/hyperlinkcolor" val="tx"/>
                    </a:ext>
                  </a:extLst>
                </a:hlinkClick>
              </a:rPr>
              <a:t>Lake</a:t>
            </a:r>
            <a:r>
              <a:rPr lang="cs-CZ" sz="3400" b="1" dirty="0">
                <a:latin typeface="Times New Roman" pitchFamily="18" charset="0"/>
                <a:cs typeface="Times New Roman" pitchFamily="18" charset="0"/>
                <a:hlinkClick r:id="rId4">
                  <a:extLst>
                    <a:ext uri="{A12FA001-AC4F-418D-AE19-62706E023703}">
                      <ahyp:hlinkClr xmlns:ahyp="http://schemas.microsoft.com/office/drawing/2018/hyperlinkcolor" val="tx"/>
                    </a:ext>
                  </a:extLst>
                </a:hlinkClick>
              </a:rPr>
              <a:t> – 12. generace procesorů Intel </a:t>
            </a:r>
            <a:r>
              <a:rPr lang="cs-CZ" sz="3400" b="1" dirty="0" err="1">
                <a:latin typeface="Times New Roman" pitchFamily="18" charset="0"/>
                <a:cs typeface="Times New Roman" pitchFamily="18" charset="0"/>
                <a:hlinkClick r:id="rId4">
                  <a:extLst>
                    <a:ext uri="{A12FA001-AC4F-418D-AE19-62706E023703}">
                      <ahyp:hlinkClr xmlns:ahyp="http://schemas.microsoft.com/office/drawing/2018/hyperlinkcolor" val="tx"/>
                    </a:ext>
                  </a:extLst>
                </a:hlinkClick>
              </a:rPr>
              <a:t>Core</a:t>
            </a:r>
            <a:endParaRPr lang="cs-CZ" sz="3400" b="1" dirty="0">
              <a:latin typeface="Times New Roman" pitchFamily="18" charset="0"/>
              <a:cs typeface="Times New Roman" pitchFamily="18" charset="0"/>
            </a:endParaRPr>
          </a:p>
          <a:p>
            <a:pPr marL="342900" lvl="1" indent="-342900">
              <a:buFont typeface="Arial" pitchFamily="34" charset="0"/>
              <a:buChar char="•"/>
            </a:pPr>
            <a:r>
              <a:rPr lang="cs-CZ" sz="3400" b="1" u="sng" dirty="0" err="1">
                <a:latin typeface="Times New Roman" pitchFamily="18" charset="0"/>
                <a:cs typeface="Times New Roman" pitchFamily="18" charset="0"/>
              </a:rPr>
              <a:t>Raptor</a:t>
            </a:r>
            <a:r>
              <a:rPr lang="cs-CZ" sz="3400" b="1" u="sng" dirty="0">
                <a:latin typeface="Times New Roman" pitchFamily="18" charset="0"/>
                <a:cs typeface="Times New Roman" pitchFamily="18" charset="0"/>
              </a:rPr>
              <a:t> </a:t>
            </a:r>
            <a:r>
              <a:rPr lang="cs-CZ" sz="3400" b="1" u="sng" dirty="0" err="1">
                <a:latin typeface="Times New Roman" pitchFamily="18" charset="0"/>
                <a:cs typeface="Times New Roman" pitchFamily="18" charset="0"/>
              </a:rPr>
              <a:t>Lake</a:t>
            </a:r>
            <a:r>
              <a:rPr lang="cs-CZ" sz="3400" b="1" u="sng" dirty="0">
                <a:latin typeface="Times New Roman" pitchFamily="18" charset="0"/>
                <a:cs typeface="Times New Roman" pitchFamily="18" charset="0"/>
              </a:rPr>
              <a:t> - </a:t>
            </a:r>
            <a:r>
              <a:rPr lang="cs-CZ" sz="3400" b="1" u="sng" dirty="0">
                <a:latin typeface="Times New Roman" pitchFamily="18" charset="0"/>
                <a:cs typeface="Times New Roman" pitchFamily="18" charset="0"/>
                <a:hlinkClick r:id="rId5">
                  <a:extLst>
                    <a:ext uri="{A12FA001-AC4F-418D-AE19-62706E023703}">
                      <ahyp:hlinkClr xmlns:ahyp="http://schemas.microsoft.com/office/drawing/2018/hyperlinkcolor" val="tx"/>
                    </a:ext>
                  </a:extLst>
                </a:hlinkClick>
              </a:rPr>
              <a:t>13. generace procesorů Intel </a:t>
            </a:r>
            <a:r>
              <a:rPr lang="cs-CZ" sz="3400" b="1" u="sng" dirty="0" err="1">
                <a:latin typeface="Times New Roman" pitchFamily="18" charset="0"/>
                <a:cs typeface="Times New Roman" pitchFamily="18" charset="0"/>
                <a:hlinkClick r:id="rId5">
                  <a:extLst>
                    <a:ext uri="{A12FA001-AC4F-418D-AE19-62706E023703}">
                      <ahyp:hlinkClr xmlns:ahyp="http://schemas.microsoft.com/office/drawing/2018/hyperlinkcolor" val="tx"/>
                    </a:ext>
                  </a:extLst>
                </a:hlinkClick>
              </a:rPr>
              <a:t>Core</a:t>
            </a:r>
            <a:endParaRPr lang="cs-CZ" sz="3400" b="1" u="sng" dirty="0">
              <a:latin typeface="Times New Roman" pitchFamily="18" charset="0"/>
              <a:cs typeface="Times New Roman" pitchFamily="18" charset="0"/>
            </a:endParaRPr>
          </a:p>
          <a:p>
            <a:pPr marL="457200" lvl="1" indent="0">
              <a:buNone/>
            </a:pPr>
            <a:endParaRPr lang="cs-CZ" sz="2900" dirty="0">
              <a:latin typeface="Times New Roman" pitchFamily="18" charset="0"/>
              <a:cs typeface="Times New Roman" pitchFamily="18" charset="0"/>
            </a:endParaRPr>
          </a:p>
          <a:p>
            <a:pPr lvl="1"/>
            <a:endParaRPr lang="cs-CZ" sz="2900" dirty="0">
              <a:latin typeface="Times New Roman" pitchFamily="18" charset="0"/>
              <a:cs typeface="Times New Roman" pitchFamily="18" charset="0"/>
            </a:endParaRPr>
          </a:p>
          <a:p>
            <a:pPr marL="342900" lvl="1" indent="-342900">
              <a:buFont typeface="Arial" pitchFamily="34" charset="0"/>
              <a:buChar char="•"/>
            </a:pPr>
            <a:endParaRPr lang="cs-CZ" sz="3200" b="1" dirty="0">
              <a:latin typeface="Times New Roman" pitchFamily="18" charset="0"/>
              <a:cs typeface="Times New Roman" pitchFamily="18" charset="0"/>
            </a:endParaRPr>
          </a:p>
          <a:p>
            <a:pPr>
              <a:buNone/>
            </a:pPr>
            <a:r>
              <a:rPr lang="cs-CZ" dirty="0">
                <a:latin typeface="Times New Roman" pitchFamily="18" charset="0"/>
                <a:cs typeface="Times New Roman" pitchFamily="18" charset="0"/>
                <a:hlinkClick r:id="rId6"/>
              </a:rPr>
              <a:t>http://cs.wikipedia.org/wiki/Procesory_Intel</a:t>
            </a:r>
            <a:endParaRPr lang="cs-CZ" dirty="0">
              <a:latin typeface="Times New Roman" pitchFamily="18" charset="0"/>
              <a:cs typeface="Times New Roman" pitchFamily="18" charset="0"/>
            </a:endParaRPr>
          </a:p>
          <a:p>
            <a:pPr>
              <a:buNone/>
            </a:pPr>
            <a:r>
              <a:rPr lang="cs-CZ" dirty="0">
                <a:latin typeface="Times New Roman" pitchFamily="18" charset="0"/>
                <a:cs typeface="Times New Roman" pitchFamily="18" charset="0"/>
                <a:hlinkClick r:id="rId7"/>
              </a:rPr>
              <a:t>http://cs.wikipedia.org/wiki/Seznam_mikroprocesor%C5%AF_Intelu</a:t>
            </a:r>
            <a:r>
              <a:rPr lang="cs-CZ" dirty="0">
                <a:latin typeface="Times New Roman" pitchFamily="18" charset="0"/>
                <a:cs typeface="Times New Roman" pitchFamily="18" charset="0"/>
              </a:rPr>
              <a:t> </a:t>
            </a:r>
          </a:p>
          <a:p>
            <a:pPr>
              <a:buNone/>
            </a:pPr>
            <a:endParaRPr lang="cs-CZ" dirty="0">
              <a:latin typeface="Times New Roman" pitchFamily="18" charset="0"/>
              <a:cs typeface="Times New Roman" pitchFamily="18" charset="0"/>
            </a:endParaRPr>
          </a:p>
        </p:txBody>
      </p:sp>
      <p:pic>
        <p:nvPicPr>
          <p:cNvPr id="4" name="Picture 2" descr="http://upload.wikimedia.org/wikipedia/commons/thumb/a/a3/AM486_DX2-80_and_i486_DX2-66.jpg/220px-AM486_DX2-80_and_i486_DX2-66.jpg">
            <a:hlinkClick r:id="rId8"/>
          </p:cNvPr>
          <p:cNvPicPr>
            <a:picLocks noChangeAspect="1" noChangeArrowheads="1"/>
          </p:cNvPicPr>
          <p:nvPr/>
        </p:nvPicPr>
        <p:blipFill>
          <a:blip r:embed="rId9" cstate="print"/>
          <a:srcRect/>
          <a:stretch>
            <a:fillRect/>
          </a:stretch>
        </p:blipFill>
        <p:spPr bwMode="auto">
          <a:xfrm>
            <a:off x="6438900" y="328758"/>
            <a:ext cx="2095500" cy="1095376"/>
          </a:xfrm>
          <a:prstGeom prst="rect">
            <a:avLst/>
          </a:prstGeom>
          <a:noFill/>
        </p:spPr>
      </p:pic>
      <p:pic>
        <p:nvPicPr>
          <p:cNvPr id="5" name="Obrázek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355976" y="5057800"/>
            <a:ext cx="2878823" cy="1511382"/>
          </a:xfrm>
          <a:prstGeom prst="rect">
            <a:avLst/>
          </a:prstGeom>
        </p:spPr>
      </p:pic>
      <p:pic>
        <p:nvPicPr>
          <p:cNvPr id="6" name="Obrázek 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91200" y="3497334"/>
            <a:ext cx="2857500" cy="1600200"/>
          </a:xfrm>
          <a:prstGeom prst="rect">
            <a:avLst/>
          </a:prstGeom>
        </p:spPr>
      </p:pic>
      <p:pic>
        <p:nvPicPr>
          <p:cNvPr id="7" name="Obrázek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76440" y="2636912"/>
            <a:ext cx="2318395" cy="1740613"/>
          </a:xfrm>
          <a:prstGeom prst="rect">
            <a:avLst/>
          </a:prstGeom>
        </p:spPr>
      </p:pic>
      <p:pic>
        <p:nvPicPr>
          <p:cNvPr id="8" name="Obrázek 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565230" y="1613898"/>
            <a:ext cx="1709440" cy="156841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611560" y="0"/>
            <a:ext cx="7283152" cy="778098"/>
          </a:xfrm>
        </p:spPr>
        <p:txBody>
          <a:bodyPr/>
          <a:lstStyle/>
          <a:p>
            <a:r>
              <a:rPr lang="cs-CZ" dirty="0"/>
              <a:t>Firma AMD</a:t>
            </a:r>
          </a:p>
        </p:txBody>
      </p:sp>
      <p:sp>
        <p:nvSpPr>
          <p:cNvPr id="3" name="Zástupný symbol pro obsah 2"/>
          <p:cNvSpPr>
            <a:spLocks noGrp="1"/>
          </p:cNvSpPr>
          <p:nvPr>
            <p:ph idx="1"/>
          </p:nvPr>
        </p:nvSpPr>
        <p:spPr>
          <a:xfrm>
            <a:off x="196255" y="761330"/>
            <a:ext cx="6411788" cy="5832648"/>
          </a:xfrm>
        </p:spPr>
        <p:txBody>
          <a:bodyPr>
            <a:normAutofit fontScale="62500" lnSpcReduction="20000"/>
          </a:bodyPr>
          <a:lstStyle/>
          <a:p>
            <a:r>
              <a:rPr lang="cs-CZ" dirty="0">
                <a:cs typeface="Times New Roman" pitchFamily="18" charset="0"/>
              </a:rPr>
              <a:t>Am286, Am386, Am486</a:t>
            </a:r>
          </a:p>
          <a:p>
            <a:r>
              <a:rPr lang="nn-NO" dirty="0">
                <a:cs typeface="Times New Roman" pitchFamily="18" charset="0"/>
              </a:rPr>
              <a:t>AMD K5, AMD K6, AMD K6-2, K6-III</a:t>
            </a:r>
          </a:p>
          <a:p>
            <a:r>
              <a:rPr lang="cs-CZ" dirty="0">
                <a:cs typeface="Times New Roman" pitchFamily="18" charset="0"/>
              </a:rPr>
              <a:t>AMD K7 </a:t>
            </a:r>
          </a:p>
          <a:p>
            <a:pPr lvl="1"/>
            <a:r>
              <a:rPr lang="cs-CZ" dirty="0" err="1">
                <a:cs typeface="Times New Roman" pitchFamily="18" charset="0"/>
              </a:rPr>
              <a:t>Athlon</a:t>
            </a:r>
            <a:r>
              <a:rPr lang="cs-CZ" dirty="0">
                <a:cs typeface="Times New Roman" pitchFamily="18" charset="0"/>
              </a:rPr>
              <a:t>, </a:t>
            </a:r>
            <a:r>
              <a:rPr lang="cs-CZ" dirty="0" err="1">
                <a:cs typeface="Times New Roman" pitchFamily="18" charset="0"/>
              </a:rPr>
              <a:t>Athlon</a:t>
            </a:r>
            <a:r>
              <a:rPr lang="cs-CZ" dirty="0">
                <a:cs typeface="Times New Roman" pitchFamily="18" charset="0"/>
              </a:rPr>
              <a:t> XP, </a:t>
            </a:r>
            <a:r>
              <a:rPr lang="cs-CZ" dirty="0" err="1">
                <a:cs typeface="Times New Roman" pitchFamily="18" charset="0"/>
              </a:rPr>
              <a:t>Athlon</a:t>
            </a:r>
            <a:r>
              <a:rPr lang="cs-CZ" dirty="0">
                <a:cs typeface="Times New Roman" pitchFamily="18" charset="0"/>
              </a:rPr>
              <a:t> MP + odlehčené verze </a:t>
            </a:r>
            <a:r>
              <a:rPr lang="cs-CZ" dirty="0" err="1">
                <a:cs typeface="Times New Roman" pitchFamily="18" charset="0"/>
              </a:rPr>
              <a:t>Duron</a:t>
            </a:r>
            <a:r>
              <a:rPr lang="cs-CZ" dirty="0">
                <a:cs typeface="Times New Roman" pitchFamily="18" charset="0"/>
              </a:rPr>
              <a:t>, </a:t>
            </a:r>
            <a:r>
              <a:rPr lang="cs-CZ" dirty="0" err="1">
                <a:cs typeface="Times New Roman" pitchFamily="18" charset="0"/>
              </a:rPr>
              <a:t>Sempron</a:t>
            </a:r>
            <a:endParaRPr lang="cs-CZ" dirty="0">
              <a:cs typeface="Times New Roman" pitchFamily="18" charset="0"/>
            </a:endParaRPr>
          </a:p>
          <a:p>
            <a:r>
              <a:rPr lang="cs-CZ" dirty="0">
                <a:cs typeface="Times New Roman" pitchFamily="18" charset="0"/>
              </a:rPr>
              <a:t>AMD K8 </a:t>
            </a:r>
          </a:p>
          <a:p>
            <a:pPr lvl="1"/>
            <a:r>
              <a:rPr lang="cs-CZ" dirty="0" err="1">
                <a:cs typeface="Times New Roman" pitchFamily="18" charset="0"/>
              </a:rPr>
              <a:t>Athlon</a:t>
            </a:r>
            <a:r>
              <a:rPr lang="cs-CZ" dirty="0">
                <a:cs typeface="Times New Roman" pitchFamily="18" charset="0"/>
              </a:rPr>
              <a:t> 64, </a:t>
            </a:r>
            <a:r>
              <a:rPr lang="cs-CZ" dirty="0" err="1">
                <a:cs typeface="Times New Roman" pitchFamily="18" charset="0"/>
              </a:rPr>
              <a:t>Athlon</a:t>
            </a:r>
            <a:r>
              <a:rPr lang="cs-CZ" dirty="0">
                <a:cs typeface="Times New Roman" pitchFamily="18" charset="0"/>
              </a:rPr>
              <a:t> 64 X2, </a:t>
            </a:r>
            <a:r>
              <a:rPr lang="cs-CZ" dirty="0" err="1">
                <a:cs typeface="Times New Roman" pitchFamily="18" charset="0"/>
              </a:rPr>
              <a:t>Turion</a:t>
            </a:r>
            <a:r>
              <a:rPr lang="cs-CZ" dirty="0">
                <a:cs typeface="Times New Roman" pitchFamily="18" charset="0"/>
              </a:rPr>
              <a:t> 64, </a:t>
            </a:r>
            <a:r>
              <a:rPr lang="cs-CZ" dirty="0" err="1">
                <a:cs typeface="Times New Roman" pitchFamily="18" charset="0"/>
              </a:rPr>
              <a:t>Turion</a:t>
            </a:r>
            <a:r>
              <a:rPr lang="cs-CZ" dirty="0">
                <a:cs typeface="Times New Roman" pitchFamily="18" charset="0"/>
              </a:rPr>
              <a:t> 64 X2, </a:t>
            </a:r>
            <a:r>
              <a:rPr lang="cs-CZ" dirty="0" err="1">
                <a:cs typeface="Times New Roman" pitchFamily="18" charset="0"/>
              </a:rPr>
              <a:t>Sempron</a:t>
            </a:r>
            <a:endParaRPr lang="cs-CZ" dirty="0">
              <a:cs typeface="Times New Roman" pitchFamily="18" charset="0"/>
            </a:endParaRPr>
          </a:p>
          <a:p>
            <a:r>
              <a:rPr lang="cs-CZ" dirty="0">
                <a:cs typeface="Times New Roman" pitchFamily="18" charset="0"/>
              </a:rPr>
              <a:t>AMD K10 </a:t>
            </a:r>
          </a:p>
          <a:p>
            <a:pPr lvl="1"/>
            <a:r>
              <a:rPr lang="cs-CZ" dirty="0">
                <a:cs typeface="Times New Roman" pitchFamily="18" charset="0"/>
              </a:rPr>
              <a:t>4-jádrové procesory </a:t>
            </a:r>
            <a:r>
              <a:rPr lang="cs-CZ" dirty="0" err="1">
                <a:cs typeface="Times New Roman" pitchFamily="18" charset="0"/>
              </a:rPr>
              <a:t>Phenom</a:t>
            </a:r>
            <a:r>
              <a:rPr lang="cs-CZ" dirty="0">
                <a:cs typeface="Times New Roman" pitchFamily="18" charset="0"/>
              </a:rPr>
              <a:t>, </a:t>
            </a:r>
            <a:r>
              <a:rPr lang="cs-CZ" dirty="0" err="1">
                <a:cs typeface="Times New Roman" pitchFamily="18" charset="0"/>
              </a:rPr>
              <a:t>Opteron</a:t>
            </a:r>
            <a:endParaRPr lang="cs-CZ" dirty="0">
              <a:cs typeface="Times New Roman" pitchFamily="18" charset="0"/>
            </a:endParaRPr>
          </a:p>
          <a:p>
            <a:r>
              <a:rPr lang="cs-CZ" dirty="0">
                <a:cs typeface="Times New Roman" pitchFamily="18" charset="0"/>
              </a:rPr>
              <a:t>AMD K11 </a:t>
            </a:r>
          </a:p>
          <a:p>
            <a:pPr lvl="1"/>
            <a:r>
              <a:rPr lang="cs-CZ" dirty="0">
                <a:cs typeface="Times New Roman" pitchFamily="18" charset="0"/>
              </a:rPr>
              <a:t>architektura </a:t>
            </a:r>
            <a:r>
              <a:rPr lang="cs-CZ" dirty="0" err="1">
                <a:cs typeface="Times New Roman" pitchFamily="18" charset="0"/>
              </a:rPr>
              <a:t>vícejádrových</a:t>
            </a:r>
            <a:r>
              <a:rPr lang="cs-CZ" dirty="0">
                <a:cs typeface="Times New Roman" pitchFamily="18" charset="0"/>
              </a:rPr>
              <a:t> CPU s označením „</a:t>
            </a:r>
            <a:r>
              <a:rPr lang="cs-CZ" b="1" u="sng" dirty="0" err="1">
                <a:cs typeface="Times New Roman" pitchFamily="18" charset="0"/>
              </a:rPr>
              <a:t>Bulldozer</a:t>
            </a:r>
            <a:r>
              <a:rPr lang="cs-CZ" dirty="0">
                <a:cs typeface="Times New Roman" pitchFamily="18" charset="0"/>
              </a:rPr>
              <a:t>“</a:t>
            </a:r>
          </a:p>
          <a:p>
            <a:r>
              <a:rPr lang="cs-CZ" dirty="0"/>
              <a:t>AMD </a:t>
            </a:r>
            <a:r>
              <a:rPr lang="cs-CZ" dirty="0" err="1"/>
              <a:t>Piledriver</a:t>
            </a:r>
            <a:r>
              <a:rPr lang="cs-CZ" dirty="0"/>
              <a:t>, CPU Trinity, </a:t>
            </a:r>
            <a:r>
              <a:rPr lang="cs-CZ" b="1" dirty="0"/>
              <a:t>Zambezi, </a:t>
            </a:r>
            <a:r>
              <a:rPr lang="cs-CZ" b="1" dirty="0" err="1"/>
              <a:t>Vishera</a:t>
            </a:r>
            <a:r>
              <a:rPr lang="cs-CZ" b="1" dirty="0"/>
              <a:t>, </a:t>
            </a:r>
            <a:r>
              <a:rPr lang="cs-CZ" b="1" dirty="0" err="1"/>
              <a:t>Richland</a:t>
            </a:r>
            <a:r>
              <a:rPr lang="cs-CZ" b="1" dirty="0"/>
              <a:t>, </a:t>
            </a:r>
            <a:r>
              <a:rPr lang="cs-CZ" b="1" dirty="0" err="1"/>
              <a:t>Kaveri</a:t>
            </a:r>
            <a:r>
              <a:rPr lang="cs-CZ" b="1" dirty="0"/>
              <a:t>, </a:t>
            </a:r>
            <a:r>
              <a:rPr lang="cs-CZ" b="1" u="sng" dirty="0"/>
              <a:t>AMD </a:t>
            </a:r>
            <a:r>
              <a:rPr lang="cs-CZ" b="1" u="sng" dirty="0" err="1"/>
              <a:t>Ryzen</a:t>
            </a:r>
            <a:r>
              <a:rPr lang="cs-CZ" b="1" u="sng" dirty="0"/>
              <a:t> </a:t>
            </a:r>
            <a:r>
              <a:rPr lang="cs-CZ" b="1" dirty="0" err="1"/>
              <a:t>Threadripper</a:t>
            </a:r>
            <a:endParaRPr lang="cs-CZ" b="1" dirty="0"/>
          </a:p>
          <a:p>
            <a:r>
              <a:rPr lang="cs-CZ" b="1" dirty="0" err="1">
                <a:cs typeface="Times New Roman" pitchFamily="18" charset="0"/>
              </a:rPr>
              <a:t>Epyc</a:t>
            </a:r>
            <a:r>
              <a:rPr lang="cs-CZ" b="1" dirty="0">
                <a:cs typeface="Times New Roman" pitchFamily="18" charset="0"/>
              </a:rPr>
              <a:t> – </a:t>
            </a:r>
            <a:r>
              <a:rPr lang="cs-CZ" dirty="0">
                <a:cs typeface="Times New Roman" pitchFamily="18" charset="0"/>
              </a:rPr>
              <a:t>až 64 jader (128 vláken, podpora až 4TB paměti)</a:t>
            </a:r>
          </a:p>
          <a:p>
            <a:r>
              <a:rPr lang="cs-CZ" sz="3000" dirty="0">
                <a:cs typeface="Times New Roman" pitchFamily="18" charset="0"/>
                <a:hlinkClick r:id="rId2"/>
              </a:rPr>
              <a:t>http://cs.wikipedia.org/wiki/Procesory_spole%C4%8Dnosti_AMD</a:t>
            </a:r>
            <a:r>
              <a:rPr lang="cs-CZ" sz="3000" dirty="0">
                <a:cs typeface="Times New Roman" pitchFamily="18" charset="0"/>
              </a:rPr>
              <a:t> </a:t>
            </a:r>
          </a:p>
          <a:p>
            <a:r>
              <a:rPr lang="cs-CZ" sz="3000" dirty="0">
                <a:cs typeface="Times New Roman" pitchFamily="18" charset="0"/>
                <a:hlinkClick r:id="rId3"/>
              </a:rPr>
              <a:t>https://www.svethardware.cz/prehled-desktopovych-procesoru/22566-12</a:t>
            </a:r>
            <a:r>
              <a:rPr lang="cs-CZ" sz="3000" dirty="0">
                <a:cs typeface="Times New Roman" pitchFamily="18" charset="0"/>
              </a:rPr>
              <a:t> </a:t>
            </a:r>
          </a:p>
        </p:txBody>
      </p:sp>
      <p:pic>
        <p:nvPicPr>
          <p:cNvPr id="1026" name="Picture 2" descr="http://upload.wikimedia.org/wikipedia/commons/thumb/a/a3/AM486_DX2-80_and_i486_DX2-66.jpg/220px-AM486_DX2-80_and_i486_DX2-66.jpg">
            <a:hlinkClick r:id="rId4"/>
          </p:cNvPr>
          <p:cNvPicPr>
            <a:picLocks noChangeAspect="1" noChangeArrowheads="1"/>
          </p:cNvPicPr>
          <p:nvPr/>
        </p:nvPicPr>
        <p:blipFill>
          <a:blip r:embed="rId5" cstate="print"/>
          <a:srcRect/>
          <a:stretch>
            <a:fillRect/>
          </a:stretch>
        </p:blipFill>
        <p:spPr bwMode="auto">
          <a:xfrm>
            <a:off x="6692602" y="330323"/>
            <a:ext cx="2095500" cy="1095376"/>
          </a:xfrm>
          <a:prstGeom prst="rect">
            <a:avLst/>
          </a:prstGeom>
          <a:noFill/>
        </p:spPr>
      </p:pic>
      <p:pic>
        <p:nvPicPr>
          <p:cNvPr id="4" name="Obrázek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19550" y="1489150"/>
            <a:ext cx="1296966" cy="1291778"/>
          </a:xfrm>
          <a:prstGeom prst="rect">
            <a:avLst/>
          </a:prstGeom>
        </p:spPr>
      </p:pic>
      <p:pic>
        <p:nvPicPr>
          <p:cNvPr id="5" name="Obrázek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22020" y="1601489"/>
            <a:ext cx="1133624" cy="1133624"/>
          </a:xfrm>
          <a:prstGeom prst="rect">
            <a:avLst/>
          </a:prstGeom>
        </p:spPr>
      </p:pic>
      <p:pic>
        <p:nvPicPr>
          <p:cNvPr id="6" name="Obrázek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16216" y="2934938"/>
            <a:ext cx="2448272" cy="1836204"/>
          </a:xfrm>
          <a:prstGeom prst="rect">
            <a:avLst/>
          </a:prstGeom>
        </p:spPr>
      </p:pic>
      <p:pic>
        <p:nvPicPr>
          <p:cNvPr id="7" name="Picture 2" descr="Výsledek obrázku pro Epyc cpu">
            <a:hlinkClick r:id="rId9"/>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16215" y="5142921"/>
            <a:ext cx="2455183" cy="13824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Zdroje</a:t>
            </a:r>
          </a:p>
        </p:txBody>
      </p:sp>
      <p:sp>
        <p:nvSpPr>
          <p:cNvPr id="3" name="Zástupný symbol pro obsah 2"/>
          <p:cNvSpPr>
            <a:spLocks noGrp="1"/>
          </p:cNvSpPr>
          <p:nvPr>
            <p:ph idx="1"/>
          </p:nvPr>
        </p:nvSpPr>
        <p:spPr>
          <a:xfrm>
            <a:off x="251520" y="1600200"/>
            <a:ext cx="8712968" cy="4525963"/>
          </a:xfrm>
        </p:spPr>
        <p:txBody>
          <a:bodyPr>
            <a:normAutofit/>
          </a:bodyPr>
          <a:lstStyle/>
          <a:p>
            <a:r>
              <a:rPr lang="cs-CZ" sz="2800" dirty="0"/>
              <a:t>http://cs.wikipedia.org/wiki/Procesor</a:t>
            </a:r>
          </a:p>
          <a:p>
            <a:r>
              <a:rPr lang="cs-CZ" sz="2800" dirty="0"/>
              <a:t>http://www.</a:t>
            </a:r>
            <a:r>
              <a:rPr lang="cs-CZ" sz="2800" dirty="0" err="1"/>
              <a:t>zive.cz</a:t>
            </a:r>
            <a:r>
              <a:rPr lang="cs-CZ" sz="2800" dirty="0"/>
              <a:t>/</a:t>
            </a:r>
            <a:r>
              <a:rPr lang="cs-CZ" sz="2800" dirty="0" err="1"/>
              <a:t>clanky</a:t>
            </a:r>
            <a:r>
              <a:rPr lang="cs-CZ" sz="2800" dirty="0"/>
              <a:t>/</a:t>
            </a:r>
            <a:r>
              <a:rPr lang="cs-CZ" sz="2800" dirty="0" err="1"/>
              <a:t>nejdulezitejsi</a:t>
            </a:r>
            <a:r>
              <a:rPr lang="cs-CZ" sz="2800" dirty="0"/>
              <a:t>-procesory-historie/</a:t>
            </a:r>
            <a:r>
              <a:rPr lang="cs-CZ" sz="2800" dirty="0" err="1"/>
              <a:t>sc</a:t>
            </a:r>
            <a:r>
              <a:rPr lang="cs-CZ" sz="2800" dirty="0"/>
              <a:t>-3-a-164704/default.</a:t>
            </a:r>
            <a:r>
              <a:rPr lang="cs-CZ" sz="2800" dirty="0" err="1"/>
              <a:t>aspx</a:t>
            </a:r>
            <a:endParaRPr lang="cs-CZ" sz="2800" dirty="0"/>
          </a:p>
          <a:p>
            <a:r>
              <a:rPr lang="cs-CZ" sz="2800" dirty="0"/>
              <a:t>http://uvt.xf.cz/pages/procesory_historie.html</a:t>
            </a:r>
          </a:p>
          <a:p>
            <a:r>
              <a:rPr lang="cs-CZ" sz="2800" dirty="0"/>
              <a:t>http://www.fish15.estranky.cz</a:t>
            </a:r>
          </a:p>
          <a:p>
            <a:r>
              <a:rPr lang="cs-CZ" sz="2800" dirty="0"/>
              <a:t>http://www.</a:t>
            </a:r>
            <a:r>
              <a:rPr lang="cs-CZ" sz="2800" dirty="0" err="1"/>
              <a:t>general</a:t>
            </a:r>
            <a:r>
              <a:rPr lang="cs-CZ" sz="2800" dirty="0"/>
              <a:t>-</a:t>
            </a:r>
            <a:r>
              <a:rPr lang="cs-CZ" sz="2800" dirty="0" err="1"/>
              <a:t>files.org</a:t>
            </a:r>
            <a:r>
              <a:rPr lang="cs-CZ" sz="2800" dirty="0"/>
              <a:t>/</a:t>
            </a:r>
            <a:r>
              <a:rPr lang="cs-CZ" sz="2800" dirty="0" err="1"/>
              <a:t>download</a:t>
            </a:r>
            <a:r>
              <a:rPr lang="cs-CZ" sz="2800" dirty="0"/>
              <a:t>/gs5f0ec46ah32i0/cast1_09_arch_cpu.</a:t>
            </a:r>
            <a:r>
              <a:rPr lang="cs-CZ" sz="2800" dirty="0" err="1"/>
              <a:t>pdf.html</a:t>
            </a:r>
            <a:endParaRPr lang="cs-CZ" sz="2800" dirty="0"/>
          </a:p>
          <a:p>
            <a:pPr>
              <a:buNone/>
            </a:pPr>
            <a:endParaRPr lang="cs-CZ" dirty="0"/>
          </a:p>
          <a:p>
            <a:pPr>
              <a:buNone/>
            </a:pPr>
            <a:endParaRPr lang="cs-CZ" dirty="0"/>
          </a:p>
          <a:p>
            <a:endParaRPr lang="cs-CZ" dirty="0"/>
          </a:p>
        </p:txBody>
      </p:sp>
    </p:spTree>
  </p:cSld>
  <p:clrMapOvr>
    <a:masterClrMapping/>
  </p:clrMapOvr>
</p:sld>
</file>

<file path=ppt/theme/theme1.xml><?xml version="1.0" encoding="utf-8"?>
<a:theme xmlns:a="http://schemas.openxmlformats.org/drawingml/2006/main" name="Motiv systému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ECC769D3FE67154E81769CA49A6E1578" ma:contentTypeVersion="0" ma:contentTypeDescription="Vytvoří nový dokument" ma:contentTypeScope="" ma:versionID="3c7ae713f0a7ba01a532cf72482db45e">
  <xsd:schema xmlns:xsd="http://www.w3.org/2001/XMLSchema" xmlns:xs="http://www.w3.org/2001/XMLSchema" xmlns:p="http://schemas.microsoft.com/office/2006/metadata/properties" targetNamespace="http://schemas.microsoft.com/office/2006/metadata/properties" ma:root="true" ma:fieldsID="871d6b51c5141eb32e0d04e037372b3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479BFF-BC3B-4711-929C-6016EAC8520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33AC49E-9919-46E0-9847-52A2214ECBFC}">
  <ds:schemaRefs>
    <ds:schemaRef ds:uri="http://schemas.microsoft.com/sharepoint/v3/contenttype/forms"/>
  </ds:schemaRefs>
</ds:datastoreItem>
</file>

<file path=customXml/itemProps3.xml><?xml version="1.0" encoding="utf-8"?>
<ds:datastoreItem xmlns:ds="http://schemas.openxmlformats.org/officeDocument/2006/customXml" ds:itemID="{C105FE86-228C-4A15-921B-88D89FECC07B}"/>
</file>

<file path=docProps/app.xml><?xml version="1.0" encoding="utf-8"?>
<Properties xmlns="http://schemas.openxmlformats.org/officeDocument/2006/extended-properties" xmlns:vt="http://schemas.openxmlformats.org/officeDocument/2006/docPropsVTypes">
  <TotalTime>551</TotalTime>
  <Words>3026</Words>
  <Application>Microsoft Office PowerPoint</Application>
  <PresentationFormat>Předvádění na obrazovce (4:3)</PresentationFormat>
  <Paragraphs>202</Paragraphs>
  <Slides>30</Slides>
  <Notes>0</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30</vt:i4>
      </vt:variant>
    </vt:vector>
  </HeadingPairs>
  <TitlesOfParts>
    <vt:vector size="34" baseType="lpstr">
      <vt:lpstr>Arial</vt:lpstr>
      <vt:lpstr>Calibri</vt:lpstr>
      <vt:lpstr>Times New Roman</vt:lpstr>
      <vt:lpstr>Motiv systému Office</vt:lpstr>
      <vt:lpstr>Procesory</vt:lpstr>
      <vt:lpstr>Procesor</vt:lpstr>
      <vt:lpstr>Části procesoru</vt:lpstr>
      <vt:lpstr>Části procesoru</vt:lpstr>
      <vt:lpstr>Části procesoru</vt:lpstr>
      <vt:lpstr>Části procesoru</vt:lpstr>
      <vt:lpstr>Části procesoru</vt:lpstr>
      <vt:lpstr>Charakteristiky procesoru</vt:lpstr>
      <vt:lpstr>Charakteristiky procesoru</vt:lpstr>
      <vt:lpstr>Charakteristiky procesoru</vt:lpstr>
      <vt:lpstr>Charakteristiky procesoru</vt:lpstr>
      <vt:lpstr>Typy procesorů</vt:lpstr>
      <vt:lpstr>MCU (Micro Controller Unit)</vt:lpstr>
      <vt:lpstr>CPU (Central Processor Unit)</vt:lpstr>
      <vt:lpstr>DSP (Digital Signal Processor)</vt:lpstr>
      <vt:lpstr>Dělení podle velikosti instrukční sady</vt:lpstr>
      <vt:lpstr>Dělení podle velikosti instrukční sady</vt:lpstr>
      <vt:lpstr>Dělení podle velikosti instrukční sady</vt:lpstr>
      <vt:lpstr>Historie mikroprocesorů</vt:lpstr>
      <vt:lpstr>Historie mikroprocesorů</vt:lpstr>
      <vt:lpstr>Historie mikroprocesorů</vt:lpstr>
      <vt:lpstr>Společnosti zabývající se výrobou procesorů</vt:lpstr>
      <vt:lpstr>Společnosti zabývající se výrobou procesorů</vt:lpstr>
      <vt:lpstr>Společnosti zabývající se výrobou procesorů</vt:lpstr>
      <vt:lpstr>Společnosti zabývající se výrobou procesorů</vt:lpstr>
      <vt:lpstr>Společnosti zabývající se výrobou procesorů</vt:lpstr>
      <vt:lpstr>Architektury mikropočítačů a osobních počítačů</vt:lpstr>
      <vt:lpstr>Firma INTEL</vt:lpstr>
      <vt:lpstr>Firma AMD</vt:lpstr>
      <vt:lpstr>Zdroje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Procesory</dc:title>
  <dc:creator>P101</dc:creator>
  <cp:lastModifiedBy>Pavel Halouzka</cp:lastModifiedBy>
  <cp:revision>55</cp:revision>
  <dcterms:created xsi:type="dcterms:W3CDTF">2013-10-22T08:46:51Z</dcterms:created>
  <dcterms:modified xsi:type="dcterms:W3CDTF">2022-12-13T07:01:26Z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0x010100ECC769D3FE67154E81769CA49A6E1578</vt:lpwstr>
  </property>
</Properties>
</file>