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262626"/>
    <a:srgbClr val="8BCB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B2CA-FE58-4BF5-9411-CB2F6E270DCB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EC7A-45D3-4122-9C44-9DE386C66E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09484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B2CA-FE58-4BF5-9411-CB2F6E270DCB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EC7A-45D3-4122-9C44-9DE386C66E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16452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B2CA-FE58-4BF5-9411-CB2F6E270DCB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EC7A-45D3-4122-9C44-9DE386C66E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30826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B2CA-FE58-4BF5-9411-CB2F6E270DCB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EC7A-45D3-4122-9C44-9DE386C66E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4209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B2CA-FE58-4BF5-9411-CB2F6E270DCB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EC7A-45D3-4122-9C44-9DE386C66E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40010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B2CA-FE58-4BF5-9411-CB2F6E270DCB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EC7A-45D3-4122-9C44-9DE386C66E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10429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B2CA-FE58-4BF5-9411-CB2F6E270DCB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EC7A-45D3-4122-9C44-9DE386C66E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3220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B2CA-FE58-4BF5-9411-CB2F6E270DCB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EC7A-45D3-4122-9C44-9DE386C66E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06466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B2CA-FE58-4BF5-9411-CB2F6E270DCB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EC7A-45D3-4122-9C44-9DE386C66E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20371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B2CA-FE58-4BF5-9411-CB2F6E270DCB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EC7A-45D3-4122-9C44-9DE386C66E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08796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8B2CA-FE58-4BF5-9411-CB2F6E270DCB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1EC7A-45D3-4122-9C44-9DE386C66E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79116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8B2CA-FE58-4BF5-9411-CB2F6E270DCB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81EC7A-45D3-4122-9C44-9DE386C66E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140096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QpW1vxRM47U?feature=oembed" TargetMode="Externa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vidia.com/cs-cz/geforce/graphics-cards/40-series/" TargetMode="External"/><Relationship Id="rId7" Type="http://schemas.openxmlformats.org/officeDocument/2006/relationships/hyperlink" Target="https://www.youtube.com/watch?v=THxkY59_xko" TargetMode="External"/><Relationship Id="rId2" Type="http://schemas.openxmlformats.org/officeDocument/2006/relationships/hyperlink" Target="https://pctuning.cz/article/test-asus-tuf-gaming-geforce-rtx-4090-oc-ed-tezky-kalibr#article-heade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QpW1vxRM47U" TargetMode="External"/><Relationship Id="rId5" Type="http://schemas.openxmlformats.org/officeDocument/2006/relationships/hyperlink" Target="https://www.nvidia.com/cs-cz/geforce/ada-lovelace-architecture/" TargetMode="External"/><Relationship Id="rId4" Type="http://schemas.openxmlformats.org/officeDocument/2006/relationships/hyperlink" Target="https://pctuning.cz/article/nvidia-geforce-rtx-4090-a-rtx-4080-ada-lovelace-a-jiny-pristup-k-renderingu#article-head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Grafické karty GeForce RTX 4090 pro hraní | NVIDIA">
            <a:extLst>
              <a:ext uri="{FF2B5EF4-FFF2-40B4-BE49-F238E27FC236}">
                <a16:creationId xmlns:a16="http://schemas.microsoft.com/office/drawing/2014/main" id="{1B786812-5D22-414E-31FD-CD71384751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5" r="3561"/>
          <a:stretch/>
        </p:blipFill>
        <p:spPr bwMode="auto">
          <a:xfrm>
            <a:off x="-3047" y="10"/>
            <a:ext cx="12191999" cy="6857990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Přímá spojnice 5">
            <a:extLst>
              <a:ext uri="{FF2B5EF4-FFF2-40B4-BE49-F238E27FC236}">
                <a16:creationId xmlns:a16="http://schemas.microsoft.com/office/drawing/2014/main" id="{D2F4878E-155F-D796-A9C8-D0DF0C93A286}"/>
              </a:ext>
            </a:extLst>
          </p:cNvPr>
          <p:cNvCxnSpPr/>
          <p:nvPr/>
        </p:nvCxnSpPr>
        <p:spPr>
          <a:xfrm>
            <a:off x="-9141" y="5078110"/>
            <a:ext cx="6223329" cy="19851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vnoramenný trojúhelník 6">
            <a:extLst>
              <a:ext uri="{FF2B5EF4-FFF2-40B4-BE49-F238E27FC236}">
                <a16:creationId xmlns:a16="http://schemas.microsoft.com/office/drawing/2014/main" id="{587C6AB2-F278-C519-ACDA-8394705CB346}"/>
              </a:ext>
            </a:extLst>
          </p:cNvPr>
          <p:cNvSpPr/>
          <p:nvPr/>
        </p:nvSpPr>
        <p:spPr>
          <a:xfrm rot="11884970">
            <a:off x="-1772051" y="5723724"/>
            <a:ext cx="7342129" cy="3845049"/>
          </a:xfrm>
          <a:prstGeom prst="triangle">
            <a:avLst/>
          </a:prstGeom>
          <a:solidFill>
            <a:srgbClr val="8BCB13"/>
          </a:solidFill>
          <a:ln>
            <a:solidFill>
              <a:srgbClr val="8BCB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Rovnoramenný trojúhelník 7">
            <a:extLst>
              <a:ext uri="{FF2B5EF4-FFF2-40B4-BE49-F238E27FC236}">
                <a16:creationId xmlns:a16="http://schemas.microsoft.com/office/drawing/2014/main" id="{BC8D3DFC-4D73-08B0-2240-314B56708148}"/>
              </a:ext>
            </a:extLst>
          </p:cNvPr>
          <p:cNvSpPr/>
          <p:nvPr/>
        </p:nvSpPr>
        <p:spPr>
          <a:xfrm rot="11884970">
            <a:off x="-1935845" y="5966016"/>
            <a:ext cx="7342129" cy="3845049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9" name="Rovnoramenný trojúhelník 8">
            <a:extLst>
              <a:ext uri="{FF2B5EF4-FFF2-40B4-BE49-F238E27FC236}">
                <a16:creationId xmlns:a16="http://schemas.microsoft.com/office/drawing/2014/main" id="{5445CAFF-4924-29ED-A927-1058866268C6}"/>
              </a:ext>
            </a:extLst>
          </p:cNvPr>
          <p:cNvSpPr/>
          <p:nvPr/>
        </p:nvSpPr>
        <p:spPr>
          <a:xfrm rot="11884970">
            <a:off x="-1952225" y="6293028"/>
            <a:ext cx="7342129" cy="3845049"/>
          </a:xfrm>
          <a:prstGeom prst="triangle">
            <a:avLst/>
          </a:prstGeom>
          <a:solidFill>
            <a:srgbClr val="8BCB13"/>
          </a:solidFill>
          <a:ln>
            <a:solidFill>
              <a:srgbClr val="8BCB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05D9852A-ADFE-3BA2-13B1-F2F77B9E322F}"/>
              </a:ext>
            </a:extLst>
          </p:cNvPr>
          <p:cNvSpPr txBox="1"/>
          <p:nvPr/>
        </p:nvSpPr>
        <p:spPr>
          <a:xfrm>
            <a:off x="-93581" y="5891569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400" b="1" dirty="0" err="1"/>
              <a:t>Nvidia</a:t>
            </a:r>
            <a:r>
              <a:rPr lang="cs-CZ" sz="2400" b="1" dirty="0"/>
              <a:t> </a:t>
            </a:r>
            <a:r>
              <a:rPr lang="cs-CZ" sz="2400" b="1" dirty="0" err="1"/>
              <a:t>GeForce</a:t>
            </a:r>
            <a:r>
              <a:rPr lang="cs-CZ" sz="2400" b="1" dirty="0"/>
              <a:t> RTX 4090</a:t>
            </a:r>
          </a:p>
        </p:txBody>
      </p:sp>
    </p:spTree>
    <p:extLst>
      <p:ext uri="{BB962C8B-B14F-4D97-AF65-F5344CB8AC3E}">
        <p14:creationId xmlns:p14="http://schemas.microsoft.com/office/powerpoint/2010/main" val="4100083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2634283-0B11-E49D-60FB-D04B6728C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Něco o Grafické kartě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FBC42A2-A5D9-E74B-A0B6-F610595C2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6325"/>
            <a:ext cx="732248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1800" dirty="0"/>
              <a:t>Tato grafická karta je nová vlajková loď z řad 40. Na trh byla uvedena 12. říjná 2022 tudíž je, ani ne 4. měsíce stará a vyšla jako první v sérii 40. Mezi její v hlavní vymoženost je paměť o velikosti 24 GB, což pro normálního uživatele je obrovský přepal, ale pro grafiky a nebo herní vývojáře tahle ta karta představuje spoustu nových možností.</a:t>
            </a:r>
          </a:p>
          <a:p>
            <a:pPr marL="0" indent="0">
              <a:buNone/>
            </a:pPr>
            <a:endParaRPr lang="cs-CZ" sz="1800" dirty="0"/>
          </a:p>
          <a:p>
            <a:pPr marL="0" indent="0">
              <a:buNone/>
            </a:pPr>
            <a:r>
              <a:rPr lang="cs-CZ" sz="1800" dirty="0"/>
              <a:t>4090 využívá architekturu Ada </a:t>
            </a:r>
            <a:r>
              <a:rPr lang="cs-CZ" sz="1800" dirty="0" err="1"/>
              <a:t>Lovelace</a:t>
            </a:r>
            <a:r>
              <a:rPr lang="cs-CZ" sz="1800" dirty="0"/>
              <a:t>, která byla vytvořena pro to aby rozšířila technologii R</a:t>
            </a:r>
            <a:r>
              <a:rPr lang="en-US" sz="1800" dirty="0"/>
              <a:t>ay </a:t>
            </a:r>
            <a:r>
              <a:rPr lang="cs-CZ" sz="1800" dirty="0"/>
              <a:t>T</a:t>
            </a:r>
            <a:r>
              <a:rPr lang="en-US" sz="1800" dirty="0"/>
              <a:t>racing a </a:t>
            </a:r>
            <a:r>
              <a:rPr lang="en-US" sz="1800" dirty="0" err="1"/>
              <a:t>neurální</a:t>
            </a:r>
            <a:r>
              <a:rPr lang="en-US" sz="1800" dirty="0"/>
              <a:t> </a:t>
            </a:r>
            <a:r>
              <a:rPr lang="en-US" sz="1800" dirty="0" err="1"/>
              <a:t>grafiku</a:t>
            </a:r>
            <a:r>
              <a:rPr lang="cs-CZ" sz="1800" dirty="0"/>
              <a:t> založenou na umělé inteligenci, kterou </a:t>
            </a:r>
            <a:r>
              <a:rPr lang="cs-CZ" sz="1800" dirty="0" err="1"/>
              <a:t>Nvidia</a:t>
            </a:r>
            <a:r>
              <a:rPr lang="cs-CZ" sz="1800" dirty="0"/>
              <a:t> používá už od řad 20. Nadále využívá technologii DLLS 3.0 která ohromně navyšuje výkon GK a její fungování. </a:t>
            </a:r>
            <a:br>
              <a:rPr lang="cs-CZ" sz="1800" dirty="0"/>
            </a:br>
            <a:br>
              <a:rPr lang="cs-CZ" sz="1800" dirty="0"/>
            </a:br>
            <a:r>
              <a:rPr lang="cs-CZ" sz="1800" dirty="0"/>
              <a:t>Grafickou kartu 4090 řadíme do cenové kategorie Entusiasmu tedy pro opravdové nadšence přičemž tenhle ten názor převládá i u personálu </a:t>
            </a:r>
            <a:r>
              <a:rPr lang="cs-CZ" sz="1800" dirty="0" err="1"/>
              <a:t>Nvidie</a:t>
            </a:r>
            <a:r>
              <a:rPr lang="cs-CZ" sz="1800" dirty="0"/>
              <a:t> </a:t>
            </a:r>
          </a:p>
          <a:p>
            <a:pPr marL="0" indent="0">
              <a:buNone/>
            </a:pPr>
            <a:endParaRPr lang="cs-CZ" sz="1800" dirty="0"/>
          </a:p>
          <a:p>
            <a:pPr marL="0" indent="0">
              <a:buNone/>
            </a:pPr>
            <a:endParaRPr lang="cs-CZ" sz="1800" dirty="0"/>
          </a:p>
        </p:txBody>
      </p:sp>
      <p:sp>
        <p:nvSpPr>
          <p:cNvPr id="4" name="Rovnoramenný trojúhelník 3">
            <a:extLst>
              <a:ext uri="{FF2B5EF4-FFF2-40B4-BE49-F238E27FC236}">
                <a16:creationId xmlns:a16="http://schemas.microsoft.com/office/drawing/2014/main" id="{EFEBE159-CE0D-5073-F5B6-2A4270EB399E}"/>
              </a:ext>
            </a:extLst>
          </p:cNvPr>
          <p:cNvSpPr/>
          <p:nvPr/>
        </p:nvSpPr>
        <p:spPr>
          <a:xfrm rot="11884970">
            <a:off x="-1772051" y="5723724"/>
            <a:ext cx="7342129" cy="3845049"/>
          </a:xfrm>
          <a:prstGeom prst="triangle">
            <a:avLst/>
          </a:prstGeom>
          <a:solidFill>
            <a:srgbClr val="8BCB13"/>
          </a:solidFill>
          <a:ln>
            <a:solidFill>
              <a:srgbClr val="8BCB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Rovnoramenný trojúhelník 4">
            <a:extLst>
              <a:ext uri="{FF2B5EF4-FFF2-40B4-BE49-F238E27FC236}">
                <a16:creationId xmlns:a16="http://schemas.microsoft.com/office/drawing/2014/main" id="{A367EA73-CBE6-EFED-78B0-4A70BABA9CE0}"/>
              </a:ext>
            </a:extLst>
          </p:cNvPr>
          <p:cNvSpPr/>
          <p:nvPr/>
        </p:nvSpPr>
        <p:spPr>
          <a:xfrm rot="11884970">
            <a:off x="-1935845" y="5966016"/>
            <a:ext cx="7342129" cy="3845049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6" name="Rovnoramenný trojúhelník 5">
            <a:extLst>
              <a:ext uri="{FF2B5EF4-FFF2-40B4-BE49-F238E27FC236}">
                <a16:creationId xmlns:a16="http://schemas.microsoft.com/office/drawing/2014/main" id="{703B88EF-B561-6C64-D0DF-C7B29EE2FDF0}"/>
              </a:ext>
            </a:extLst>
          </p:cNvPr>
          <p:cNvSpPr/>
          <p:nvPr/>
        </p:nvSpPr>
        <p:spPr>
          <a:xfrm rot="11884970">
            <a:off x="-1952225" y="6293028"/>
            <a:ext cx="7342129" cy="3845049"/>
          </a:xfrm>
          <a:prstGeom prst="triangle">
            <a:avLst/>
          </a:prstGeom>
          <a:solidFill>
            <a:srgbClr val="8BCB13"/>
          </a:solidFill>
          <a:ln>
            <a:solidFill>
              <a:srgbClr val="8BCB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Rovnoramenný trojúhelník 8">
            <a:extLst>
              <a:ext uri="{FF2B5EF4-FFF2-40B4-BE49-F238E27FC236}">
                <a16:creationId xmlns:a16="http://schemas.microsoft.com/office/drawing/2014/main" id="{91C3C9EA-9C90-BB7B-9E3A-FE8B1AD40E36}"/>
              </a:ext>
            </a:extLst>
          </p:cNvPr>
          <p:cNvSpPr/>
          <p:nvPr/>
        </p:nvSpPr>
        <p:spPr>
          <a:xfrm rot="16518206">
            <a:off x="8855441" y="-2511022"/>
            <a:ext cx="1133185" cy="6206504"/>
          </a:xfrm>
          <a:prstGeom prst="triangle">
            <a:avLst>
              <a:gd name="adj" fmla="val 53024"/>
            </a:avLst>
          </a:prstGeom>
          <a:solidFill>
            <a:srgbClr val="8BCB13"/>
          </a:solidFill>
          <a:ln>
            <a:solidFill>
              <a:srgbClr val="8BCB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292A82C-713A-672C-B99F-27D81F039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6720" y="2067129"/>
            <a:ext cx="4722618" cy="362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1867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685D9F8-DE05-2491-B2F1-724660BD0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Technické parametry a porovnání 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2307418D-C4F9-0EF7-A301-1E3496373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621" y="1690688"/>
            <a:ext cx="835270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1600" dirty="0"/>
              <a:t>Jako první bych začal procesorem GK, který má přes 128 jader RT(</a:t>
            </a:r>
            <a:r>
              <a:rPr lang="cs-CZ" sz="1600" dirty="0" err="1"/>
              <a:t>Ray</a:t>
            </a:r>
            <a:r>
              <a:rPr lang="cs-CZ" sz="1600" dirty="0"/>
              <a:t> </a:t>
            </a:r>
            <a:r>
              <a:rPr lang="cs-CZ" sz="1600" dirty="0" err="1"/>
              <a:t>Tracing</a:t>
            </a:r>
            <a:r>
              <a:rPr lang="cs-CZ" sz="1600" dirty="0"/>
              <a:t>) a 512 Jader Tensoru dohromady teda 640 jader. Další věc je základní takt procesoru o velikosti 2235 MHz a takt s </a:t>
            </a:r>
            <a:r>
              <a:rPr lang="cs-CZ" sz="1600" dirty="0" err="1"/>
              <a:t>Boostem</a:t>
            </a:r>
            <a:r>
              <a:rPr lang="cs-CZ" sz="1600" dirty="0"/>
              <a:t>, který přidá dalších 285 MHz. Nebo enormní počet tranzistorů který se zvedl 2,70 krát. </a:t>
            </a:r>
          </a:p>
          <a:p>
            <a:pPr marL="0" indent="0">
              <a:buNone/>
            </a:pPr>
            <a:r>
              <a:rPr lang="cs-CZ" sz="1600" dirty="0"/>
              <a:t>Většina výrobců dává na GK tři ventilátory kvůli chlazení, ale navzdory velkému počtu větráků si podle výrobce karta zachovává svoji tichost i při maximálním výkonu. ‚</a:t>
            </a:r>
            <a:br>
              <a:rPr lang="cs-CZ" sz="1600" dirty="0"/>
            </a:br>
            <a:br>
              <a:rPr lang="cs-CZ" sz="1600" dirty="0"/>
            </a:br>
            <a:r>
              <a:rPr lang="cs-CZ" sz="1600" dirty="0"/>
              <a:t>Pro lepší přehlednost jsme vytvořil porovnání grafické karty řady 40. s předešlo 30. řadou. Kde je rozepsaná většina parametrů i s cenou. 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0CC240A8-B61C-206B-6EFF-8C2C26A7A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450" y="182562"/>
            <a:ext cx="2288543" cy="6492875"/>
          </a:xfrm>
          <a:prstGeom prst="rect">
            <a:avLst/>
          </a:prstGeom>
        </p:spPr>
      </p:pic>
      <p:sp>
        <p:nvSpPr>
          <p:cNvPr id="9" name="Obdélník 8">
            <a:extLst>
              <a:ext uri="{FF2B5EF4-FFF2-40B4-BE49-F238E27FC236}">
                <a16:creationId xmlns:a16="http://schemas.microsoft.com/office/drawing/2014/main" id="{2CFEBCD4-0C45-C22D-B0FF-633DAE72C2B7}"/>
              </a:ext>
            </a:extLst>
          </p:cNvPr>
          <p:cNvSpPr/>
          <p:nvPr/>
        </p:nvSpPr>
        <p:spPr>
          <a:xfrm>
            <a:off x="11268340" y="3338661"/>
            <a:ext cx="139117" cy="81793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2054" name="Picture 6" descr="Jak dopadla GeForce RTX 4090? „Jen“ o 60–70 % lepší než Ampere -  HWCooling.net">
            <a:extLst>
              <a:ext uri="{FF2B5EF4-FFF2-40B4-BE49-F238E27FC236}">
                <a16:creationId xmlns:a16="http://schemas.microsoft.com/office/drawing/2014/main" id="{028C3B54-7D4B-B1F1-AE23-02CB53183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203" b="97813" l="9922" r="90000">
                        <a14:foregroundMark x1="33359" y1="88477" x2="33359" y2="88477"/>
                        <a14:foregroundMark x1="33516" y1="85625" x2="35938" y2="89219"/>
                        <a14:foregroundMark x1="34271" y1="93477" x2="36172" y2="93828"/>
                        <a14:foregroundMark x1="37188" y1="94570" x2="39922" y2="94219"/>
                        <a14:foregroundMark x1="38177" y1="97813" x2="38177" y2="97813"/>
                        <a14:foregroundMark x1="70313" y1="7344" x2="70313" y2="7344"/>
                        <a14:foregroundMark x1="67344" y1="7227" x2="67839" y2="8828"/>
                        <a14:foregroundMark x1="69323" y1="3867" x2="69323" y2="3867"/>
                        <a14:foregroundMark x1="69922" y1="3242" x2="69661" y2="3242"/>
                        <a14:foregroundMark x1="9922" y1="56680" x2="9922" y2="56680"/>
                        <a14:foregroundMark x1="89609" y1="20938" x2="89609" y2="20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161491" flipH="1" flipV="1">
            <a:off x="4612885" y="3829512"/>
            <a:ext cx="5238717" cy="3492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ovnoramenný trojúhelník 14">
            <a:extLst>
              <a:ext uri="{FF2B5EF4-FFF2-40B4-BE49-F238E27FC236}">
                <a16:creationId xmlns:a16="http://schemas.microsoft.com/office/drawing/2014/main" id="{1009C942-7DA4-6890-049F-070594AB25F0}"/>
              </a:ext>
            </a:extLst>
          </p:cNvPr>
          <p:cNvSpPr/>
          <p:nvPr/>
        </p:nvSpPr>
        <p:spPr>
          <a:xfrm rot="11884970">
            <a:off x="-2480721" y="6211824"/>
            <a:ext cx="7342129" cy="3845049"/>
          </a:xfrm>
          <a:prstGeom prst="triangle">
            <a:avLst/>
          </a:prstGeom>
          <a:solidFill>
            <a:srgbClr val="8BCB13"/>
          </a:solidFill>
          <a:ln>
            <a:solidFill>
              <a:srgbClr val="8BCB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7" name="Rovnoramenný trojúhelník 16">
            <a:extLst>
              <a:ext uri="{FF2B5EF4-FFF2-40B4-BE49-F238E27FC236}">
                <a16:creationId xmlns:a16="http://schemas.microsoft.com/office/drawing/2014/main" id="{178EE3C7-314A-0FB2-851F-05B34AC037C0}"/>
              </a:ext>
            </a:extLst>
          </p:cNvPr>
          <p:cNvSpPr/>
          <p:nvPr/>
        </p:nvSpPr>
        <p:spPr>
          <a:xfrm rot="11884970">
            <a:off x="-2480719" y="6446350"/>
            <a:ext cx="7342129" cy="3845049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8" name="Rovnoramenný trojúhelník 17">
            <a:extLst>
              <a:ext uri="{FF2B5EF4-FFF2-40B4-BE49-F238E27FC236}">
                <a16:creationId xmlns:a16="http://schemas.microsoft.com/office/drawing/2014/main" id="{BB556288-F54D-2512-2B0B-F474A68F5CD2}"/>
              </a:ext>
            </a:extLst>
          </p:cNvPr>
          <p:cNvSpPr/>
          <p:nvPr/>
        </p:nvSpPr>
        <p:spPr>
          <a:xfrm rot="11884970">
            <a:off x="-2601705" y="6664522"/>
            <a:ext cx="7342129" cy="3845049"/>
          </a:xfrm>
          <a:prstGeom prst="triangle">
            <a:avLst/>
          </a:prstGeom>
          <a:solidFill>
            <a:srgbClr val="8BCB13"/>
          </a:solidFill>
          <a:ln>
            <a:solidFill>
              <a:srgbClr val="8BCB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19" name="Obrázek 18" descr="Obsah obrázku projektor&#10;&#10;Popis byl vytvořen automaticky">
            <a:extLst>
              <a:ext uri="{FF2B5EF4-FFF2-40B4-BE49-F238E27FC236}">
                <a16:creationId xmlns:a16="http://schemas.microsoft.com/office/drawing/2014/main" id="{68EF666B-1A5A-192F-36DF-640B806E12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50012" y="2886451"/>
            <a:ext cx="9421012" cy="4812602"/>
          </a:xfrm>
          <a:prstGeom prst="rect">
            <a:avLst/>
          </a:prstGeom>
        </p:spPr>
      </p:pic>
      <p:sp>
        <p:nvSpPr>
          <p:cNvPr id="20" name="Obdélník 19">
            <a:extLst>
              <a:ext uri="{FF2B5EF4-FFF2-40B4-BE49-F238E27FC236}">
                <a16:creationId xmlns:a16="http://schemas.microsoft.com/office/drawing/2014/main" id="{30865D4B-55A1-0B00-A361-510035695513}"/>
              </a:ext>
            </a:extLst>
          </p:cNvPr>
          <p:cNvSpPr/>
          <p:nvPr/>
        </p:nvSpPr>
        <p:spPr>
          <a:xfrm rot="2956577">
            <a:off x="-514919" y="-1774535"/>
            <a:ext cx="1596335" cy="3914193"/>
          </a:xfrm>
          <a:prstGeom prst="rect">
            <a:avLst/>
          </a:prstGeom>
          <a:solidFill>
            <a:srgbClr val="8BCB13"/>
          </a:solidFill>
          <a:ln>
            <a:solidFill>
              <a:srgbClr val="8BCB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Obdélník 22">
            <a:extLst>
              <a:ext uri="{FF2B5EF4-FFF2-40B4-BE49-F238E27FC236}">
                <a16:creationId xmlns:a16="http://schemas.microsoft.com/office/drawing/2014/main" id="{DB187A0D-18B7-68B5-17C4-A3B2DAEB4644}"/>
              </a:ext>
            </a:extLst>
          </p:cNvPr>
          <p:cNvSpPr/>
          <p:nvPr/>
        </p:nvSpPr>
        <p:spPr>
          <a:xfrm rot="2956577">
            <a:off x="-610160" y="-1923436"/>
            <a:ext cx="1596335" cy="3914193"/>
          </a:xfrm>
          <a:prstGeom prst="rect">
            <a:avLst/>
          </a:prstGeom>
          <a:solidFill>
            <a:srgbClr val="000000"/>
          </a:solidFill>
          <a:ln>
            <a:solidFill>
              <a:srgbClr val="2626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2064" name="Picture 16" descr="CAREERS AT NVIDIA">
            <a:extLst>
              <a:ext uri="{FF2B5EF4-FFF2-40B4-BE49-F238E27FC236}">
                <a16:creationId xmlns:a16="http://schemas.microsoft.com/office/drawing/2014/main" id="{1BCEB9C0-BEC7-9A5B-AA5F-B87E25436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986" b="89943" l="8098" r="89978">
                        <a14:foregroundMark x1="8098" y1="40876" x2="10022" y2="56322"/>
                        <a14:backgroundMark x1="36891" y1="57471" x2="61610" y2="45546"/>
                        <a14:backgroundMark x1="61610" y1="45546" x2="70282" y2="65158"/>
                        <a14:backgroundMark x1="43814" y1="51940" x2="68683" y2="44899"/>
                        <a14:backgroundMark x1="68683" y1="44899" x2="42414" y2="56609"/>
                        <a14:backgroundMark x1="42414" y1="56609" x2="47263" y2="58549"/>
                        <a14:backgroundMark x1="64534" y1="65158" x2="70282" y2="70690"/>
                        <a14:backgroundMark x1="58385" y1="71767" x2="61285" y2="10560"/>
                        <a14:backgroundMark x1="61285" y1="10560" x2="60310" y2="122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787" y="-69039"/>
            <a:ext cx="2226292" cy="774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ovéPole 24">
            <a:extLst>
              <a:ext uri="{FF2B5EF4-FFF2-40B4-BE49-F238E27FC236}">
                <a16:creationId xmlns:a16="http://schemas.microsoft.com/office/drawing/2014/main" id="{1037C107-9F21-F9F2-D186-A6850A97047A}"/>
              </a:ext>
            </a:extLst>
          </p:cNvPr>
          <p:cNvSpPr txBox="1"/>
          <p:nvPr/>
        </p:nvSpPr>
        <p:spPr>
          <a:xfrm>
            <a:off x="673452" y="146953"/>
            <a:ext cx="226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pc="300" dirty="0"/>
              <a:t>NVIDIA </a:t>
            </a:r>
          </a:p>
        </p:txBody>
      </p:sp>
    </p:spTree>
    <p:extLst>
      <p:ext uri="{BB962C8B-B14F-4D97-AF65-F5344CB8AC3E}">
        <p14:creationId xmlns:p14="http://schemas.microsoft.com/office/powerpoint/2010/main" val="3016640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685D9F8-DE05-2491-B2F1-724660BD0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Technologie GK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2307418D-C4F9-0EF7-A301-1E3496373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007" y="1478040"/>
            <a:ext cx="835270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000" b="1" dirty="0" err="1"/>
              <a:t>Ray</a:t>
            </a:r>
            <a:r>
              <a:rPr lang="cs-CZ" sz="2000" b="1" dirty="0"/>
              <a:t> </a:t>
            </a:r>
            <a:r>
              <a:rPr lang="cs-CZ" sz="2000" b="1" dirty="0" err="1"/>
              <a:t>Tracing</a:t>
            </a:r>
            <a:r>
              <a:rPr lang="cs-CZ" sz="2000" b="1" dirty="0"/>
              <a:t> </a:t>
            </a:r>
          </a:p>
          <a:p>
            <a:pPr marL="0" indent="0">
              <a:buNone/>
            </a:pPr>
            <a:r>
              <a:rPr lang="cs-CZ" sz="1400" dirty="0"/>
              <a:t> Tím čím se grafická karta především pyšní je technologie </a:t>
            </a:r>
            <a:r>
              <a:rPr lang="cs-CZ" sz="1400" dirty="0" err="1"/>
              <a:t>Ray</a:t>
            </a:r>
            <a:r>
              <a:rPr lang="cs-CZ" sz="1400" dirty="0"/>
              <a:t> </a:t>
            </a:r>
            <a:r>
              <a:rPr lang="cs-CZ" sz="1400" dirty="0" err="1"/>
              <a:t>tracing</a:t>
            </a:r>
            <a:r>
              <a:rPr lang="cs-CZ" sz="1400" dirty="0"/>
              <a:t>, která odráží světlo při renderování a dělá tak hezčí prostředí ve hrách, nebo 3D grafických návrzích.</a:t>
            </a:r>
          </a:p>
          <a:p>
            <a:pPr marL="0" indent="0">
              <a:buNone/>
            </a:pPr>
            <a:endParaRPr lang="cs-CZ" sz="1400" dirty="0"/>
          </a:p>
          <a:p>
            <a:pPr marL="0" indent="0">
              <a:buNone/>
            </a:pPr>
            <a:r>
              <a:rPr lang="cs-CZ" sz="1800" b="1" dirty="0"/>
              <a:t>DLSS 3.0</a:t>
            </a:r>
          </a:p>
          <a:p>
            <a:pPr marL="0" indent="0">
              <a:buNone/>
            </a:pPr>
            <a:r>
              <a:rPr lang="cs-CZ" sz="1400" dirty="0"/>
              <a:t>DLSS neboli </a:t>
            </a:r>
            <a:r>
              <a:rPr lang="cs-CZ" sz="1400" dirty="0" err="1"/>
              <a:t>Deep</a:t>
            </a:r>
            <a:r>
              <a:rPr lang="cs-CZ" sz="1400" dirty="0"/>
              <a:t> learning super </a:t>
            </a:r>
            <a:r>
              <a:rPr lang="cs-CZ" sz="1400" dirty="0" err="1"/>
              <a:t>Sampling</a:t>
            </a:r>
            <a:r>
              <a:rPr lang="cs-CZ" sz="1400" dirty="0"/>
              <a:t> používá umělou Inteligenci, která za pomocí strojového učení dokresluje snímky obrazovky a tím pádem máme na obrazovce větší FPS </a:t>
            </a:r>
            <a:r>
              <a:rPr lang="cs-CZ" sz="1400" dirty="0" err="1"/>
              <a:t>rate</a:t>
            </a:r>
            <a:r>
              <a:rPr lang="cs-CZ" sz="1400" dirty="0"/>
              <a:t> a grafická karta nespotřebuje tolik jader na výpočet </a:t>
            </a:r>
          </a:p>
          <a:p>
            <a:pPr marL="0" indent="0">
              <a:buNone/>
            </a:pPr>
            <a:endParaRPr lang="cs-CZ" sz="1400" dirty="0"/>
          </a:p>
          <a:p>
            <a:pPr marL="0" indent="0">
              <a:buNone/>
            </a:pPr>
            <a:r>
              <a:rPr lang="cs-CZ" sz="2000" b="1" dirty="0"/>
              <a:t>Noví NVENC enkodér</a:t>
            </a:r>
          </a:p>
          <a:p>
            <a:pPr marL="0" indent="0">
              <a:buNone/>
            </a:pPr>
            <a:r>
              <a:rPr lang="cs-CZ" sz="1400" dirty="0"/>
              <a:t>Tento noví enkodér pomáhá k rychlejšímu přenášení informací z úloh CPU do GPU. </a:t>
            </a:r>
          </a:p>
          <a:p>
            <a:pPr marL="0" indent="0">
              <a:buNone/>
            </a:pPr>
            <a:endParaRPr lang="cs-CZ" sz="1400" dirty="0"/>
          </a:p>
          <a:p>
            <a:pPr marL="0" indent="0">
              <a:buNone/>
            </a:pPr>
            <a:r>
              <a:rPr lang="cs-CZ" sz="1400" dirty="0"/>
              <a:t>Přikládám zde ještě video jako ukázku co všechno karta dokáže:</a:t>
            </a:r>
          </a:p>
          <a:p>
            <a:pPr marL="0" indent="0">
              <a:buNone/>
            </a:pPr>
            <a:endParaRPr lang="cs-CZ" sz="1400" dirty="0"/>
          </a:p>
          <a:p>
            <a:pPr marL="0" indent="0">
              <a:buNone/>
            </a:pPr>
            <a:endParaRPr lang="cs-CZ" sz="1400" b="1" dirty="0"/>
          </a:p>
          <a:p>
            <a:pPr marL="0" indent="0">
              <a:buNone/>
            </a:pPr>
            <a:endParaRPr lang="cs-CZ" sz="1400" dirty="0"/>
          </a:p>
        </p:txBody>
      </p:sp>
      <p:sp>
        <p:nvSpPr>
          <p:cNvPr id="15" name="Rovnoramenný trojúhelník 14">
            <a:extLst>
              <a:ext uri="{FF2B5EF4-FFF2-40B4-BE49-F238E27FC236}">
                <a16:creationId xmlns:a16="http://schemas.microsoft.com/office/drawing/2014/main" id="{1009C942-7DA4-6890-049F-070594AB25F0}"/>
              </a:ext>
            </a:extLst>
          </p:cNvPr>
          <p:cNvSpPr/>
          <p:nvPr/>
        </p:nvSpPr>
        <p:spPr>
          <a:xfrm rot="11884970">
            <a:off x="-2480721" y="6211824"/>
            <a:ext cx="7342129" cy="3845049"/>
          </a:xfrm>
          <a:prstGeom prst="triangle">
            <a:avLst/>
          </a:prstGeom>
          <a:solidFill>
            <a:srgbClr val="8BCB13"/>
          </a:solidFill>
          <a:ln>
            <a:solidFill>
              <a:srgbClr val="8BCB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7" name="Rovnoramenný trojúhelník 16">
            <a:extLst>
              <a:ext uri="{FF2B5EF4-FFF2-40B4-BE49-F238E27FC236}">
                <a16:creationId xmlns:a16="http://schemas.microsoft.com/office/drawing/2014/main" id="{178EE3C7-314A-0FB2-851F-05B34AC037C0}"/>
              </a:ext>
            </a:extLst>
          </p:cNvPr>
          <p:cNvSpPr/>
          <p:nvPr/>
        </p:nvSpPr>
        <p:spPr>
          <a:xfrm rot="11884970">
            <a:off x="-2480719" y="6446350"/>
            <a:ext cx="7342129" cy="3845049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8" name="Rovnoramenný trojúhelník 17">
            <a:extLst>
              <a:ext uri="{FF2B5EF4-FFF2-40B4-BE49-F238E27FC236}">
                <a16:creationId xmlns:a16="http://schemas.microsoft.com/office/drawing/2014/main" id="{BB556288-F54D-2512-2B0B-F474A68F5CD2}"/>
              </a:ext>
            </a:extLst>
          </p:cNvPr>
          <p:cNvSpPr/>
          <p:nvPr/>
        </p:nvSpPr>
        <p:spPr>
          <a:xfrm rot="11884970">
            <a:off x="-2601705" y="6664522"/>
            <a:ext cx="7342129" cy="3845049"/>
          </a:xfrm>
          <a:prstGeom prst="triangle">
            <a:avLst/>
          </a:prstGeom>
          <a:solidFill>
            <a:srgbClr val="8BCB13"/>
          </a:solidFill>
          <a:ln>
            <a:solidFill>
              <a:srgbClr val="8BCB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Obdélník 19">
            <a:extLst>
              <a:ext uri="{FF2B5EF4-FFF2-40B4-BE49-F238E27FC236}">
                <a16:creationId xmlns:a16="http://schemas.microsoft.com/office/drawing/2014/main" id="{30865D4B-55A1-0B00-A361-510035695513}"/>
              </a:ext>
            </a:extLst>
          </p:cNvPr>
          <p:cNvSpPr/>
          <p:nvPr/>
        </p:nvSpPr>
        <p:spPr>
          <a:xfrm rot="2956577">
            <a:off x="-514919" y="-1774535"/>
            <a:ext cx="1596335" cy="3914193"/>
          </a:xfrm>
          <a:prstGeom prst="rect">
            <a:avLst/>
          </a:prstGeom>
          <a:solidFill>
            <a:srgbClr val="8BCB13"/>
          </a:solidFill>
          <a:ln>
            <a:solidFill>
              <a:srgbClr val="8BCB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Obdélník 22">
            <a:extLst>
              <a:ext uri="{FF2B5EF4-FFF2-40B4-BE49-F238E27FC236}">
                <a16:creationId xmlns:a16="http://schemas.microsoft.com/office/drawing/2014/main" id="{DB187A0D-18B7-68B5-17C4-A3B2DAEB4644}"/>
              </a:ext>
            </a:extLst>
          </p:cNvPr>
          <p:cNvSpPr/>
          <p:nvPr/>
        </p:nvSpPr>
        <p:spPr>
          <a:xfrm rot="2956577">
            <a:off x="-610160" y="-1923436"/>
            <a:ext cx="1596335" cy="3914193"/>
          </a:xfrm>
          <a:prstGeom prst="rect">
            <a:avLst/>
          </a:prstGeom>
          <a:solidFill>
            <a:srgbClr val="000000"/>
          </a:solidFill>
          <a:ln>
            <a:solidFill>
              <a:srgbClr val="2626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4098" name="Picture 2" descr="Nvidia GeForce RTX 4090 a RTX 4080: Ada Lovelace a jiný přístup k renderingu">
            <a:extLst>
              <a:ext uri="{FF2B5EF4-FFF2-40B4-BE49-F238E27FC236}">
                <a16:creationId xmlns:a16="http://schemas.microsoft.com/office/drawing/2014/main" id="{D28AE168-E7A1-C70F-7126-955007B1F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883" y="147656"/>
            <a:ext cx="6000750" cy="337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Obrázek 3">
            <a:extLst>
              <a:ext uri="{FF2B5EF4-FFF2-40B4-BE49-F238E27FC236}">
                <a16:creationId xmlns:a16="http://schemas.microsoft.com/office/drawing/2014/main" id="{F4D7F305-2748-0622-A51D-61BC133A32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9004" y="4999929"/>
            <a:ext cx="4693058" cy="1835866"/>
          </a:xfrm>
          <a:prstGeom prst="rect">
            <a:avLst/>
          </a:prstGeom>
        </p:spPr>
      </p:pic>
      <p:sp>
        <p:nvSpPr>
          <p:cNvPr id="5" name="Rovnoramenný trojúhelník 4">
            <a:extLst>
              <a:ext uri="{FF2B5EF4-FFF2-40B4-BE49-F238E27FC236}">
                <a16:creationId xmlns:a16="http://schemas.microsoft.com/office/drawing/2014/main" id="{CA648B76-06B0-5B1D-92E4-A4F0B78D8BD0}"/>
              </a:ext>
            </a:extLst>
          </p:cNvPr>
          <p:cNvSpPr/>
          <p:nvPr/>
        </p:nvSpPr>
        <p:spPr>
          <a:xfrm rot="16918249">
            <a:off x="9735657" y="-2564698"/>
            <a:ext cx="1133185" cy="6206504"/>
          </a:xfrm>
          <a:prstGeom prst="triangle">
            <a:avLst>
              <a:gd name="adj" fmla="val 53024"/>
            </a:avLst>
          </a:prstGeom>
          <a:solidFill>
            <a:srgbClr val="8BCB13"/>
          </a:solidFill>
          <a:ln>
            <a:solidFill>
              <a:srgbClr val="8BCB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pic>
        <p:nvPicPr>
          <p:cNvPr id="7" name="Online médium 6" title="RTX 4090 změní herní trh, ale můžeme si to dovolit?">
            <a:hlinkClick r:id="" action="ppaction://media"/>
            <a:extLst>
              <a:ext uri="{FF2B5EF4-FFF2-40B4-BE49-F238E27FC236}">
                <a16:creationId xmlns:a16="http://schemas.microsoft.com/office/drawing/2014/main" id="{19867586-7B92-E33A-CA00-E121FC69521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6"/>
          <a:stretch>
            <a:fillRect/>
          </a:stretch>
        </p:blipFill>
        <p:spPr>
          <a:xfrm>
            <a:off x="9229106" y="3216905"/>
            <a:ext cx="2648319" cy="149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580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8A8F527-E28E-1FC3-9F87-9CF5AE650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3B9074F-92E5-28BC-08D1-7F3BD4AA6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>
                <a:hlinkClick r:id="rId2"/>
              </a:rPr>
              <a:t>https://pctuning.cz/article/test-asus-tuf-gaming-geforce-rtx-4090-oc-ed-tezky-kalibr#article-header</a:t>
            </a:r>
            <a:endParaRPr lang="cs-CZ" dirty="0"/>
          </a:p>
          <a:p>
            <a:pPr marL="0" indent="0">
              <a:buNone/>
            </a:pPr>
            <a:r>
              <a:rPr lang="cs-CZ" dirty="0">
                <a:hlinkClick r:id="rId3"/>
              </a:rPr>
              <a:t>https://www.nvidia.com/cs-cz/geforce/graphics-cards/40-series/</a:t>
            </a:r>
            <a:endParaRPr lang="cs-CZ" dirty="0"/>
          </a:p>
          <a:p>
            <a:pPr marL="0" indent="0">
              <a:buNone/>
            </a:pPr>
            <a:r>
              <a:rPr lang="cs-CZ" dirty="0">
                <a:hlinkClick r:id="rId4"/>
              </a:rPr>
              <a:t>https://pctuning.cz/article/nvidia-geforce-rtx-4090-a-rtx-4080-ada-lovelace-a-jiny-pristup-k-renderingu#article-header</a:t>
            </a:r>
            <a:endParaRPr lang="cs-CZ" dirty="0"/>
          </a:p>
          <a:p>
            <a:pPr marL="0" indent="0">
              <a:buNone/>
            </a:pPr>
            <a:r>
              <a:rPr lang="cs-CZ" dirty="0">
                <a:hlinkClick r:id="rId5"/>
              </a:rPr>
              <a:t>https://www.nvidia.com/cs-cz/geforce/ada-lovelace-architecture/</a:t>
            </a:r>
            <a:endParaRPr lang="cs-CZ" dirty="0"/>
          </a:p>
          <a:p>
            <a:pPr marL="0" indent="0">
              <a:buNone/>
            </a:pPr>
            <a:r>
              <a:rPr lang="cs-CZ" dirty="0">
                <a:hlinkClick r:id="rId6"/>
              </a:rPr>
              <a:t>https://www.youtube.com/watch?v=QpW1vxRM47U</a:t>
            </a:r>
            <a:endParaRPr lang="cs-CZ" dirty="0"/>
          </a:p>
          <a:p>
            <a:pPr marL="0" indent="0">
              <a:buNone/>
            </a:pPr>
            <a:r>
              <a:rPr lang="cs-CZ" dirty="0">
                <a:hlinkClick r:id="rId7"/>
              </a:rPr>
              <a:t>https://www.youtube.com/watch?v=THxkY59_xko</a:t>
            </a:r>
            <a:endParaRPr lang="cs-CZ" dirty="0"/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Rovnoramenný trojúhelník 3">
            <a:extLst>
              <a:ext uri="{FF2B5EF4-FFF2-40B4-BE49-F238E27FC236}">
                <a16:creationId xmlns:a16="http://schemas.microsoft.com/office/drawing/2014/main" id="{8C60E655-96EE-5AEE-9D21-AFF6B7040C6B}"/>
              </a:ext>
            </a:extLst>
          </p:cNvPr>
          <p:cNvSpPr/>
          <p:nvPr/>
        </p:nvSpPr>
        <p:spPr>
          <a:xfrm rot="11884970">
            <a:off x="-1952225" y="6293028"/>
            <a:ext cx="7342129" cy="3845049"/>
          </a:xfrm>
          <a:prstGeom prst="triangle">
            <a:avLst/>
          </a:prstGeom>
          <a:solidFill>
            <a:srgbClr val="8BCB13"/>
          </a:solidFill>
          <a:ln>
            <a:solidFill>
              <a:srgbClr val="8BCB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Rovnoramenný trojúhelník 4">
            <a:extLst>
              <a:ext uri="{FF2B5EF4-FFF2-40B4-BE49-F238E27FC236}">
                <a16:creationId xmlns:a16="http://schemas.microsoft.com/office/drawing/2014/main" id="{47C9E9CC-ED7F-7983-5CBC-FA18E0BE0239}"/>
              </a:ext>
            </a:extLst>
          </p:cNvPr>
          <p:cNvSpPr/>
          <p:nvPr/>
        </p:nvSpPr>
        <p:spPr>
          <a:xfrm rot="11884970">
            <a:off x="-2480719" y="6446350"/>
            <a:ext cx="7342129" cy="3845049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6" name="Rovnoramenný trojúhelník 5">
            <a:extLst>
              <a:ext uri="{FF2B5EF4-FFF2-40B4-BE49-F238E27FC236}">
                <a16:creationId xmlns:a16="http://schemas.microsoft.com/office/drawing/2014/main" id="{F5171A98-966F-CA6E-FE1C-E36695700C9A}"/>
              </a:ext>
            </a:extLst>
          </p:cNvPr>
          <p:cNvSpPr/>
          <p:nvPr/>
        </p:nvSpPr>
        <p:spPr>
          <a:xfrm rot="11884970">
            <a:off x="-2601705" y="6664522"/>
            <a:ext cx="7342129" cy="3845049"/>
          </a:xfrm>
          <a:prstGeom prst="triangle">
            <a:avLst/>
          </a:prstGeom>
          <a:solidFill>
            <a:srgbClr val="8BCB13"/>
          </a:solidFill>
          <a:ln>
            <a:solidFill>
              <a:srgbClr val="8BCB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65E669D3-B4AB-F5E1-4E34-E652217A4FFB}"/>
              </a:ext>
            </a:extLst>
          </p:cNvPr>
          <p:cNvSpPr/>
          <p:nvPr/>
        </p:nvSpPr>
        <p:spPr>
          <a:xfrm rot="2956577">
            <a:off x="-514919" y="-1774535"/>
            <a:ext cx="1596335" cy="3914193"/>
          </a:xfrm>
          <a:prstGeom prst="rect">
            <a:avLst/>
          </a:prstGeom>
          <a:solidFill>
            <a:srgbClr val="8BCB13"/>
          </a:solidFill>
          <a:ln>
            <a:solidFill>
              <a:srgbClr val="8BCB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0144ECD9-CA97-3497-C0B9-5C8532DC538D}"/>
              </a:ext>
            </a:extLst>
          </p:cNvPr>
          <p:cNvSpPr/>
          <p:nvPr/>
        </p:nvSpPr>
        <p:spPr>
          <a:xfrm rot="2956577">
            <a:off x="-610160" y="-1923436"/>
            <a:ext cx="1596335" cy="3914193"/>
          </a:xfrm>
          <a:prstGeom prst="rect">
            <a:avLst/>
          </a:prstGeom>
          <a:solidFill>
            <a:srgbClr val="000000"/>
          </a:solidFill>
          <a:ln>
            <a:solidFill>
              <a:srgbClr val="2626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3825DD54-1392-610E-C460-235658C3D79F}"/>
              </a:ext>
            </a:extLst>
          </p:cNvPr>
          <p:cNvSpPr/>
          <p:nvPr/>
        </p:nvSpPr>
        <p:spPr>
          <a:xfrm rot="2956577">
            <a:off x="-705401" y="-2064162"/>
            <a:ext cx="1596335" cy="3914193"/>
          </a:xfrm>
          <a:prstGeom prst="rect">
            <a:avLst/>
          </a:prstGeom>
          <a:solidFill>
            <a:srgbClr val="8BCB13"/>
          </a:solidFill>
          <a:ln>
            <a:solidFill>
              <a:srgbClr val="8BCB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Rovnoramenný trojúhelník 9">
            <a:extLst>
              <a:ext uri="{FF2B5EF4-FFF2-40B4-BE49-F238E27FC236}">
                <a16:creationId xmlns:a16="http://schemas.microsoft.com/office/drawing/2014/main" id="{7D683DB9-D438-816E-B3C7-D78F63E0C241}"/>
              </a:ext>
            </a:extLst>
          </p:cNvPr>
          <p:cNvSpPr/>
          <p:nvPr/>
        </p:nvSpPr>
        <p:spPr>
          <a:xfrm rot="3046319">
            <a:off x="9235768" y="3849582"/>
            <a:ext cx="1133185" cy="6206504"/>
          </a:xfrm>
          <a:prstGeom prst="triangle">
            <a:avLst>
              <a:gd name="adj" fmla="val 53024"/>
            </a:avLst>
          </a:prstGeom>
          <a:solidFill>
            <a:srgbClr val="8BCB13"/>
          </a:solidFill>
          <a:ln>
            <a:solidFill>
              <a:srgbClr val="8BCB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406614786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Motiv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iv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i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336bbd3-fa5a-4ace-896b-9660d4d6f4a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7A96DCF66FBAA469343C3AE5781735C" ma:contentTypeVersion="12" ma:contentTypeDescription="Vytvoří nový dokument" ma:contentTypeScope="" ma:versionID="158bae667f6cd7596d9e37b1fecf99c6">
  <xsd:schema xmlns:xsd="http://www.w3.org/2001/XMLSchema" xmlns:xs="http://www.w3.org/2001/XMLSchema" xmlns:p="http://schemas.microsoft.com/office/2006/metadata/properties" xmlns:ns3="a336bbd3-fa5a-4ace-896b-9660d4d6f4a4" xmlns:ns4="35801232-24e1-47c4-8b94-d6bb283808bb" targetNamespace="http://schemas.microsoft.com/office/2006/metadata/properties" ma:root="true" ma:fieldsID="36e1d029d81695ee8af2e2193e3e7442" ns3:_="" ns4:_="">
    <xsd:import namespace="a336bbd3-fa5a-4ace-896b-9660d4d6f4a4"/>
    <xsd:import namespace="35801232-24e1-47c4-8b94-d6bb283808b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_activity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36bbd3-fa5a-4ace-896b-9660d4d6f4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801232-24e1-47c4-8b94-d6bb283808b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63F1618-A1CD-4243-8866-79BEF7F61FEC}">
  <ds:schemaRefs>
    <ds:schemaRef ds:uri="35801232-24e1-47c4-8b94-d6bb283808bb"/>
    <ds:schemaRef ds:uri="http://purl.org/dc/terms/"/>
    <ds:schemaRef ds:uri="a336bbd3-fa5a-4ace-896b-9660d4d6f4a4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626CA38D-FA40-4FF2-BD0D-4E3A483C256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B915E49-8854-450C-A0EF-BEAE165CA6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336bbd3-fa5a-4ace-896b-9660d4d6f4a4"/>
    <ds:schemaRef ds:uri="35801232-24e1-47c4-8b94-d6bb283808b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88</TotalTime>
  <Words>449</Words>
  <Application>Microsoft Office PowerPoint</Application>
  <PresentationFormat>Širokoúhlá obrazovka</PresentationFormat>
  <Paragraphs>28</Paragraphs>
  <Slides>5</Slides>
  <Notes>0</Notes>
  <HiddenSlides>0</HiddenSlides>
  <MMClips>1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Motiv Office</vt:lpstr>
      <vt:lpstr>Prezentace aplikace PowerPoint</vt:lpstr>
      <vt:lpstr>Něco o Grafické kartě</vt:lpstr>
      <vt:lpstr>Technické parametry a porovnání </vt:lpstr>
      <vt:lpstr>Technologie GK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