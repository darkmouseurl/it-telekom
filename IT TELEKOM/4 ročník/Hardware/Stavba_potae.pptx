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7" r:id="rId9"/>
    <p:sldId id="261" r:id="rId10"/>
    <p:sldId id="260" r:id="rId11"/>
    <p:sldId id="262" r:id="rId12"/>
    <p:sldId id="263" r:id="rId13"/>
    <p:sldId id="264" r:id="rId14"/>
    <p:sldId id="265" r:id="rId15"/>
    <p:sldId id="266" r:id="rId16"/>
    <p:sldId id="268" r:id="rId17"/>
    <p:sldId id="269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8DCD"/>
    <a:srgbClr val="518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9FB8A-114D-370A-3D8B-17ACC5E0FDDD}" v="56" dt="2023-02-21T21:19:39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PLEVÁK" userId="S::robert.plevak@teleinformatika.eu::3db99daf-a19f-47ef-8c4e-e0df49c8875a" providerId="AD" clId="Web-{10D9FB8A-114D-370A-3D8B-17ACC5E0FDDD}"/>
    <pc:docChg chg="addSld modSld">
      <pc:chgData name="Robert PLEVÁK" userId="S::robert.plevak@teleinformatika.eu::3db99daf-a19f-47ef-8c4e-e0df49c8875a" providerId="AD" clId="Web-{10D9FB8A-114D-370A-3D8B-17ACC5E0FDDD}" dt="2023-02-21T21:19:39.405" v="54" actId="20577"/>
      <pc:docMkLst>
        <pc:docMk/>
      </pc:docMkLst>
      <pc:sldChg chg="modSp">
        <pc:chgData name="Robert PLEVÁK" userId="S::robert.plevak@teleinformatika.eu::3db99daf-a19f-47ef-8c4e-e0df49c8875a" providerId="AD" clId="Web-{10D9FB8A-114D-370A-3D8B-17ACC5E0FDDD}" dt="2023-02-21T21:15:44.741" v="27" actId="20577"/>
        <pc:sldMkLst>
          <pc:docMk/>
          <pc:sldMk cId="688591440" sldId="256"/>
        </pc:sldMkLst>
        <pc:spChg chg="mod">
          <ac:chgData name="Robert PLEVÁK" userId="S::robert.plevak@teleinformatika.eu::3db99daf-a19f-47ef-8c4e-e0df49c8875a" providerId="AD" clId="Web-{10D9FB8A-114D-370A-3D8B-17ACC5E0FDDD}" dt="2023-02-21T21:15:44.741" v="27" actId="20577"/>
          <ac:spMkLst>
            <pc:docMk/>
            <pc:sldMk cId="688591440" sldId="256"/>
            <ac:spMk id="3" creationId="{7014475A-BE1A-0C23-D3C9-7FDB9240B158}"/>
          </ac:spMkLst>
        </pc:spChg>
      </pc:sldChg>
      <pc:sldChg chg="modSp">
        <pc:chgData name="Robert PLEVÁK" userId="S::robert.plevak@teleinformatika.eu::3db99daf-a19f-47ef-8c4e-e0df49c8875a" providerId="AD" clId="Web-{10D9FB8A-114D-370A-3D8B-17ACC5E0FDDD}" dt="2023-02-21T21:14:27.316" v="19" actId="20577"/>
        <pc:sldMkLst>
          <pc:docMk/>
          <pc:sldMk cId="734403224" sldId="268"/>
        </pc:sldMkLst>
        <pc:spChg chg="mod">
          <ac:chgData name="Robert PLEVÁK" userId="S::robert.plevak@teleinformatika.eu::3db99daf-a19f-47ef-8c4e-e0df49c8875a" providerId="AD" clId="Web-{10D9FB8A-114D-370A-3D8B-17ACC5E0FDDD}" dt="2023-02-21T21:14:27.316" v="19" actId="20577"/>
          <ac:spMkLst>
            <pc:docMk/>
            <pc:sldMk cId="734403224" sldId="268"/>
            <ac:spMk id="3" creationId="{D7AE8293-2911-24E9-2020-226795CD7560}"/>
          </ac:spMkLst>
        </pc:spChg>
      </pc:sldChg>
      <pc:sldChg chg="modSp add replId">
        <pc:chgData name="Robert PLEVÁK" userId="S::robert.plevak@teleinformatika.eu::3db99daf-a19f-47ef-8c4e-e0df49c8875a" providerId="AD" clId="Web-{10D9FB8A-114D-370A-3D8B-17ACC5E0FDDD}" dt="2023-02-21T21:19:39.405" v="54" actId="20577"/>
        <pc:sldMkLst>
          <pc:docMk/>
          <pc:sldMk cId="3833543902" sldId="269"/>
        </pc:sldMkLst>
        <pc:spChg chg="mod">
          <ac:chgData name="Robert PLEVÁK" userId="S::robert.plevak@teleinformatika.eu::3db99daf-a19f-47ef-8c4e-e0df49c8875a" providerId="AD" clId="Web-{10D9FB8A-114D-370A-3D8B-17ACC5E0FDDD}" dt="2023-02-21T21:15:58.023" v="33" actId="20577"/>
          <ac:spMkLst>
            <pc:docMk/>
            <pc:sldMk cId="3833543902" sldId="269"/>
            <ac:spMk id="2" creationId="{2370F6E9-111F-1D46-8270-49A1780A64FD}"/>
          </ac:spMkLst>
        </pc:spChg>
        <pc:spChg chg="mod">
          <ac:chgData name="Robert PLEVÁK" userId="S::robert.plevak@teleinformatika.eu::3db99daf-a19f-47ef-8c4e-e0df49c8875a" providerId="AD" clId="Web-{10D9FB8A-114D-370A-3D8B-17ACC5E0FDDD}" dt="2023-02-21T21:19:39.405" v="54" actId="20577"/>
          <ac:spMkLst>
            <pc:docMk/>
            <pc:sldMk cId="3833543902" sldId="269"/>
            <ac:spMk id="3" creationId="{D7AE8293-2911-24E9-2020-226795CD75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02E5C9-586A-4766-EB57-18CCABDB2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5F3ACE2-9D01-2880-0649-9C369A4C0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CA65182-ED21-98E2-ED7D-7719C7240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0B3427-B8B9-2EF0-3ED7-7907C971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1E2A669-C602-9E03-9922-75C1BD03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431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557315-976E-9BAE-0A18-08C26BB7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491756-7E7C-E0E3-D4BE-FAE22CA87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DF6B8F-3E60-A2A7-9A31-1E3BED0C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FEA7ECE-B8D7-EE1E-560E-BB909CE5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0AF6A3B-BDE8-108F-DA93-8096E228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681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A892F9-1084-6F6B-B2FC-F3E1676B0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62229C-D884-6E09-B6EF-3B33DC77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89F96B3-F924-BBD0-9579-D70771BC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BC4D4EA-A38A-154B-4597-38744639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35B2AB-3D51-F80F-DF4A-5423ECA0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756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09AA5-BCDD-FBF0-0F1E-871431EC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B65A62-D8DB-A555-AB29-E3FDC8B79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C9C63B-FE63-1DEF-AB2C-69CA26514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DD4B7CD-ED9D-AACF-0829-6F0DEAF4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084EE4-D9F4-279B-2638-B1C799E6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75959BD-DFCA-A022-3C99-552AA9F7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075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A1202A-C1ED-BC2E-434C-511385415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3297C05-1D6E-BFC8-E508-089FA4DE9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B5029F6-2E88-E1D0-588E-8988313A7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773839F-3261-E554-B0D8-01D5B0860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B65E77E-5580-BF24-83B1-25CCA9DC1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B4AF2B5-E4C1-D3E6-998D-CBB210F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313B98F-DF39-1EB4-A9C5-3E32D60D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69035D8-B83F-19CB-527C-0BC03016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979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6718C1-D6DA-4DFD-E584-E87FBDD9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91A0F4B-226E-C8C1-6A31-5BFA707B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8F548C2-97AD-C645-4C9B-6F61C04A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9F928FA-82F1-05D1-334C-37C7D74B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3411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D30CE72-8B8B-CBBE-ED5A-176A369AD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5E209AE5-FDBC-12A3-0379-C77F5DCC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2499222-734D-A8A9-2905-EFA9BF8D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1731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FFD6AD-EEE3-3255-9C37-4F96FD50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C2020-6366-B084-175B-723C22840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8D4D1E7-59CB-B1A4-9D6F-6D117F2B3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789780D-EDEF-7EBA-153E-9EFF06EE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5430545-E344-B8BE-E934-94CA529F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F85A67F-1E86-79BE-B25C-D78876AD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1770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164401-96C3-E209-0AED-FE4D63E6C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61478FB-C30C-E214-BDC4-D73300B2A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7F90293-DA80-124A-9768-27D5ADFEF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4417FC4-F859-BFE0-7A9B-0167E9459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CF76B5D-121C-57D4-0979-B942D3E0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D5082F5-8FF0-2315-1058-C0A0F3654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513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BEC766-2FB1-CB5C-60F2-CA49E22F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BAC3544-DFAB-02B0-1B1B-8EC7A41DC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25F5721-7135-9D5C-4D15-82ADE248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CE52BA-481A-6C44-3B63-4B288A61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8E18F3-0CC5-4914-A88C-7AE1EB52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871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50AC8B2-FF3A-5AD7-D18F-33E02BC90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8213335-0763-35CC-02F5-AFCA8C5AC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3F1B50B-5293-2D24-5FE7-5E372B9C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A3743CC-D29D-19E9-A05C-EC0DAE18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AEFF2EA-AED1-3EBB-3804-9F0C1063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011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811D5E0-6480-4C20-7CB4-FD60D8BF8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4B6896D-2DB9-3BF1-9D87-1640076E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BC32CE7-C82B-4C70-AD5D-4C7FD1F545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2E933-104D-413E-9BA1-B14C612DFBD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D1D6C2-2A62-8DDD-C716-F404DE21B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55A634-99FB-8C54-B0C9-7D9F55109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E9DA1-BD83-4550-BA91-23A4A03C57A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026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cdn.alza.cz/Foto/ImgGalery/Image/Article/instalace-procesoru-intel-do-patice-zakladni-desky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hyperlink" Target="https://cdn.alza.cz/Foto/ImgGalery/Image/Article/umisteni-procesoru-intel-do-patice-zakladni-desky.JP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cdn.alza.cz/Foto/ImgGalery/Image/Article/jak-umistit-procesor-amd-do-patice-socketu-zakladni-desky.JP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alza.cz/Foto/ImgGalery/Image/Article/jak-zapojit-operacni-pamet-ram-do-zakladni-desky.JPG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dn.alza.cz/Foto/ImgGalery/Image/Article/navod-jak-umistit-ram-do-zakladni-desky.JPG" TargetMode="Externa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cworld.cz/clanky/jak-se-vyvarovat-beznych-chyb-pri-stavbe-pc-2-dil/" TargetMode="External"/><Relationship Id="rId7" Type="http://schemas.openxmlformats.org/officeDocument/2006/relationships/hyperlink" Target="https://www.youtube.com/watch?v=BL4DCEp7blY" TargetMode="External"/><Relationship Id="rId2" Type="http://schemas.openxmlformats.org/officeDocument/2006/relationships/hyperlink" Target="https://www.pcworld.cz/clanky/jak-se-vyvarovat-beznych-chyb-pri-stavbe-pc-1-di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lza.cz/jak-postavit-pc" TargetMode="External"/><Relationship Id="rId5" Type="http://schemas.openxmlformats.org/officeDocument/2006/relationships/hyperlink" Target="https://www.pcworld.cz/clanky/jak-se-vyvarovat-beznych-chyb-pri-stavbe-pc-4-dil/" TargetMode="External"/><Relationship Id="rId4" Type="http://schemas.openxmlformats.org/officeDocument/2006/relationships/hyperlink" Target="https://www.pcworld.cz/clanky/jak-se-vyvarovat-beznych-chyb-pri-stavbe-pc-3-d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50428A-A0FE-4718-BB52-1A3BDBF51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428E7C-CF72-4177-B907-662EDCB35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884544" y="2265762"/>
            <a:ext cx="6329167" cy="2547872"/>
            <a:chOff x="-2412483" y="5117355"/>
            <a:chExt cx="4342728" cy="174821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E2C38613-1CC6-42DF-9D5B-1C3CFF915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66174" y="5117355"/>
              <a:ext cx="3496419" cy="174821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A88567F-0B25-4895-A6DF-304638BE5B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412483" y="6202815"/>
              <a:ext cx="1325500" cy="662750"/>
            </a:xfrm>
            <a:prstGeom prst="triangl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B7A2B20-C280-41CF-965D-FA68DA2BD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883073" y="-1094168"/>
            <a:ext cx="4864676" cy="3807333"/>
          </a:xfrm>
          <a:custGeom>
            <a:avLst/>
            <a:gdLst>
              <a:gd name="connsiteX0" fmla="*/ 0 w 4864676"/>
              <a:gd name="connsiteY0" fmla="*/ 3191201 h 3807333"/>
              <a:gd name="connsiteX1" fmla="*/ 3191202 w 4864676"/>
              <a:gd name="connsiteY1" fmla="*/ 0 h 3807333"/>
              <a:gd name="connsiteX2" fmla="*/ 4864676 w 4864676"/>
              <a:gd name="connsiteY2" fmla="*/ 1673474 h 3807333"/>
              <a:gd name="connsiteX3" fmla="*/ 4864676 w 4864676"/>
              <a:gd name="connsiteY3" fmla="*/ 3807333 h 3807333"/>
              <a:gd name="connsiteX4" fmla="*/ 0 w 4864676"/>
              <a:gd name="connsiteY4" fmla="*/ 3807333 h 380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3807333">
                <a:moveTo>
                  <a:pt x="0" y="3191201"/>
                </a:moveTo>
                <a:lnTo>
                  <a:pt x="3191202" y="0"/>
                </a:lnTo>
                <a:lnTo>
                  <a:pt x="4864676" y="1673474"/>
                </a:lnTo>
                <a:lnTo>
                  <a:pt x="4864676" y="3807333"/>
                </a:lnTo>
                <a:lnTo>
                  <a:pt x="0" y="3807333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CF218E6-E246-4EBB-BA8D-DB65AB59A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283537" y="3632636"/>
            <a:ext cx="1185708" cy="1185708"/>
          </a:xfrm>
          <a:custGeom>
            <a:avLst/>
            <a:gdLst>
              <a:gd name="connsiteX0" fmla="*/ 0 w 1185708"/>
              <a:gd name="connsiteY0" fmla="*/ 0 h 1185708"/>
              <a:gd name="connsiteX1" fmla="*/ 454971 w 1185708"/>
              <a:gd name="connsiteY1" fmla="*/ 0 h 1185708"/>
              <a:gd name="connsiteX2" fmla="*/ 1185708 w 1185708"/>
              <a:gd name="connsiteY2" fmla="*/ 730737 h 1185708"/>
              <a:gd name="connsiteX3" fmla="*/ 1185708 w 1185708"/>
              <a:gd name="connsiteY3" fmla="*/ 1185708 h 1185708"/>
              <a:gd name="connsiteX4" fmla="*/ 0 w 1185708"/>
              <a:gd name="connsiteY4" fmla="*/ 1185708 h 1185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5708" h="1185708">
                <a:moveTo>
                  <a:pt x="0" y="0"/>
                </a:moveTo>
                <a:lnTo>
                  <a:pt x="454971" y="0"/>
                </a:lnTo>
                <a:lnTo>
                  <a:pt x="1185708" y="730737"/>
                </a:lnTo>
                <a:lnTo>
                  <a:pt x="1185708" y="1185708"/>
                </a:lnTo>
                <a:lnTo>
                  <a:pt x="0" y="118570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B9D26D-939B-4838-886B-07E227F3A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303927" y="5624986"/>
            <a:ext cx="989294" cy="98929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4816AD-26D3-4C16-8CD2-0AE877FBA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2" y="-723949"/>
            <a:ext cx="5389379" cy="5389379"/>
          </a:xfrm>
          <a:custGeom>
            <a:avLst/>
            <a:gdLst>
              <a:gd name="connsiteX0" fmla="*/ 0 w 5389379"/>
              <a:gd name="connsiteY0" fmla="*/ 2602331 h 5389379"/>
              <a:gd name="connsiteX1" fmla="*/ 2602331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5389379 h 5389379"/>
              <a:gd name="connsiteX4" fmla="*/ 0 w 5389379"/>
              <a:gd name="connsiteY4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9379" h="5389379">
                <a:moveTo>
                  <a:pt x="0" y="2602331"/>
                </a:moveTo>
                <a:lnTo>
                  <a:pt x="2602331" y="0"/>
                </a:lnTo>
                <a:lnTo>
                  <a:pt x="5389379" y="0"/>
                </a:lnTo>
                <a:lnTo>
                  <a:pt x="5389379" y="5389379"/>
                </a:lnTo>
                <a:lnTo>
                  <a:pt x="0" y="53893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Deska s elektronickými obvody">
            <a:extLst>
              <a:ext uri="{FF2B5EF4-FFF2-40B4-BE49-F238E27FC236}">
                <a16:creationId xmlns:a16="http://schemas.microsoft.com/office/drawing/2014/main" id="{AA383A0A-90D6-63C9-58D6-82A0A07EDD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rcRect l="12005"/>
          <a:stretch/>
        </p:blipFill>
        <p:spPr>
          <a:xfrm>
            <a:off x="2285133" y="10"/>
            <a:ext cx="7621733" cy="5781597"/>
          </a:xfrm>
          <a:custGeom>
            <a:avLst/>
            <a:gdLst/>
            <a:ahLst/>
            <a:cxnLst/>
            <a:rect l="l" t="t" r="r" b="b"/>
            <a:pathLst>
              <a:path w="7621733" h="5781607">
                <a:moveTo>
                  <a:pt x="1970741" y="0"/>
                </a:moveTo>
                <a:lnTo>
                  <a:pt x="5650993" y="0"/>
                </a:lnTo>
                <a:lnTo>
                  <a:pt x="7621733" y="1970741"/>
                </a:lnTo>
                <a:lnTo>
                  <a:pt x="3810867" y="5781607"/>
                </a:lnTo>
                <a:lnTo>
                  <a:pt x="0" y="1970741"/>
                </a:ln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49E75B4-6C35-495B-850B-28CDE6E39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4" y="-1424977"/>
            <a:ext cx="6791435" cy="6791435"/>
          </a:xfrm>
          <a:custGeom>
            <a:avLst/>
            <a:gdLst>
              <a:gd name="connsiteX0" fmla="*/ 0 w 6791435"/>
              <a:gd name="connsiteY0" fmla="*/ 4004387 h 6791435"/>
              <a:gd name="connsiteX1" fmla="*/ 81158 w 6791435"/>
              <a:gd name="connsiteY1" fmla="*/ 3923229 h 6791435"/>
              <a:gd name="connsiteX2" fmla="*/ 81158 w 6791435"/>
              <a:gd name="connsiteY2" fmla="*/ 6710277 h 6791435"/>
              <a:gd name="connsiteX3" fmla="*/ 6710277 w 6791435"/>
              <a:gd name="connsiteY3" fmla="*/ 6710277 h 6791435"/>
              <a:gd name="connsiteX4" fmla="*/ 6710277 w 6791435"/>
              <a:gd name="connsiteY4" fmla="*/ 81158 h 6791435"/>
              <a:gd name="connsiteX5" fmla="*/ 3923229 w 6791435"/>
              <a:gd name="connsiteY5" fmla="*/ 81158 h 6791435"/>
              <a:gd name="connsiteX6" fmla="*/ 4004387 w 6791435"/>
              <a:gd name="connsiteY6" fmla="*/ 0 h 6791435"/>
              <a:gd name="connsiteX7" fmla="*/ 6791435 w 6791435"/>
              <a:gd name="connsiteY7" fmla="*/ 0 h 6791435"/>
              <a:gd name="connsiteX8" fmla="*/ 6791435 w 6791435"/>
              <a:gd name="connsiteY8" fmla="*/ 6791435 h 6791435"/>
              <a:gd name="connsiteX9" fmla="*/ 0 w 6791435"/>
              <a:gd name="connsiteY9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91435" h="6791435">
                <a:moveTo>
                  <a:pt x="0" y="4004387"/>
                </a:moveTo>
                <a:lnTo>
                  <a:pt x="81158" y="3923229"/>
                </a:lnTo>
                <a:lnTo>
                  <a:pt x="81158" y="6710277"/>
                </a:lnTo>
                <a:lnTo>
                  <a:pt x="6710277" y="6710277"/>
                </a:lnTo>
                <a:lnTo>
                  <a:pt x="6710277" y="81158"/>
                </a:lnTo>
                <a:lnTo>
                  <a:pt x="3923229" y="81158"/>
                </a:lnTo>
                <a:lnTo>
                  <a:pt x="4004387" y="0"/>
                </a:lnTo>
                <a:lnTo>
                  <a:pt x="6791435" y="0"/>
                </a:lnTo>
                <a:lnTo>
                  <a:pt x="679143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64ADE07-A60A-8472-4348-317F17ACC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7021" y="89538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cs-CZ" sz="3600" dirty="0">
                <a:solidFill>
                  <a:srgbClr val="080808"/>
                </a:solidFill>
              </a:rPr>
              <a:t>Stavba počítače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0EB2D58A-B2F2-4B07-9595-4FED1037F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67461" y="5398157"/>
            <a:ext cx="2934814" cy="146740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DEB95C3F-0968-4E23-80BD-35CE22E83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5580" y="5117355"/>
            <a:ext cx="3496419" cy="174821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6E9C92B-1893-4BFE-B7CF-905EB3F87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49271" y="5949259"/>
            <a:ext cx="1832612" cy="916306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9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2F8DCD"/>
                </a:solidFill>
                <a:effectLst/>
                <a:latin typeface="Arial" panose="020B0604020202020204" pitchFamily="34" charset="0"/>
              </a:rPr>
              <a:t>Co vše potřebuji k sestavení PC</a:t>
            </a:r>
            <a:br>
              <a:rPr lang="cs-CZ" b="1" i="0" dirty="0">
                <a:solidFill>
                  <a:srgbClr val="2F8DCD"/>
                </a:solidFill>
                <a:effectLst/>
                <a:latin typeface="Arial" panose="020B0604020202020204" pitchFamily="34" charset="0"/>
              </a:rPr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cs-CZ" b="0" i="0" dirty="0">
                <a:effectLst/>
                <a:latin typeface="Verdana" panose="020B0604030504040204" pitchFamily="34" charset="0"/>
              </a:rPr>
              <a:t>Procesor, případně chlazení na procesor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dirty="0">
                <a:effectLst/>
                <a:latin typeface="Verdana" panose="020B0604030504040204" pitchFamily="34" charset="0"/>
              </a:rPr>
              <a:t>Základní desku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dirty="0">
                <a:effectLst/>
                <a:latin typeface="Verdana" panose="020B0604030504040204" pitchFamily="34" charset="0"/>
              </a:rPr>
              <a:t>Operační paměti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dirty="0">
                <a:effectLst/>
                <a:latin typeface="Verdana" panose="020B0604030504040204" pitchFamily="34" charset="0"/>
              </a:rPr>
              <a:t>Grafickou kartu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dirty="0">
                <a:effectLst/>
                <a:latin typeface="Verdana" panose="020B0604030504040204" pitchFamily="34" charset="0"/>
              </a:rPr>
              <a:t>SSD nebo HDD disky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dirty="0">
                <a:effectLst/>
                <a:latin typeface="Verdana" panose="020B0604030504040204" pitchFamily="34" charset="0"/>
              </a:rPr>
              <a:t>Napájecí zdroj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dirty="0">
                <a:effectLst/>
                <a:latin typeface="Verdana" panose="020B0604030504040204" pitchFamily="34" charset="0"/>
              </a:rPr>
              <a:t>Počítačovou skříň a chlazení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7587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l-PL" b="1" i="0" dirty="0">
                <a:solidFill>
                  <a:srgbClr val="2F8DCD"/>
                </a:solidFill>
                <a:effectLst/>
                <a:latin typeface="Arial" panose="020B0604020202020204" pitchFamily="34" charset="0"/>
              </a:rPr>
              <a:t>Jak vybrat komponenty pro stavbu PC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Pro výběr komponentů existují různé stránky. Jedna z těch zajímavějších je anglická stránka pcpartpicker.com která poradí nejen s výběrem komponentů pro sestavu ale taky upozorní na nekompatibilitu systému.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3CA9ED7-6B85-2B40-085D-76664DB91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319" y="2971541"/>
            <a:ext cx="5938416" cy="3340359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B2164CB-EE0A-5F95-AF35-EAA7CF5C9C58}"/>
              </a:ext>
            </a:extLst>
          </p:cNvPr>
          <p:cNvSpPr txBox="1"/>
          <p:nvPr/>
        </p:nvSpPr>
        <p:spPr>
          <a:xfrm>
            <a:off x="838201" y="3244334"/>
            <a:ext cx="5067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/>
              <a:t>Pro ty co anglicky nemluvící má například Alza jejich vlastní omezený konfigurátor</a:t>
            </a:r>
          </a:p>
        </p:txBody>
      </p:sp>
    </p:spTree>
    <p:extLst>
      <p:ext uri="{BB962C8B-B14F-4D97-AF65-F5344CB8AC3E}">
        <p14:creationId xmlns:p14="http://schemas.microsoft.com/office/powerpoint/2010/main" val="240654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b="1" i="0" dirty="0">
                <a:solidFill>
                  <a:srgbClr val="2F8DCD"/>
                </a:solidFill>
                <a:effectLst/>
                <a:latin typeface="Arial" panose="020B0604020202020204" pitchFamily="34" charset="0"/>
              </a:rPr>
              <a:t>Stavba PC krok za krokem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Umístění procesoru do patice</a:t>
            </a:r>
          </a:p>
          <a:p>
            <a:pPr marL="0" indent="0" algn="l">
              <a:buNone/>
            </a:pPr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Zapojení operačních pamětí</a:t>
            </a:r>
          </a:p>
          <a:p>
            <a:pPr marL="0" indent="0" algn="l">
              <a:buNone/>
            </a:pPr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Instalace chladiče na procesor</a:t>
            </a:r>
          </a:p>
          <a:p>
            <a:pPr marL="0" indent="0" algn="l">
              <a:buNone/>
            </a:pPr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Eventuálně připojení dedikované grafické karty</a:t>
            </a:r>
          </a:p>
          <a:p>
            <a:pPr marL="0" indent="0" algn="l">
              <a:buNone/>
            </a:pPr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Připojení SSD disku</a:t>
            </a:r>
          </a:p>
          <a:p>
            <a:pPr marL="0" indent="0" algn="l">
              <a:buNone/>
            </a:pPr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Zapojení napájecích kabelů ze zdroje do základní desky, grafické karty, SSD disku a chlazení</a:t>
            </a:r>
          </a:p>
          <a:p>
            <a:pPr marL="0" indent="0" algn="l">
              <a:buNone/>
            </a:pPr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Instalace komponentů do počítačové skříně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02841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105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 b="0" i="0" dirty="0">
                <a:solidFill>
                  <a:srgbClr val="2F8DCD"/>
                </a:solidFill>
                <a:effectLst/>
                <a:latin typeface="Verdana" panose="020B0604030504040204" pitchFamily="34" charset="0"/>
              </a:rPr>
              <a:t>Umístění procesoru do patice INTEL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940" y="1782961"/>
            <a:ext cx="4008384" cy="4393982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Jde asi o nejnáročnější část celé stavby počítače. Piny (jehličky) v patici jsou velmi jemné a nesmí se při montáži PC poškodit (ohnout, povytáhnout či dokonce zlomit). Poškozená patice je špatně opravitelná a vy byste navíc přišli o záruku na základní desku.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 Nejdříve otevřete patici pomocí zámku (viz manuál k desce). Při podrobnějším prozkoumání patice a procesoru zjistíte, že oba komponenty mají shodné osazení.</a:t>
            </a:r>
            <a:endParaRPr kumimoji="0" lang="cs-CZ" altLang="cs-CZ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Na vnitřní straně rámečku patice se nacházejí výstupky, které jsou shodné s obloučkovými výkroji na procesoru. To zajišťuje jediné možné a správné osazení procesoru. Na procesoru i na držáku patice je malá šipka. Ta určuje, jakou stranou se má procesor do patice vložit. Procesor se musí vkládat opatrně a vodorovně tak, aby zapadl do patice na první pokus. V žádném případě nikdy nerovnejte procesor až v patici, raději jej zvedněte a zkuste to znovu.</a:t>
            </a:r>
            <a:endParaRPr kumimoji="0" lang="cs-CZ" altLang="cs-CZ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cs-CZ" altLang="cs-CZ" sz="1100" b="0" i="0" u="sng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      </a:t>
            </a:r>
            <a:endParaRPr kumimoji="0" lang="cs-CZ" altLang="cs-CZ" sz="11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Některé základní desky mají v příslušenství pomůcku pro instalaci procesoru, většinou jde o desky s </a:t>
            </a:r>
            <a:r>
              <a:rPr kumimoji="0" lang="cs-CZ" altLang="cs-CZ" sz="1100" b="0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Z170 a Z270 chipsetem</a:t>
            </a:r>
            <a:r>
              <a:rPr kumimoji="0" lang="cs-CZ" altLang="cs-CZ" sz="11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. Jakmile je procesor v patici, zavřete zámek patice a je hotovo.</a:t>
            </a:r>
            <a:endParaRPr kumimoji="0" lang="cs-CZ" altLang="cs-CZ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pSp>
        <p:nvGrpSpPr>
          <p:cNvPr id="1063" name="Group 1053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064" name="Rectangle 1054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Isosceles Triangle 1055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66" name="Group 1057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059" name="Isosceles Triangle 1058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Rectangle 1059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7" name="Picture 3" descr="Jak sestavit PC. Instalace procesoru Intel do patice (socketu) základní desky">
            <a:hlinkClick r:id="rId2"/>
            <a:extLst>
              <a:ext uri="{FF2B5EF4-FFF2-40B4-BE49-F238E27FC236}">
                <a16:creationId xmlns:a16="http://schemas.microsoft.com/office/drawing/2014/main" id="{463DD0EE-A34C-137D-FA5A-4108C32553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8" b="4"/>
          <a:stretch/>
        </p:blipFill>
        <p:spPr bwMode="auto">
          <a:xfrm>
            <a:off x="8299777" y="2174370"/>
            <a:ext cx="3047033" cy="361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Jak postavit PC. Umístění procesoru Intel do patice základní desky">
            <a:hlinkClick r:id="rId4"/>
            <a:extLst>
              <a:ext uri="{FF2B5EF4-FFF2-40B4-BE49-F238E27FC236}">
                <a16:creationId xmlns:a16="http://schemas.microsoft.com/office/drawing/2014/main" id="{D6C54A22-2067-A498-3065-C4E595C5F6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1" r="1" b="2374"/>
          <a:stretch/>
        </p:blipFill>
        <p:spPr bwMode="auto">
          <a:xfrm>
            <a:off x="5079513" y="2174331"/>
            <a:ext cx="3047033" cy="361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376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Rectangle 107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4970877" cy="1135737"/>
          </a:xfrm>
        </p:spPr>
        <p:txBody>
          <a:bodyPr>
            <a:normAutofit/>
          </a:bodyPr>
          <a:lstStyle/>
          <a:p>
            <a:r>
              <a:rPr lang="cs-CZ" sz="3600" b="0" i="0" dirty="0">
                <a:solidFill>
                  <a:srgbClr val="2F8DCD"/>
                </a:solidFill>
                <a:effectLst/>
                <a:latin typeface="Verdana" panose="020B0604030504040204" pitchFamily="34" charset="0"/>
              </a:rPr>
              <a:t>Umístění procesoru do patice </a:t>
            </a:r>
            <a:r>
              <a:rPr kumimoji="0" lang="cs-CZ" altLang="cs-CZ" sz="3600" i="0" u="none" strike="noStrike" cap="none" normalizeH="0" baseline="0" dirty="0">
                <a:ln>
                  <a:noFill/>
                </a:ln>
                <a:solidFill>
                  <a:srgbClr val="2F8DC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AMD</a:t>
            </a:r>
            <a:r>
              <a:rPr kumimoji="0" lang="cs-CZ" altLang="cs-CZ" sz="3600" b="1" i="0" u="none" strike="noStrike" cap="none" normalizeH="0" baseline="0" dirty="0">
                <a:ln>
                  <a:noFill/>
                </a:ln>
                <a:solidFill>
                  <a:srgbClr val="2F8DC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cs-CZ" sz="3600" b="0" i="0" dirty="0">
              <a:solidFill>
                <a:srgbClr val="2F8DCD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782981"/>
            <a:ext cx="4970877" cy="4393982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cs-CZ" altLang="cs-CZ" sz="1700" b="0" i="0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Na rozdíl od procesorů Intel mají ty od AMD piny přímo na procesoru, a tak </a:t>
            </a:r>
            <a:r>
              <a:rPr kumimoji="0" lang="cs-CZ" altLang="cs-CZ" sz="17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je třeba dbát zvýšené pozornosti již při manipulaci. Celkové umístění do patice je ale jednodušší a méně riskantní. Otevřete patici vysunutím páčky do svislé polohy, umístěte procesor do patice dle šipek jako u Intelu (viz manuál desky) a patici opět uzamkněte přesunutím páčky zpět do vodorovné polohy. Procesor musí do patice zapadnout lehce a bez použití sebemenšího násilí.</a:t>
            </a:r>
            <a:endParaRPr kumimoji="0" lang="cs-CZ" altLang="cs-CZ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74" name="Isosceles Triangle 107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 descr="Jak postavit počítač. Návod, jak umístit procesor AMD do patice (socketu) základní desky">
            <a:hlinkClick r:id="rId2"/>
            <a:extLst>
              <a:ext uri="{FF2B5EF4-FFF2-40B4-BE49-F238E27FC236}">
                <a16:creationId xmlns:a16="http://schemas.microsoft.com/office/drawing/2014/main" id="{BECAD652-8821-53D3-1D33-6C8AD31DB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7813" y="770346"/>
            <a:ext cx="5290720" cy="531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15CBE6EC-46EF-45D9-8E16-DCDC5917C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1079" name="Isosceles Triangle 1078">
              <a:extLst>
                <a:ext uri="{FF2B5EF4-FFF2-40B4-BE49-F238E27FC236}">
                  <a16:creationId xmlns:a16="http://schemas.microsoft.com/office/drawing/2014/main" id="{DEEDCD65-9740-4F34-BDF1-9C068E053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4B3DA7FD-5CC0-46D1-9DFB-5BAF6BE2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11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06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 b="0" i="0" dirty="0">
                <a:solidFill>
                  <a:srgbClr val="2F8DCD"/>
                </a:solidFill>
                <a:effectLst/>
                <a:latin typeface="Verdana" panose="020B0604030504040204" pitchFamily="34" charset="0"/>
              </a:rPr>
              <a:t>Zapojení operačních pamětí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cs-CZ" sz="2000" b="0" i="0">
              <a:effectLst/>
              <a:latin typeface="Verdana" panose="020B0604030504040204" pitchFamily="34" charset="0"/>
            </a:endParaRPr>
          </a:p>
          <a:p>
            <a:endParaRPr lang="cs-CZ" sz="2000"/>
          </a:p>
        </p:txBody>
      </p:sp>
      <p:grpSp>
        <p:nvGrpSpPr>
          <p:cNvPr id="2071" name="Group 2070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072" name="Rectangle 2071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3" name="Isosceles Triangle 2072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2076" name="Isosceles Triangle 2075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7" name="Rectangle 2076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3" name="Picture 5" descr="Jak sestavit počítač. Návod, jak připojit operační paměť (RAM) k základní desce">
            <a:extLst>
              <a:ext uri="{FF2B5EF4-FFF2-40B4-BE49-F238E27FC236}">
                <a16:creationId xmlns:a16="http://schemas.microsoft.com/office/drawing/2014/main" id="{478C034F-35D9-AA02-8E44-1F083FAA5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7866" y="4753665"/>
            <a:ext cx="5178800" cy="208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Stavba počítače. Jak zapojit operační paměť (RAM) k zákládní desce">
            <a:hlinkClick r:id="rId3"/>
            <a:extLst>
              <a:ext uri="{FF2B5EF4-FFF2-40B4-BE49-F238E27FC236}">
                <a16:creationId xmlns:a16="http://schemas.microsoft.com/office/drawing/2014/main" id="{5E91706A-14EB-F15A-0596-F2D881710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60392" y="1164130"/>
            <a:ext cx="2858897" cy="385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Jak sestavit počítač. Návod, jak připojit operační paměť (RAM) k základní desce">
            <a:hlinkClick r:id="rId5"/>
            <a:extLst>
              <a:ext uri="{FF2B5EF4-FFF2-40B4-BE49-F238E27FC236}">
                <a16:creationId xmlns:a16="http://schemas.microsoft.com/office/drawing/2014/main" id="{2E8B7285-EAF4-0BF2-6628-07E4B2578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563938"/>
            <a:ext cx="54102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B9BA6CD8-1ABE-295F-A5AF-4486BFA535B8}"/>
              </a:ext>
            </a:extLst>
          </p:cNvPr>
          <p:cNvSpPr txBox="1"/>
          <p:nvPr/>
        </p:nvSpPr>
        <p:spPr>
          <a:xfrm>
            <a:off x="1014060" y="1457471"/>
            <a:ext cx="58812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Instalace operačních pamětí se může lišit dle typu a modelu základní desky. Některé mají pouze dva paměťové sloty, jiné čtyři. U desek s dvěma sloty osazujeme oba, u desek s čtyřmi pak minimálně dva, aby byl zajištěn chod </a:t>
            </a:r>
            <a:r>
              <a:rPr lang="cs-CZ" b="0" i="0" dirty="0" err="1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dual-channelu</a:t>
            </a:r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. Správné pořadí u vaší desky opět prozradí manuál.</a:t>
            </a:r>
          </a:p>
          <a:p>
            <a:endParaRPr lang="cs-CZ" dirty="0">
              <a:solidFill>
                <a:srgbClr val="373737"/>
              </a:solidFill>
              <a:latin typeface="Verdana" panose="020B0604030504040204" pitchFamily="34" charset="0"/>
            </a:endParaRPr>
          </a:p>
          <a:p>
            <a:r>
              <a:rPr kumimoji="0" lang="cs-CZ" altLang="cs-CZ" sz="1800" b="0" i="0" u="sng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     </a:t>
            </a:r>
          </a:p>
          <a:p>
            <a:endParaRPr lang="cs-CZ" dirty="0">
              <a:solidFill>
                <a:srgbClr val="373737"/>
              </a:solidFill>
              <a:latin typeface="Verdana" panose="020B0604030504040204" pitchFamily="34" charset="0"/>
            </a:endParaRPr>
          </a:p>
          <a:p>
            <a:r>
              <a:rPr lang="cs-CZ" b="0" i="0" dirty="0">
                <a:solidFill>
                  <a:srgbClr val="373737"/>
                </a:solidFill>
                <a:effectLst/>
                <a:latin typeface="Verdana" panose="020B0604030504040204" pitchFamily="34" charset="0"/>
              </a:rPr>
              <a:t>Na obrázku vidíte správný postup instalace paměťového modulu do DIMM slotu. Modul musí zapadnout do slotu úplně, někdy může být vyžadována lehká síla, aby se západka (viz obrázek) dovřela..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66291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05" name="Group 4104">
            <a:extLst>
              <a:ext uri="{FF2B5EF4-FFF2-40B4-BE49-F238E27FC236}">
                <a16:creationId xmlns:a16="http://schemas.microsoft.com/office/drawing/2014/main" id="{287F69AB-2350-44E3-9076-00265B93F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1"/>
            <a:ext cx="972709" cy="1935307"/>
            <a:chOff x="10918968" y="713127"/>
            <a:chExt cx="1273032" cy="2532832"/>
          </a:xfrm>
        </p:grpSpPr>
        <p:sp>
          <p:nvSpPr>
            <p:cNvPr id="4106" name="Rectangle 4105">
              <a:extLst>
                <a:ext uri="{FF2B5EF4-FFF2-40B4-BE49-F238E27FC236}">
                  <a16:creationId xmlns:a16="http://schemas.microsoft.com/office/drawing/2014/main" id="{D70652AA-1C81-481C-856B-903714375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7" name="Isosceles Triangle 4106">
              <a:extLst>
                <a:ext uri="{FF2B5EF4-FFF2-40B4-BE49-F238E27FC236}">
                  <a16:creationId xmlns:a16="http://schemas.microsoft.com/office/drawing/2014/main" id="{A2FF99B6-37BA-4650-B01D-799F02E31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 b="0" i="0">
                <a:effectLst/>
                <a:latin typeface="Verdana" panose="020B0604030504040204" pitchFamily="34" charset="0"/>
              </a:rPr>
              <a:t>Instalace chladiče na procesor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D76EBC8-AE41-9DAB-516E-752A450F3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782981"/>
            <a:ext cx="6253214" cy="281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4052" y="1782981"/>
            <a:ext cx="4004479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dirty="0"/>
              <a:t>Chladič by se měl nejlépe instalovat podle návodu přiloženého u zakoupeného chladiče. U Intel procesorů 6. a 7. generace si dejte velký pozor na rovnoměrné utahování. </a:t>
            </a:r>
          </a:p>
          <a:p>
            <a:pPr marL="0" indent="0">
              <a:buNone/>
            </a:pPr>
            <a:r>
              <a:rPr lang="cs-CZ" sz="2000" dirty="0"/>
              <a:t>Postupujeme pomalu a s citem, šrouby utahujte nejlépe křížem a postupně. </a:t>
            </a:r>
          </a:p>
          <a:p>
            <a:pPr marL="0" indent="0">
              <a:buNone/>
            </a:pPr>
            <a:r>
              <a:rPr lang="cs-CZ" sz="2000" dirty="0"/>
              <a:t>Tyto procesory mají totiž velmi tenké tištěné spoje a mají tendenci se v rozích ohýbat. </a:t>
            </a:r>
          </a:p>
        </p:txBody>
      </p:sp>
      <p:grpSp>
        <p:nvGrpSpPr>
          <p:cNvPr id="4109" name="Group 4108">
            <a:extLst>
              <a:ext uri="{FF2B5EF4-FFF2-40B4-BE49-F238E27FC236}">
                <a16:creationId xmlns:a16="http://schemas.microsoft.com/office/drawing/2014/main" id="{3EA7D759-6BEF-4CBD-A325-BCFA77832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77940" y="4601497"/>
            <a:ext cx="1014060" cy="2017580"/>
            <a:chOff x="11177940" y="4601497"/>
            <a:chExt cx="1014060" cy="2017580"/>
          </a:xfrm>
        </p:grpSpPr>
        <p:sp>
          <p:nvSpPr>
            <p:cNvPr id="4110" name="Isosceles Triangle 4109">
              <a:extLst>
                <a:ext uri="{FF2B5EF4-FFF2-40B4-BE49-F238E27FC236}">
                  <a16:creationId xmlns:a16="http://schemas.microsoft.com/office/drawing/2014/main" id="{317405EC-53E3-473A-8B42-B9475D057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1067618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1" name="Rectangle 4110">
              <a:extLst>
                <a:ext uri="{FF2B5EF4-FFF2-40B4-BE49-F238E27FC236}">
                  <a16:creationId xmlns:a16="http://schemas.microsoft.com/office/drawing/2014/main" id="{C03F2370-11B5-4E16-8AE5-B4854408B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27850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5827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Rectangle 309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 b="1" i="0" dirty="0">
                <a:solidFill>
                  <a:srgbClr val="2F8DCD"/>
                </a:solidFill>
                <a:effectLst/>
                <a:latin typeface="Arial" panose="020B0604020202020204" pitchFamily="34" charset="0"/>
              </a:rPr>
              <a:t>Instalace grafické karty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dirty="0"/>
              <a:t>Dalším krokem stavby PC je montáž grafické karty. uchytí. Ve většině Většina dnešních grafických karet něco váží, a tak je potřeba při instalaci kartu neustále držet a podpírat, než se upevní v PCI-E 16x slotu, je to ten nejblíž k patici s procesorem. Při sestavování PC se v případě nejasností raději podívejte do manuálu desky. </a:t>
            </a:r>
          </a:p>
        </p:txBody>
      </p:sp>
      <p:grpSp>
        <p:nvGrpSpPr>
          <p:cNvPr id="3094" name="Group 3093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3095" name="Isosceles Triangle 3094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6" name="Rectangle 3095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 descr="Stavba PC. Návod, jak zapojit grafickou kartu (GPU) do základní desky přes PCIe konektor">
            <a:extLst>
              <a:ext uri="{FF2B5EF4-FFF2-40B4-BE49-F238E27FC236}">
                <a16:creationId xmlns:a16="http://schemas.microsoft.com/office/drawing/2014/main" id="{FAF8B5AA-1D78-6084-0ACF-A6F3FE401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06289" y="1782981"/>
            <a:ext cx="6231274" cy="436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98" name="Group 3097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3099" name="Rectangle 3098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0" name="Isosceles Triangle 3099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7110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2" name="Rectangle 514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44" name="Group 5143">
            <a:extLst>
              <a:ext uri="{FF2B5EF4-FFF2-40B4-BE49-F238E27FC236}">
                <a16:creationId xmlns:a16="http://schemas.microsoft.com/office/drawing/2014/main" id="{287F69AB-2350-44E3-9076-00265B93F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1"/>
            <a:ext cx="972709" cy="1935307"/>
            <a:chOff x="10918968" y="713127"/>
            <a:chExt cx="1273032" cy="2532832"/>
          </a:xfrm>
        </p:grpSpPr>
        <p:sp>
          <p:nvSpPr>
            <p:cNvPr id="5145" name="Rectangle 5144">
              <a:extLst>
                <a:ext uri="{FF2B5EF4-FFF2-40B4-BE49-F238E27FC236}">
                  <a16:creationId xmlns:a16="http://schemas.microsoft.com/office/drawing/2014/main" id="{D70652AA-1C81-481C-856B-903714375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6" name="Isosceles Triangle 5145">
              <a:extLst>
                <a:ext uri="{FF2B5EF4-FFF2-40B4-BE49-F238E27FC236}">
                  <a16:creationId xmlns:a16="http://schemas.microsoft.com/office/drawing/2014/main" id="{A2FF99B6-37BA-4650-B01D-799F02E31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 b="1" i="0">
                <a:effectLst/>
                <a:latin typeface="Arial" panose="020B0604020202020204" pitchFamily="34" charset="0"/>
              </a:rPr>
              <a:t> Zapojení SSD / HDD disku</a:t>
            </a:r>
          </a:p>
        </p:txBody>
      </p:sp>
      <p:pic>
        <p:nvPicPr>
          <p:cNvPr id="5124" name="Picture 4" descr="Jak sestavit PC. Zapojení pevného disku (HDD nebo SSD) k základní desce">
            <a:extLst>
              <a:ext uri="{FF2B5EF4-FFF2-40B4-BE49-F238E27FC236}">
                <a16:creationId xmlns:a16="http://schemas.microsoft.com/office/drawing/2014/main" id="{5083AED5-43F4-1D0D-DF80-4F631EBC0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0026" y="1782981"/>
            <a:ext cx="4520095" cy="436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9" name="Content Placeholder 5138">
            <a:extLst>
              <a:ext uri="{FF2B5EF4-FFF2-40B4-BE49-F238E27FC236}">
                <a16:creationId xmlns:a16="http://schemas.microsoft.com/office/drawing/2014/main" id="{06E79430-095E-6162-24CC-28F8FDF09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4052" y="1782981"/>
            <a:ext cx="4004479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dirty="0"/>
              <a:t>Hlavní SSD / HDD disk napojíme za pomocí SATA kabelu do sběrnice základové desky s číslem 1, můžeme použít </a:t>
            </a:r>
            <a:r>
              <a:rPr lang="cs-CZ" sz="2000" dirty="0" err="1"/>
              <a:t>aji</a:t>
            </a:r>
            <a:r>
              <a:rPr lang="cs-CZ" sz="2000" dirty="0"/>
              <a:t> jinačí čísla, ale pro nejlepší výkon se používá číslo 1 s rychlejší sběrnicí a kratší přístupovou dobou. </a:t>
            </a:r>
            <a:endParaRPr lang="en-US" sz="2000" dirty="0"/>
          </a:p>
        </p:txBody>
      </p:sp>
      <p:grpSp>
        <p:nvGrpSpPr>
          <p:cNvPr id="5148" name="Group 5147">
            <a:extLst>
              <a:ext uri="{FF2B5EF4-FFF2-40B4-BE49-F238E27FC236}">
                <a16:creationId xmlns:a16="http://schemas.microsoft.com/office/drawing/2014/main" id="{3EA7D759-6BEF-4CBD-A325-BCFA77832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77940" y="4601497"/>
            <a:ext cx="1014060" cy="2017580"/>
            <a:chOff x="11177940" y="4601497"/>
            <a:chExt cx="1014060" cy="2017580"/>
          </a:xfrm>
        </p:grpSpPr>
        <p:sp>
          <p:nvSpPr>
            <p:cNvPr id="5149" name="Isosceles Triangle 5148">
              <a:extLst>
                <a:ext uri="{FF2B5EF4-FFF2-40B4-BE49-F238E27FC236}">
                  <a16:creationId xmlns:a16="http://schemas.microsoft.com/office/drawing/2014/main" id="{317405EC-53E3-473A-8B42-B9475D057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1067618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0" name="Rectangle 5149">
              <a:extLst>
                <a:ext uri="{FF2B5EF4-FFF2-40B4-BE49-F238E27FC236}">
                  <a16:creationId xmlns:a16="http://schemas.microsoft.com/office/drawing/2014/main" id="{C03F2370-11B5-4E16-8AE5-B4854408B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27850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9864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b="1" i="0" dirty="0">
                <a:solidFill>
                  <a:srgbClr val="2F8DCD"/>
                </a:solidFill>
                <a:effectLst/>
                <a:latin typeface="Arial" panose="020B0604020202020204" pitchFamily="34" charset="0"/>
              </a:rPr>
              <a:t>Připojení napájecího zdroje k základní desce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08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Napájecí zdroj umístíme na určité místo a zapojíme přidělené kabely pro herní PC se umisťuje zdroj do spodní části počítačové bedny. Pro normální kancelářskou sestavu ho stačí umístit nahoru. Dále napojíme hlavní ATX 24 pro napájení desky a přídavný 4/8 pin pro procesor. Nadále zapojujeme příslušenství za pomocí SATA / MOLEX kabelu.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V balení zdroje najdeme </a:t>
            </a:r>
          </a:p>
          <a:p>
            <a:pPr marL="0" indent="0" algn="l" fontAlgn="base">
              <a:buNone/>
            </a:pPr>
            <a:r>
              <a:rPr lang="cs-CZ" b="0" i="0" dirty="0">
                <a:effectLst/>
                <a:latin typeface="inherit"/>
              </a:rPr>
              <a:t>ATX 24pin:</a:t>
            </a:r>
            <a:r>
              <a:rPr lang="cs-CZ" b="0" i="0" dirty="0">
                <a:effectLst/>
                <a:latin typeface="-apple-system"/>
              </a:rPr>
              <a:t> </a:t>
            </a:r>
            <a:r>
              <a:rPr lang="cs-CZ" b="1" i="0" dirty="0">
                <a:effectLst/>
                <a:latin typeface="inherit"/>
              </a:rPr>
              <a:t>1</a:t>
            </a:r>
            <a:endParaRPr lang="cs-CZ" b="0" i="0" dirty="0">
              <a:effectLst/>
              <a:latin typeface="-apple-system"/>
            </a:endParaRPr>
          </a:p>
          <a:p>
            <a:pPr marL="0" indent="0" algn="l" fontAlgn="base">
              <a:buNone/>
            </a:pPr>
            <a:r>
              <a:rPr lang="cs-CZ" b="0" i="0" dirty="0">
                <a:effectLst/>
                <a:latin typeface="inherit"/>
              </a:rPr>
              <a:t>CPU 4pin:</a:t>
            </a:r>
            <a:r>
              <a:rPr lang="cs-CZ" b="0" i="0" dirty="0">
                <a:effectLst/>
                <a:latin typeface="-apple-system"/>
              </a:rPr>
              <a:t> </a:t>
            </a:r>
            <a:r>
              <a:rPr lang="cs-CZ" b="1" i="0" dirty="0">
                <a:effectLst/>
                <a:latin typeface="inherit"/>
              </a:rPr>
              <a:t>4 </a:t>
            </a:r>
            <a:endParaRPr lang="cs-CZ" b="0" i="0" dirty="0">
              <a:effectLst/>
              <a:latin typeface="-apple-system"/>
            </a:endParaRPr>
          </a:p>
          <a:p>
            <a:pPr marL="0" indent="0" algn="l" fontAlgn="base">
              <a:buNone/>
            </a:pPr>
            <a:r>
              <a:rPr lang="cs-CZ" b="0" i="0" dirty="0">
                <a:effectLst/>
                <a:latin typeface="inherit"/>
              </a:rPr>
              <a:t>PCI-E 6+2pin:</a:t>
            </a:r>
            <a:r>
              <a:rPr lang="cs-CZ" b="0" i="0" dirty="0">
                <a:effectLst/>
                <a:latin typeface="-apple-system"/>
              </a:rPr>
              <a:t> </a:t>
            </a:r>
            <a:r>
              <a:rPr lang="cs-CZ" b="1" i="0" dirty="0">
                <a:effectLst/>
                <a:latin typeface="inherit"/>
              </a:rPr>
              <a:t>6 + </a:t>
            </a:r>
            <a:endParaRPr lang="cs-CZ" b="0" i="0" dirty="0">
              <a:effectLst/>
              <a:latin typeface="-apple-system"/>
            </a:endParaRPr>
          </a:p>
          <a:p>
            <a:pPr marL="0" indent="0" algn="l" fontAlgn="base">
              <a:buNone/>
            </a:pPr>
            <a:r>
              <a:rPr lang="cs-CZ" b="0" i="0" dirty="0">
                <a:effectLst/>
                <a:latin typeface="inherit"/>
              </a:rPr>
              <a:t>SATA:</a:t>
            </a:r>
            <a:r>
              <a:rPr lang="cs-CZ" b="0" i="0" dirty="0">
                <a:effectLst/>
                <a:latin typeface="-apple-system"/>
              </a:rPr>
              <a:t> </a:t>
            </a:r>
            <a:r>
              <a:rPr lang="cs-CZ" b="1" i="0" dirty="0">
                <a:effectLst/>
                <a:latin typeface="inherit"/>
              </a:rPr>
              <a:t>8 + </a:t>
            </a:r>
            <a:endParaRPr lang="cs-CZ" b="0" i="0" dirty="0">
              <a:effectLst/>
              <a:latin typeface="-apple-system"/>
            </a:endParaRPr>
          </a:p>
          <a:p>
            <a:pPr marL="0" indent="0" algn="l" fontAlgn="base">
              <a:buNone/>
            </a:pPr>
            <a:r>
              <a:rPr lang="cs-CZ" b="0" i="0" dirty="0">
                <a:effectLst/>
                <a:latin typeface="inherit"/>
              </a:rPr>
              <a:t>MOLEX:</a:t>
            </a:r>
            <a:r>
              <a:rPr lang="cs-CZ" b="0" i="0" dirty="0">
                <a:effectLst/>
                <a:latin typeface="-apple-system"/>
              </a:rPr>
              <a:t> </a:t>
            </a:r>
            <a:r>
              <a:rPr lang="cs-CZ" b="1" i="0" dirty="0">
                <a:effectLst/>
                <a:latin typeface="inherit"/>
              </a:rPr>
              <a:t>4 +</a:t>
            </a:r>
            <a:endParaRPr lang="cs-CZ" b="0" i="0" dirty="0">
              <a:effectLst/>
              <a:latin typeface="-apple-system"/>
            </a:endParaRP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6146" name="Picture 2" descr="Zalman ZM750-ARX - 750W_601201752">
            <a:extLst>
              <a:ext uri="{FF2B5EF4-FFF2-40B4-BE49-F238E27FC236}">
                <a16:creationId xmlns:a16="http://schemas.microsoft.com/office/drawing/2014/main" id="{F3824DAD-6710-267B-8720-A7ECBBA81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631" y="3093440"/>
            <a:ext cx="46482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861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225088F-0025-A3E1-5332-89B31893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 b="0" i="0">
                <a:effectLst/>
                <a:latin typeface="Verdana" panose="020B0604030504040204" pitchFamily="34" charset="0"/>
              </a:rPr>
              <a:t>Instalace komponentů do počítačové skříně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66CEE-EAF8-B422-0E4E-7140E498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782981"/>
            <a:ext cx="5938785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700" dirty="0"/>
              <a:t>Jako první přijde základová deska. Do ní pak jemně vložíme procesor který zaklapneme. Na procesor dáme kousíček termální pasty a přiložíme chladič. Některé hladiče už pastu mají jiné zase ne. Po upevnění vložíme. Další jsou na řadě RAM paměti, které zapojíme do příslušného slotu. </a:t>
            </a:r>
          </a:p>
          <a:p>
            <a:pPr marL="0" indent="0">
              <a:buNone/>
            </a:pPr>
            <a:r>
              <a:rPr lang="cs-CZ" sz="1700" dirty="0"/>
              <a:t>Pak desku namontujeme přes distanční sloupky. Po namontování můžeme napojit do PCI-e dedikovanou grafickou kartu. Po napojení grafické karty dáme do skříně zdroj a začneme napojovat kabely.</a:t>
            </a:r>
          </a:p>
          <a:p>
            <a:pPr marL="0" indent="0">
              <a:buNone/>
            </a:pPr>
            <a:r>
              <a:rPr lang="cs-CZ" sz="1700" dirty="0"/>
              <a:t>Nejprve se zapojí hlavní ATX kabel pro napájení základové desky. Pak 4/8 pin pro napojení CPU, zbylé SATY a </a:t>
            </a:r>
            <a:r>
              <a:rPr lang="cs-CZ" sz="1700" dirty="0" err="1"/>
              <a:t>MOLEXi</a:t>
            </a:r>
            <a:endParaRPr lang="cs-CZ" sz="1700" dirty="0"/>
          </a:p>
          <a:p>
            <a:pPr marL="0" indent="0">
              <a:buNone/>
            </a:pPr>
            <a:r>
              <a:rPr lang="cs-CZ" sz="1700" dirty="0"/>
              <a:t>V poslední části se napojíme JFP1 konektory.</a:t>
            </a:r>
            <a:br>
              <a:rPr lang="cs-CZ" sz="1700" dirty="0"/>
            </a:br>
            <a:br>
              <a:rPr lang="cs-CZ" sz="1700" dirty="0"/>
            </a:br>
            <a:endParaRPr lang="cs-CZ" sz="17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Obrázek 4">
            <a:extLst>
              <a:ext uri="{FF2B5EF4-FFF2-40B4-BE49-F238E27FC236}">
                <a16:creationId xmlns:a16="http://schemas.microsoft.com/office/drawing/2014/main" id="{82933967-388E-7AFC-81B1-1384E06BC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40" b="96145" l="9993" r="94105">
                        <a14:foregroundMark x1="12006" y1="33253" x2="11431" y2="28313"/>
                        <a14:foregroundMark x1="68728" y1="26747" x2="59741" y2="18675"/>
                        <a14:foregroundMark x1="68224" y1="19036" x2="81093" y2="16024"/>
                        <a14:foregroundMark x1="81093" y1="16024" x2="81884" y2="18434"/>
                        <a14:foregroundMark x1="78001" y1="24458" x2="70165" y2="22289"/>
                        <a14:foregroundMark x1="70165" y1="22289" x2="55428" y2="12530"/>
                        <a14:foregroundMark x1="56794" y1="12169" x2="62832" y2="27470"/>
                        <a14:foregroundMark x1="62832" y1="27470" x2="73544" y2="27952"/>
                        <a14:foregroundMark x1="73544" y1="27952" x2="76779" y2="34337"/>
                        <a14:foregroundMark x1="71531" y1="30120" x2="63839" y2="26867"/>
                        <a14:foregroundMark x1="63839" y1="26867" x2="56866" y2="18434"/>
                        <a14:foregroundMark x1="56866" y1="18434" x2="67937" y2="33133"/>
                        <a14:foregroundMark x1="67937" y1="33133" x2="56003" y2="17229"/>
                        <a14:foregroundMark x1="56003" y1="17229" x2="71028" y2="29639"/>
                        <a14:foregroundMark x1="71028" y1="29639" x2="76923" y2="19759"/>
                        <a14:foregroundMark x1="76923" y1="19759" x2="67434" y2="16506"/>
                        <a14:foregroundMark x1="67434" y1="16506" x2="76332" y2="12559"/>
                        <a14:foregroundMark x1="73836" y1="12526" x2="62401" y2="13735"/>
                        <a14:foregroundMark x1="71531" y1="17349" x2="62904" y2="17229"/>
                        <a14:foregroundMark x1="62904" y1="17229" x2="54421" y2="11928"/>
                        <a14:foregroundMark x1="54421" y1="11928" x2="61970" y2="14217"/>
                        <a14:foregroundMark x1="61970" y1="14217" x2="70237" y2="21807"/>
                        <a14:foregroundMark x1="70237" y1="21807" x2="69950" y2="22289"/>
                        <a14:foregroundMark x1="68368" y1="16627" x2="62209" y2="12371"/>
                        <a14:foregroundMark x1="58600" y1="10435" x2="50395" y2="17831"/>
                        <a14:foregroundMark x1="50395" y1="17831" x2="54493" y2="22892"/>
                        <a14:foregroundMark x1="55428" y1="18675" x2="55572" y2="9157"/>
                        <a14:foregroundMark x1="54277" y1="9880" x2="61107" y2="13976"/>
                        <a14:foregroundMark x1="55428" y1="10964" x2="60029" y2="17349"/>
                        <a14:foregroundMark x1="60532" y1="17711" x2="45938" y2="46024"/>
                        <a14:foregroundMark x1="45938" y1="46024" x2="73688" y2="70723"/>
                        <a14:foregroundMark x1="73688" y1="70723" x2="81884" y2="73735"/>
                        <a14:foregroundMark x1="81884" y1="73735" x2="70381" y2="80843"/>
                        <a14:foregroundMark x1="70381" y1="80843" x2="70453" y2="79036"/>
                        <a14:foregroundMark x1="82171" y1="56627" x2="81380" y2="71807"/>
                        <a14:foregroundMark x1="81380" y1="71807" x2="88929" y2="68675"/>
                        <a14:foregroundMark x1="88929" y1="68675" x2="87275" y2="48916"/>
                        <a14:foregroundMark x1="87275" y1="48916" x2="75557" y2="14819"/>
                        <a14:foregroundMark x1="75027" y1="12542" x2="88857" y2="13253"/>
                        <a14:foregroundMark x1="58060" y1="9005" x2="57153" y2="8916"/>
                        <a14:foregroundMark x1="57153" y1="8916" x2="49389" y2="13253"/>
                        <a14:foregroundMark x1="49389" y1="13253" x2="49029" y2="16145"/>
                        <a14:foregroundMark x1="48382" y1="22410" x2="50119" y2="7753"/>
                        <a14:foregroundMark x1="60872" y1="5027" x2="62545" y2="5060"/>
                        <a14:foregroundMark x1="62545" y1="5060" x2="63623" y2="4940"/>
                        <a14:foregroundMark x1="93817" y1="48554" x2="94105" y2="85783"/>
                        <a14:foregroundMark x1="92297" y1="91024" x2="69739" y2="94777"/>
                        <a14:foregroundMark x1="94105" y1="90723" x2="92765" y2="90946"/>
                        <a14:foregroundMark x1="57826" y1="94924" x2="50683" y2="92530"/>
                        <a14:foregroundMark x1="50683" y1="92530" x2="50467" y2="92289"/>
                        <a14:foregroundMark x1="50467" y1="91807" x2="50467" y2="82651"/>
                        <a14:foregroundMark x1="53343" y1="10964" x2="62401" y2="10120"/>
                        <a14:foregroundMark x1="61251" y1="9639" x2="52265" y2="9639"/>
                        <a14:foregroundMark x1="54493" y1="8072" x2="59382" y2="9036"/>
                        <a14:foregroundMark x1="89935" y1="42651" x2="91661" y2="61807"/>
                        <a14:foregroundMark x1="91661" y1="61807" x2="91948" y2="62169"/>
                        <a14:foregroundMark x1="92236" y1="57229" x2="93027" y2="62410"/>
                        <a14:foregroundMark x1="89792" y1="69639" x2="89432" y2="85542"/>
                        <a14:foregroundMark x1="70237" y1="91446" x2="60963" y2="87108"/>
                        <a14:foregroundMark x1="60963" y1="87108" x2="60963" y2="87108"/>
                        <a14:backgroundMark x1="49964" y1="98554" x2="60316" y2="98795"/>
                        <a14:backgroundMark x1="62976" y1="99036" x2="75557" y2="99036"/>
                        <a14:backgroundMark x1="68584" y1="99036" x2="53415" y2="97470"/>
                        <a14:backgroundMark x1="57225" y1="96506" x2="74982" y2="96506"/>
                        <a14:backgroundMark x1="74982" y1="96506" x2="82171" y2="96386"/>
                        <a14:backgroundMark x1="80518" y1="94699" x2="92380" y2="90723"/>
                        <a14:backgroundMark x1="92380" y1="90723" x2="93027" y2="90000"/>
                        <a14:backgroundMark x1="91661" y1="88675" x2="93458" y2="66265"/>
                        <a14:backgroundMark x1="92855" y1="56969" x2="92180" y2="53844"/>
                        <a14:backgroundMark x1="85909" y1="10964" x2="62208" y2="10649"/>
                        <a14:backgroundMark x1="61251" y1="6024" x2="48454" y2="60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9723" y="1040025"/>
            <a:ext cx="6253212" cy="373629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Obrázek 6">
            <a:extLst>
              <a:ext uri="{FF2B5EF4-FFF2-40B4-BE49-F238E27FC236}">
                <a16:creationId xmlns:a16="http://schemas.microsoft.com/office/drawing/2014/main" id="{01197655-21D3-B479-74FD-8C2C48B7E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53" b="96311" l="703" r="96565">
                        <a14:foregroundMark x1="18813" y1="32279" x2="11007" y2="48221"/>
                        <a14:foregroundMark x1="11007" y1="48221" x2="15847" y2="53228"/>
                        <a14:foregroundMark x1="63076" y1="25165" x2="46136" y2="34387"/>
                        <a14:foregroundMark x1="46377" y1="44879" x2="47151" y2="78524"/>
                        <a14:foregroundMark x1="46136" y1="34387" x2="46272" y2="40307"/>
                        <a14:foregroundMark x1="47151" y1="78524" x2="61280" y2="88933"/>
                        <a14:foregroundMark x1="61280" y1="88933" x2="48556" y2="76548"/>
                        <a14:foregroundMark x1="48556" y1="76548" x2="67760" y2="66140"/>
                        <a14:foregroundMark x1="67760" y1="66140" x2="54567" y2="54677"/>
                        <a14:foregroundMark x1="54567" y1="54677" x2="34582" y2="55731"/>
                        <a14:foregroundMark x1="34582" y1="55731" x2="56518" y2="59684"/>
                        <a14:foregroundMark x1="87448" y1="58546" x2="88759" y2="58498"/>
                        <a14:foregroundMark x1="83445" y1="58693" x2="87243" y2="58554"/>
                        <a14:foregroundMark x1="56518" y1="59684" x2="78322" y2="58882"/>
                        <a14:foregroundMark x1="88759" y1="58498" x2="88759" y2="58498"/>
                        <a14:foregroundMark x1="71741" y1="30435" x2="64247" y2="51910"/>
                        <a14:foregroundMark x1="48255" y1="46040" x2="27635" y2="38472"/>
                        <a14:foregroundMark x1="64247" y1="51910" x2="60410" y2="50501"/>
                        <a14:foregroundMark x1="27635" y1="38472" x2="39578" y2="42951"/>
                        <a14:foregroundMark x1="45424" y1="39782" x2="63154" y2="30171"/>
                        <a14:foregroundMark x1="39578" y1="42951" x2="41541" y2="41887"/>
                        <a14:foregroundMark x1="63154" y1="30171" x2="40125" y2="23452"/>
                        <a14:foregroundMark x1="40125" y1="23452" x2="51756" y2="32806"/>
                        <a14:foregroundMark x1="51756" y1="32806" x2="73302" y2="19631"/>
                        <a14:foregroundMark x1="73302" y1="19631" x2="42311" y2="21212"/>
                        <a14:foregroundMark x1="42311" y1="21212" x2="60343" y2="17260"/>
                        <a14:foregroundMark x1="35206" y1="16716" x2="29899" y2="16601"/>
                        <a14:foregroundMark x1="60343" y1="17260" x2="37862" y2="16773"/>
                        <a14:foregroundMark x1="36382" y1="14756" x2="43326" y2="12780"/>
                        <a14:foregroundMark x1="29899" y1="16601" x2="35206" y2="15091"/>
                        <a14:foregroundMark x1="26160" y1="9706" x2="19352" y2="8487"/>
                        <a14:foregroundMark x1="43326" y1="12780" x2="30557" y2="10493"/>
                        <a14:foregroundMark x1="65574" y1="14493" x2="48087" y2="11858"/>
                        <a14:foregroundMark x1="48087" y1="11858" x2="62920" y2="31884"/>
                        <a14:foregroundMark x1="62920" y1="31884" x2="83919" y2="33070"/>
                        <a14:foregroundMark x1="83919" y1="33070" x2="62295" y2="36364"/>
                        <a14:foregroundMark x1="62295" y1="36364" x2="69633" y2="35046"/>
                        <a14:foregroundMark x1="84778" y1="30830" x2="51522" y2="21212"/>
                        <a14:foregroundMark x1="51522" y1="21212" x2="79547" y2="32411"/>
                        <a14:foregroundMark x1="79547" y1="32411" x2="70336" y2="19631"/>
                        <a14:foregroundMark x1="70336" y1="19631" x2="62842" y2="14097"/>
                        <a14:foregroundMark x1="76581" y1="11989" x2="48712" y2="8037"/>
                        <a14:foregroundMark x1="42389" y1="7378" x2="55347" y2="9091"/>
                        <a14:foregroundMark x1="55347" y1="9091" x2="58626" y2="12648"/>
                        <a14:foregroundMark x1="37549" y1="6983" x2="60265" y2="6061"/>
                        <a14:foregroundMark x1="60265" y1="6061" x2="59875" y2="4084"/>
                        <a14:foregroundMark x1="56987" y1="6324" x2="44340" y2="5270"/>
                        <a14:foregroundMark x1="35206" y1="21451" x2="23888" y2="41502"/>
                        <a14:foregroundMark x1="44340" y1="5270" x2="37862" y2="16746"/>
                        <a14:foregroundMark x1="23888" y1="41502" x2="25371" y2="30435"/>
                        <a14:foregroundMark x1="25527" y1="16206" x2="15769" y2="46245"/>
                        <a14:foregroundMark x1="15769" y1="46245" x2="19672" y2="23715"/>
                        <a14:foregroundMark x1="20062" y1="16601" x2="6479" y2="29644"/>
                        <a14:foregroundMark x1="1857" y1="28590" x2="703" y2="28327"/>
                        <a14:foregroundMark x1="6479" y1="29644" x2="2641" y2="28769"/>
                        <a14:foregroundMark x1="2738" y1="10606" x2="9758" y2="10935"/>
                        <a14:foregroundMark x1="1327" y1="10540" x2="2457" y2="10593"/>
                        <a14:foregroundMark x1="3728" y1="90583" x2="3669" y2="92885"/>
                        <a14:foregroundMark x1="5074" y1="38340" x2="3840" y2="86246"/>
                        <a14:foregroundMark x1="3669" y1="92885" x2="4294" y2="95257"/>
                        <a14:foregroundMark x1="84174" y1="56640" x2="85636" y2="43610"/>
                        <a14:foregroundMark x1="80328" y1="90909" x2="84120" y2="57119"/>
                        <a14:foregroundMark x1="93443" y1="96311" x2="92974" y2="17655"/>
                        <a14:foregroundMark x1="96409" y1="57444" x2="96565" y2="89196"/>
                        <a14:foregroundMark x1="74473" y1="92754" x2="77205" y2="91304"/>
                        <a14:foregroundMark x1="90710" y1="65349" x2="87822" y2="41634"/>
                        <a14:foregroundMark x1="87822" y1="41634" x2="75566" y2="56126"/>
                        <a14:foregroundMark x1="75566" y1="56126" x2="44965" y2="56390"/>
                        <a14:foregroundMark x1="43247" y1="45455" x2="66198" y2="65613"/>
                        <a14:foregroundMark x1="56753" y1="52833" x2="45667" y2="43874"/>
                        <a14:foregroundMark x1="45667" y1="43874" x2="52927" y2="52174"/>
                        <a14:foregroundMark x1="59094" y1="57444" x2="56518" y2="52833"/>
                        <a14:foregroundMark x1="46448" y1="50329" x2="64559" y2="54282"/>
                        <a14:foregroundMark x1="35909" y1="39394" x2="48322" y2="49671"/>
                        <a14:foregroundMark x1="48322" y1="49671" x2="57377" y2="50066"/>
                        <a14:foregroundMark x1="47073" y1="44005" x2="49805" y2="44005"/>
                        <a14:foregroundMark x1="33802" y1="35837" x2="71272" y2="53887"/>
                        <a14:foregroundMark x1="41998" y1="44005" x2="74629" y2="57839"/>
                        <a14:foregroundMark x1="59485" y1="54282" x2="83528" y2="57839"/>
                        <a14:foregroundMark x1="83919" y1="58893" x2="87978" y2="38999"/>
                        <a14:foregroundMark x1="88759" y1="38603" x2="89617" y2="61792"/>
                        <a14:backgroundMark x1="9133" y1="94466" x2="25527" y2="93017"/>
                        <a14:backgroundMark x1="31850" y1="91963" x2="44106" y2="93017"/>
                        <a14:backgroundMark x1="28728" y1="91700" x2="4372" y2="88142"/>
                        <a14:backgroundMark x1="4372" y1="88142" x2="1483" y2="89460"/>
                        <a14:backgroundMark x1="2810" y1="78129" x2="2966" y2="47826"/>
                        <a14:backgroundMark x1="2186" y1="40448" x2="2342" y2="11199"/>
                        <a14:backgroundMark x1="4294" y1="6983" x2="30835" y2="6324"/>
                        <a14:backgroundMark x1="30835" y1="11199" x2="3435" y2="14493"/>
                        <a14:backgroundMark x1="25761" y1="10935" x2="36924" y2="5929"/>
                        <a14:backgroundMark x1="36534" y1="14756" x2="36534" y2="33597"/>
                        <a14:backgroundMark x1="89175" y1="38560" x2="89617" y2="33333"/>
                        <a14:backgroundMark x1="87510" y1="58235" x2="87959" y2="52928"/>
                        <a14:backgroundMark x1="89617" y1="12648" x2="71507" y2="76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68596" y="4364669"/>
            <a:ext cx="3979936" cy="235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5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370F6E9-111F-1D46-8270-49A1780A6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/>
              <a:t>Na co si dávat pozor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AE8293-2911-24E9-2020-226795CD7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2000" dirty="0"/>
              <a:t>Kompatibilita komponent</a:t>
            </a:r>
          </a:p>
          <a:p>
            <a:pPr marL="0" indent="0">
              <a:buNone/>
            </a:pPr>
            <a:r>
              <a:rPr lang="cs-CZ" sz="2000" dirty="0"/>
              <a:t>Nedodržování instrukcí výrobce</a:t>
            </a:r>
          </a:p>
          <a:p>
            <a:pPr marL="0" indent="0">
              <a:buNone/>
            </a:pPr>
            <a:r>
              <a:rPr lang="cs-CZ" sz="2000" dirty="0"/>
              <a:t>Špatná instalace komponent</a:t>
            </a:r>
            <a:endParaRPr lang="cs-CZ" sz="2000" dirty="0">
              <a:cs typeface="Calibri" panose="020F0502020204030204"/>
            </a:endParaRPr>
          </a:p>
          <a:p>
            <a:pPr marL="0" indent="0">
              <a:buNone/>
            </a:pPr>
            <a:r>
              <a:rPr lang="cs-CZ" sz="2000" dirty="0">
                <a:cs typeface="Calibri" panose="020F0502020204030204"/>
              </a:rPr>
              <a:t>Špatně rozmístěná / zapojená kabeláž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03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370F6E9-111F-1D46-8270-49A1780A6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cs-CZ" sz="3600" dirty="0">
                <a:cs typeface="Calibri Light"/>
              </a:rPr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AE8293-2911-24E9-2020-226795CD7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2000" dirty="0">
                <a:ea typeface="+mn-lt"/>
                <a:cs typeface="+mn-lt"/>
                <a:hlinkClick r:id="rId2"/>
              </a:rPr>
              <a:t>https://www.pcworld.cz/clanky/jak-se-vyvarovat-beznych-chyb-pri-stavbe-pc-1-dil/</a:t>
            </a:r>
            <a:endParaRPr lang="cs-CZ"/>
          </a:p>
          <a:p>
            <a:pPr marL="0" indent="0">
              <a:buNone/>
            </a:pPr>
            <a:r>
              <a:rPr lang="cs-CZ" sz="2000" dirty="0">
                <a:ea typeface="+mn-lt"/>
                <a:cs typeface="+mn-lt"/>
                <a:hlinkClick r:id="rId3"/>
              </a:rPr>
              <a:t>https://www.pcworld.cz/clanky/jak-se-vyvarovat-beznych-chyb-pri-stavbe-pc-2-dil/</a:t>
            </a:r>
            <a:endParaRPr lang="cs-CZ"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sz="2000" dirty="0">
                <a:ea typeface="+mn-lt"/>
                <a:cs typeface="+mn-lt"/>
                <a:hlinkClick r:id="rId4"/>
              </a:rPr>
              <a:t>https://www.pcworld.cz/clanky/jak-se-vyvarovat-beznych-chyb-pri-stavbe-pc-3-dil/</a:t>
            </a:r>
            <a:endParaRPr lang="cs-CZ"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sz="2000" dirty="0">
                <a:ea typeface="+mn-lt"/>
                <a:cs typeface="+mn-lt"/>
                <a:hlinkClick r:id="rId5"/>
              </a:rPr>
              <a:t>https://www.pcworld.cz/clanky/jak-se-vyvarovat-beznych-chyb-pri-stavbe-pc-4-dil/</a:t>
            </a:r>
            <a:endParaRPr lang="cs-CZ"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sz="2000" dirty="0">
                <a:ea typeface="+mn-lt"/>
                <a:cs typeface="+mn-lt"/>
                <a:hlinkClick r:id="rId6"/>
              </a:rPr>
              <a:t>https://www.alza.cz/jak-postavit-pc</a:t>
            </a:r>
            <a:endParaRPr lang="cs-CZ"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sz="2000" dirty="0">
                <a:ea typeface="+mn-lt"/>
                <a:cs typeface="+mn-lt"/>
                <a:hlinkClick r:id="rId7"/>
              </a:rPr>
              <a:t>https://www.youtube.com/watch?v=BL4DCEp7blY</a:t>
            </a:r>
            <a:endParaRPr lang="cs-CZ"/>
          </a:p>
          <a:p>
            <a:pPr marL="0" indent="0">
              <a:buNone/>
            </a:pPr>
            <a:endParaRPr lang="cs-CZ" sz="2000" dirty="0">
              <a:cs typeface="Calibri"/>
            </a:endParaRPr>
          </a:p>
          <a:p>
            <a:pPr marL="0" indent="0">
              <a:buNone/>
            </a:pPr>
            <a:endParaRPr lang="cs-CZ" sz="2000" dirty="0"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4390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7A96DCF66FBAA469343C3AE5781735C" ma:contentTypeVersion="12" ma:contentTypeDescription="Vytvoří nový dokument" ma:contentTypeScope="" ma:versionID="158bae667f6cd7596d9e37b1fecf99c6">
  <xsd:schema xmlns:xsd="http://www.w3.org/2001/XMLSchema" xmlns:xs="http://www.w3.org/2001/XMLSchema" xmlns:p="http://schemas.microsoft.com/office/2006/metadata/properties" xmlns:ns3="a336bbd3-fa5a-4ace-896b-9660d4d6f4a4" xmlns:ns4="35801232-24e1-47c4-8b94-d6bb283808bb" targetNamespace="http://schemas.microsoft.com/office/2006/metadata/properties" ma:root="true" ma:fieldsID="36e1d029d81695ee8af2e2193e3e7442" ns3:_="" ns4:_="">
    <xsd:import namespace="a336bbd3-fa5a-4ace-896b-9660d4d6f4a4"/>
    <xsd:import namespace="35801232-24e1-47c4-8b94-d6bb283808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36bbd3-fa5a-4ace-896b-9660d4d6f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801232-24e1-47c4-8b94-d6bb283808b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36bbd3-fa5a-4ace-896b-9660d4d6f4a4" xsi:nil="true"/>
  </documentManagement>
</p:properties>
</file>

<file path=customXml/itemProps1.xml><?xml version="1.0" encoding="utf-8"?>
<ds:datastoreItem xmlns:ds="http://schemas.openxmlformats.org/officeDocument/2006/customXml" ds:itemID="{A9F0D59D-B646-40C6-817A-93A2AC1DED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36bbd3-fa5a-4ace-896b-9660d4d6f4a4"/>
    <ds:schemaRef ds:uri="35801232-24e1-47c4-8b94-d6bb283808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80747D-C6DA-4098-8AA4-784F726223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37E351-72A9-461C-B3C5-35C4A904B410}">
  <ds:schemaRefs>
    <ds:schemaRef ds:uri="http://schemas.microsoft.com/office/2006/documentManagement/types"/>
    <ds:schemaRef ds:uri="a336bbd3-fa5a-4ace-896b-9660d4d6f4a4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35801232-24e1-47c4-8b94-d6bb283808b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973</Words>
  <Application>Microsoft Office PowerPoint</Application>
  <PresentationFormat>Širokoúhlá obrazovka</PresentationFormat>
  <Paragraphs>68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1" baseType="lpstr">
      <vt:lpstr>-apple-system</vt:lpstr>
      <vt:lpstr>Arial</vt:lpstr>
      <vt:lpstr>Calibri</vt:lpstr>
      <vt:lpstr>Calibri Light</vt:lpstr>
      <vt:lpstr>inherit</vt:lpstr>
      <vt:lpstr>Verdana</vt:lpstr>
      <vt:lpstr>Motiv Office</vt:lpstr>
      <vt:lpstr>Stavba počítače</vt:lpstr>
      <vt:lpstr>Co vše potřebuji k sestavení PC </vt:lpstr>
      <vt:lpstr>Jak vybrat komponenty pro stavbu PC</vt:lpstr>
      <vt:lpstr>Stavba PC krok za krokem</vt:lpstr>
      <vt:lpstr>Umístění procesoru do patice INTEL</vt:lpstr>
      <vt:lpstr>Umístění procesoru do patice AMD </vt:lpstr>
      <vt:lpstr>Zapojení operačních pamětí</vt:lpstr>
      <vt:lpstr>Instalace chladiče na procesor</vt:lpstr>
      <vt:lpstr>Instalace grafické karty</vt:lpstr>
      <vt:lpstr> Zapojení SSD / HDD disku</vt:lpstr>
      <vt:lpstr>Připojení napájecího zdroje k základní desce</vt:lpstr>
      <vt:lpstr>Instalace komponentů do počítačové skříně</vt:lpstr>
      <vt:lpstr>Na co si dávat pozor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