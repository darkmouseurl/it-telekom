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57" r:id="rId7"/>
    <p:sldId id="258" r:id="rId8"/>
    <p:sldId id="259" r:id="rId9"/>
    <p:sldId id="260" r:id="rId10"/>
    <p:sldId id="261" r:id="rId11"/>
    <p:sldId id="263" r:id="rId1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20B85-4A5C-420D-857D-48A6B6004E86}" type="datetimeFigureOut">
              <a:rPr lang="cs-CZ" smtClean="0"/>
              <a:t>16.11.2022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88792-FAF5-49E7-9DC5-FE28F5EFAB33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z/url?sa=i&amp;source=images&amp;cd=&amp;cad=rja&amp;docid=4GwjiUx4wvZMaM&amp;tbnid=UHa_RZ4JzwK_OM:&amp;ved=0CAgQjRwwAA&amp;url=http://pcsnadnoarychle.ic.cz/menu/potrebne_komponenty/operacni_pamet.html&amp;ei=VJo8UePBHqiE4ASjsICYCg&amp;psig=AFQjCNHfiuyOfhXQDPHLKOnv5o7TJFjIhw&amp;ust=136301256453549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hyperlink" Target="http://www.google.cz/url?sa=i&amp;source=images&amp;cd=&amp;cad=rja&amp;docid=0Vl63UN5c-WaGM&amp;tbnid=Vufa5m_2LNHOJM:&amp;ved=0CAgQjRwwADgW&amp;url=http://www.abicko.cz/clanek/serialy/5968/cislicova-technika-88.html&amp;ei=T5o8Uc-rEMXj4QSAsYCgBg&amp;psig=AFQjCNHckXvfuIP7JCl8NCEa8Z5RIhFjnQ&amp;ust=1363012559307718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9.jpeg"/><Relationship Id="rId2" Type="http://schemas.openxmlformats.org/officeDocument/2006/relationships/hyperlink" Target="http://www.google.cz/url?sa=i&amp;source=images&amp;cd=&amp;cad=rja&amp;docid=QsU1Dla8J_kHjM&amp;tbnid=Aq8wiQSM7ybYjM:&amp;ved=0CAgQjRwwAA&amp;url=http://kolipc.wz.cz/disk/disk.html&amp;ei=KZw8UZCSK6f14QSPpoHoCg&amp;psig=AFQjCNG5WZPTKwmW-IwK6K7e2XFb0-P4zg&amp;ust=136301303373247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z/url?sa=i&amp;source=images&amp;cd=&amp;cad=rja&amp;docid=M6-znjLzcYbCRM&amp;tbnid=Enu3i-EKCqxPVM:&amp;ved=0CAgQjRwwAA&amp;url=http://cs.wikipedia.org/wiki/USB_flash_disk&amp;ei=hJw8UavjMISl4ATrsIHYAw&amp;psig=AFQjCNFsmm53wVRlNRGwx1pYZQSVtEANsg&amp;ust=1363013124827064" TargetMode="External"/><Relationship Id="rId5" Type="http://schemas.openxmlformats.org/officeDocument/2006/relationships/image" Target="../media/image8.jpeg"/><Relationship Id="rId4" Type="http://schemas.openxmlformats.org/officeDocument/2006/relationships/hyperlink" Target="http://www.google.cz/url?sa=i&amp;source=images&amp;cd=&amp;cad=rja&amp;docid=ARGarCEebwPUoM&amp;tbnid=8b3TTuxv4EYv2M:&amp;ved=0CAgQjRwwAA&amp;url=http://maci-foto.wz.cz/stranky/pixel_a_pametova_karta.html&amp;ei=Q5w8UZymD4qE4AT87YCYBA&amp;psig=AFQjCNG5hZAmDx_OBnfTUt4MHSxjPyoGrA&amp;ust=1363013059275985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www.google.cz/url?sa=i&amp;source=images&amp;cd=&amp;cad=rja&amp;docid=rtvTs7sG1WYSCM&amp;tbnid=l843S9Jl25CocM:&amp;ved=0CAgQjRwwADgI&amp;url=http://pctuning.tyden.cz/intel_versus_amd-minulost_a_soucasnost&amp;ei=-588UenxD6Hh4QTF84GYDg&amp;psig=AFQjCNGE-O7YeZs_VzG7TWbjTZi8bpbXNw&amp;ust=136301401129723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/>
          <a:lstStyle/>
          <a:p>
            <a:r>
              <a:rPr lang="cs-CZ" dirty="0"/>
              <a:t>Polovodičové paměti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5" y="2420888"/>
            <a:ext cx="3642089" cy="2658725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536" y="2492896"/>
            <a:ext cx="3494745" cy="2597075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079" y="5113521"/>
            <a:ext cx="23812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Paměti v počítači</a:t>
            </a:r>
            <a:endParaRPr lang="cs-CZ" dirty="0"/>
          </a:p>
        </p:txBody>
      </p:sp>
      <p:pic>
        <p:nvPicPr>
          <p:cNvPr id="5" name="Zástupný symbol pro obsah 4" descr="paměti pc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141242"/>
            <a:ext cx="7344816" cy="502349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Polovodičové paměti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ROM – paměti nepotřebující energii pro uchování informace</a:t>
            </a:r>
          </a:p>
          <a:p>
            <a:pPr lvl="1"/>
            <a:r>
              <a:rPr lang="cs-CZ" dirty="0"/>
              <a:t>Permanentní paměť</a:t>
            </a:r>
          </a:p>
          <a:p>
            <a:r>
              <a:rPr lang="cs-CZ" dirty="0"/>
              <a:t>RAM – paměti potřebující energii pro uchování informace</a:t>
            </a:r>
          </a:p>
        </p:txBody>
      </p:sp>
      <p:pic>
        <p:nvPicPr>
          <p:cNvPr id="15362" name="Picture 2" descr="http://pcsnadnoarychle.ic.cz/menu/potrebne_komponenty/obr.RAM/RAM2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4005064"/>
            <a:ext cx="3819525" cy="2562226"/>
          </a:xfrm>
          <a:prstGeom prst="rect">
            <a:avLst/>
          </a:prstGeom>
          <a:noFill/>
        </p:spPr>
      </p:pic>
      <p:pic>
        <p:nvPicPr>
          <p:cNvPr id="15364" name="Picture 4" descr="http://img.blesk.cz/static/old_abc/imgdb/original/php6LpL4C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3608" y="4293096"/>
            <a:ext cx="2699792" cy="20063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Paměti ROM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ROM – permanentní</a:t>
            </a:r>
          </a:p>
          <a:p>
            <a:pPr lvl="1"/>
            <a:r>
              <a:rPr lang="cs-CZ" dirty="0"/>
              <a:t>PROM (</a:t>
            </a:r>
            <a:r>
              <a:rPr lang="cs-CZ" dirty="0" err="1"/>
              <a:t>Programmable</a:t>
            </a:r>
            <a:r>
              <a:rPr lang="cs-CZ" dirty="0"/>
              <a:t> ROM)</a:t>
            </a:r>
          </a:p>
          <a:p>
            <a:pPr lvl="1"/>
            <a:r>
              <a:rPr lang="cs-CZ" dirty="0"/>
              <a:t>EPROM (</a:t>
            </a:r>
            <a:r>
              <a:rPr lang="cs-CZ" dirty="0" err="1"/>
              <a:t>Erasable</a:t>
            </a:r>
            <a:r>
              <a:rPr lang="cs-CZ" dirty="0"/>
              <a:t> </a:t>
            </a:r>
            <a:r>
              <a:rPr lang="cs-CZ" dirty="0" err="1"/>
              <a:t>Programmable</a:t>
            </a:r>
            <a:r>
              <a:rPr lang="cs-CZ" dirty="0"/>
              <a:t> ROM)</a:t>
            </a:r>
          </a:p>
          <a:p>
            <a:pPr lvl="2"/>
            <a:r>
              <a:rPr lang="cs-CZ" dirty="0"/>
              <a:t>Mazání pomocí UV záření</a:t>
            </a:r>
          </a:p>
          <a:p>
            <a:pPr lvl="2"/>
            <a:r>
              <a:rPr lang="cs-CZ" dirty="0"/>
              <a:t>Zápis a čtení el. proudem</a:t>
            </a:r>
          </a:p>
          <a:p>
            <a:pPr lvl="1"/>
            <a:r>
              <a:rPr lang="cs-CZ" dirty="0"/>
              <a:t>EEPROM (</a:t>
            </a:r>
            <a:r>
              <a:rPr lang="cs-CZ" dirty="0" err="1"/>
              <a:t>Electrically</a:t>
            </a:r>
            <a:r>
              <a:rPr lang="cs-CZ" dirty="0"/>
              <a:t> </a:t>
            </a:r>
            <a:r>
              <a:rPr lang="cs-CZ" dirty="0" err="1"/>
              <a:t>Erasable</a:t>
            </a:r>
            <a:r>
              <a:rPr lang="cs-CZ" dirty="0"/>
              <a:t> </a:t>
            </a:r>
            <a:r>
              <a:rPr lang="cs-CZ" dirty="0" err="1"/>
              <a:t>Programmable</a:t>
            </a:r>
            <a:r>
              <a:rPr lang="cs-CZ"/>
              <a:t> ROM)</a:t>
            </a:r>
            <a:endParaRPr lang="cs-CZ" dirty="0"/>
          </a:p>
          <a:p>
            <a:pPr lvl="2"/>
            <a:r>
              <a:rPr lang="cs-CZ" dirty="0"/>
              <a:t>Zápis, čtení a mazání el. proudem</a:t>
            </a:r>
          </a:p>
          <a:p>
            <a:pPr lvl="2"/>
            <a:r>
              <a:rPr lang="cs-CZ" dirty="0"/>
              <a:t>Před zápisem se musí paměť vymazat</a:t>
            </a:r>
          </a:p>
          <a:p>
            <a:pPr lvl="2"/>
            <a:r>
              <a:rPr lang="cs-CZ" dirty="0"/>
              <a:t>Uložení firmware</a:t>
            </a:r>
          </a:p>
          <a:p>
            <a:pPr>
              <a:buNone/>
            </a:pPr>
            <a:endParaRPr lang="cs-CZ" dirty="0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8146" y="4797152"/>
            <a:ext cx="2785854" cy="1772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cs-CZ" dirty="0"/>
              <a:t>Paměti ROM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0" y="908720"/>
            <a:ext cx="8229600" cy="4525963"/>
          </a:xfrm>
        </p:spPr>
        <p:txBody>
          <a:bodyPr/>
          <a:lstStyle/>
          <a:p>
            <a:r>
              <a:rPr lang="cs-CZ" dirty="0"/>
              <a:t>FLASH</a:t>
            </a:r>
          </a:p>
          <a:p>
            <a:pPr lvl="1"/>
            <a:r>
              <a:rPr lang="cs-CZ" dirty="0"/>
              <a:t>Programovatelná po blocích</a:t>
            </a:r>
          </a:p>
          <a:p>
            <a:pPr lvl="1"/>
            <a:r>
              <a:rPr lang="cs-CZ" dirty="0"/>
              <a:t>Využití:</a:t>
            </a:r>
          </a:p>
          <a:p>
            <a:pPr lvl="2"/>
            <a:r>
              <a:rPr lang="cs-CZ" dirty="0"/>
              <a:t>Paměťové karty</a:t>
            </a:r>
          </a:p>
          <a:p>
            <a:pPr lvl="2"/>
            <a:r>
              <a:rPr lang="cs-CZ" dirty="0"/>
              <a:t>USB </a:t>
            </a:r>
            <a:r>
              <a:rPr lang="cs-CZ" dirty="0" err="1"/>
              <a:t>Flash</a:t>
            </a:r>
            <a:r>
              <a:rPr lang="cs-CZ" dirty="0"/>
              <a:t> disky</a:t>
            </a:r>
          </a:p>
          <a:p>
            <a:pPr lvl="2"/>
            <a:r>
              <a:rPr lang="cs-CZ" dirty="0"/>
              <a:t>SSD</a:t>
            </a:r>
          </a:p>
        </p:txBody>
      </p:sp>
      <p:pic>
        <p:nvPicPr>
          <p:cNvPr id="13314" name="Picture 2" descr="http://kolipc.wz.cz/disk/images/disk2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3356992"/>
            <a:ext cx="3456384" cy="2212086"/>
          </a:xfrm>
          <a:prstGeom prst="rect">
            <a:avLst/>
          </a:prstGeom>
          <a:noFill/>
        </p:spPr>
      </p:pic>
      <p:pic>
        <p:nvPicPr>
          <p:cNvPr id="13316" name="Picture 4" descr="http://maci-foto.wz.cz/obrazky/pametova-karta2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36096" y="836712"/>
            <a:ext cx="3024336" cy="3024336"/>
          </a:xfrm>
          <a:prstGeom prst="rect">
            <a:avLst/>
          </a:prstGeom>
          <a:noFill/>
        </p:spPr>
      </p:pic>
      <p:pic>
        <p:nvPicPr>
          <p:cNvPr id="13318" name="Picture 6" descr="http://upload.wikimedia.org/wikipedia/commons/thumb/e/e2/Usbkey_internals.jpg/350px-Usbkey_internals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4221088"/>
            <a:ext cx="2520280" cy="2419470"/>
          </a:xfrm>
          <a:prstGeom prst="rect">
            <a:avLst/>
          </a:prstGeom>
          <a:noFill/>
        </p:spPr>
      </p:pic>
      <p:sp>
        <p:nvSpPr>
          <p:cNvPr id="7" name="TextovéPole 6"/>
          <p:cNvSpPr txBox="1"/>
          <p:nvPr/>
        </p:nvSpPr>
        <p:spPr>
          <a:xfrm>
            <a:off x="2627784" y="4463371"/>
            <a:ext cx="35399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1. USB konektor</a:t>
            </a:r>
          </a:p>
          <a:p>
            <a:r>
              <a:rPr lang="cs-CZ" dirty="0"/>
              <a:t>2. </a:t>
            </a:r>
            <a:r>
              <a:rPr lang="cs-CZ" dirty="0" err="1"/>
              <a:t>Mass</a:t>
            </a:r>
            <a:r>
              <a:rPr lang="cs-CZ" dirty="0"/>
              <a:t> </a:t>
            </a:r>
            <a:r>
              <a:rPr lang="cs-CZ" dirty="0" err="1"/>
              <a:t>storage</a:t>
            </a:r>
            <a:r>
              <a:rPr lang="cs-CZ" dirty="0"/>
              <a:t> </a:t>
            </a:r>
            <a:r>
              <a:rPr lang="cs-CZ" dirty="0" err="1"/>
              <a:t>controller</a:t>
            </a:r>
            <a:endParaRPr lang="cs-CZ" dirty="0"/>
          </a:p>
          <a:p>
            <a:r>
              <a:rPr lang="cs-CZ" dirty="0"/>
              <a:t>3. Testovací kontakty</a:t>
            </a:r>
          </a:p>
          <a:p>
            <a:r>
              <a:rPr lang="cs-CZ" dirty="0"/>
              <a:t>4 .</a:t>
            </a:r>
            <a:r>
              <a:rPr lang="cs-CZ" dirty="0" err="1"/>
              <a:t>Flash</a:t>
            </a:r>
            <a:r>
              <a:rPr lang="cs-CZ" dirty="0"/>
              <a:t> paměť</a:t>
            </a:r>
          </a:p>
          <a:p>
            <a:r>
              <a:rPr lang="cs-CZ" dirty="0"/>
              <a:t>5. Oscilátor</a:t>
            </a:r>
          </a:p>
          <a:p>
            <a:r>
              <a:rPr lang="cs-CZ" dirty="0"/>
              <a:t>6. LED</a:t>
            </a:r>
          </a:p>
          <a:p>
            <a:r>
              <a:rPr lang="cs-CZ" dirty="0"/>
              <a:t>7. Zámek </a:t>
            </a:r>
          </a:p>
          <a:p>
            <a:r>
              <a:rPr lang="cs-CZ" dirty="0"/>
              <a:t>8. Místo pro další paměťový modul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Paměti RAM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random</a:t>
            </a:r>
            <a:r>
              <a:rPr lang="cs-CZ" dirty="0"/>
              <a:t>-</a:t>
            </a:r>
            <a:r>
              <a:rPr lang="cs-CZ" dirty="0" err="1"/>
              <a:t>access</a:t>
            </a:r>
            <a:r>
              <a:rPr lang="cs-CZ" dirty="0"/>
              <a:t> </a:t>
            </a:r>
            <a:r>
              <a:rPr lang="cs-CZ" dirty="0" err="1"/>
              <a:t>memory</a:t>
            </a:r>
            <a:endParaRPr lang="cs-CZ" dirty="0"/>
          </a:p>
          <a:p>
            <a:r>
              <a:rPr lang="cs-CZ" dirty="0"/>
              <a:t>Dynamická RAM</a:t>
            </a:r>
          </a:p>
          <a:p>
            <a:pPr lvl="1"/>
            <a:r>
              <a:rPr lang="cs-CZ" dirty="0"/>
              <a:t>levnější a výrobně mnohem jednodušší</a:t>
            </a:r>
          </a:p>
          <a:p>
            <a:pPr lvl="1"/>
            <a:r>
              <a:rPr lang="cs-CZ" dirty="0"/>
              <a:t>nutno pravidelně obnovit informaci (</a:t>
            </a:r>
            <a:r>
              <a:rPr lang="cs-CZ" dirty="0" err="1"/>
              <a:t>refresh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DRAM – SDR, DDR, DDR2, DDR3, DDR4, DDR5</a:t>
            </a:r>
          </a:p>
          <a:p>
            <a:pPr lvl="1"/>
            <a:r>
              <a:rPr lang="cs-CZ" dirty="0"/>
              <a:t>GDDR – grafické paměti (GDDR6)</a:t>
            </a:r>
          </a:p>
          <a:p>
            <a:pPr lvl="1"/>
            <a:endParaRPr lang="cs-CZ" dirty="0"/>
          </a:p>
          <a:p>
            <a:pPr lvl="1"/>
            <a:endParaRPr lang="cs-CZ" dirty="0"/>
          </a:p>
          <a:p>
            <a:pPr lvl="1">
              <a:buNone/>
            </a:pPr>
            <a:endParaRPr lang="cs-CZ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4797152"/>
            <a:ext cx="464861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842992" cy="1143000"/>
          </a:xfrm>
        </p:spPr>
        <p:txBody>
          <a:bodyPr/>
          <a:lstStyle/>
          <a:p>
            <a:r>
              <a:rPr lang="cs-CZ" dirty="0"/>
              <a:t>Paměti RAM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cs-CZ" dirty="0" err="1"/>
              <a:t>random</a:t>
            </a:r>
            <a:r>
              <a:rPr lang="cs-CZ" dirty="0"/>
              <a:t>-</a:t>
            </a:r>
            <a:r>
              <a:rPr lang="cs-CZ" dirty="0" err="1"/>
              <a:t>access</a:t>
            </a:r>
            <a:r>
              <a:rPr lang="cs-CZ" dirty="0"/>
              <a:t> </a:t>
            </a:r>
            <a:r>
              <a:rPr lang="cs-CZ" dirty="0" err="1"/>
              <a:t>memory</a:t>
            </a:r>
            <a:endParaRPr lang="cs-CZ" dirty="0"/>
          </a:p>
          <a:p>
            <a:r>
              <a:rPr lang="cs-CZ" dirty="0"/>
              <a:t>Statická RAM (SRAM)</a:t>
            </a:r>
          </a:p>
          <a:p>
            <a:r>
              <a:rPr lang="cs-CZ" dirty="0"/>
              <a:t>je realizována jako bistabilní klopný obvod. </a:t>
            </a:r>
          </a:p>
          <a:p>
            <a:r>
              <a:rPr lang="cs-CZ" dirty="0"/>
              <a:t>Při použití technologie CMOS má minimální příkon a krátkou přístupovou dobu. </a:t>
            </a:r>
          </a:p>
          <a:p>
            <a:r>
              <a:rPr lang="cs-CZ" dirty="0"/>
              <a:t>Dva tranzistory pro jednu buňku, + dva pro čtení a zápis&gt;&gt; vysoká cena</a:t>
            </a:r>
          </a:p>
          <a:p>
            <a:r>
              <a:rPr lang="cs-CZ" dirty="0"/>
              <a:t>Statické paměti proto plní často úlohu </a:t>
            </a:r>
            <a:r>
              <a:rPr lang="cs-CZ" dirty="0" err="1"/>
              <a:t>cache</a:t>
            </a:r>
            <a:r>
              <a:rPr lang="cs-CZ" dirty="0"/>
              <a:t> mezi procesorem a dynamickou pamětí RAM (L1, L2, L3</a:t>
            </a:r>
            <a:r>
              <a:rPr lang="cs-CZ"/>
              <a:t>), registry,..</a:t>
            </a:r>
            <a:endParaRPr lang="cs-CZ" dirty="0"/>
          </a:p>
          <a:p>
            <a:endParaRPr lang="cs-CZ" dirty="0"/>
          </a:p>
        </p:txBody>
      </p:sp>
      <p:pic>
        <p:nvPicPr>
          <p:cNvPr id="11266" name="Picture 2" descr="http://pctuning.tyden.cz/ilustrace3/dudek/future/_pentium2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0"/>
            <a:ext cx="3543300" cy="2657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Cache</a:t>
            </a:r>
            <a:r>
              <a:rPr lang="cs-CZ" dirty="0"/>
              <a:t> paměť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cs-CZ" dirty="0"/>
          </a:p>
          <a:p>
            <a:r>
              <a:rPr lang="cs-CZ" dirty="0"/>
              <a:t>Vyrovnávací paměť</a:t>
            </a:r>
          </a:p>
          <a:p>
            <a:r>
              <a:rPr lang="cs-CZ" dirty="0"/>
              <a:t>SRAM</a:t>
            </a:r>
          </a:p>
          <a:p>
            <a:r>
              <a:rPr lang="cs-CZ" dirty="0"/>
              <a:t>L1 </a:t>
            </a:r>
            <a:r>
              <a:rPr lang="cs-CZ" dirty="0" err="1"/>
              <a:t>cache</a:t>
            </a:r>
            <a:r>
              <a:rPr lang="cs-CZ" dirty="0"/>
              <a:t>, uvnitř čipu procesoru, stovky KB, stejně rychlá jako vlastní procesor</a:t>
            </a:r>
          </a:p>
          <a:p>
            <a:r>
              <a:rPr lang="cs-CZ" dirty="0"/>
              <a:t>L2 </a:t>
            </a:r>
            <a:r>
              <a:rPr lang="cs-CZ" dirty="0" err="1"/>
              <a:t>cache</a:t>
            </a:r>
            <a:r>
              <a:rPr lang="cs-CZ" dirty="0"/>
              <a:t>, mimo čip, v pouzdru CPU nebo dříve na základní desce, jednotky MB</a:t>
            </a:r>
          </a:p>
          <a:p>
            <a:r>
              <a:rPr lang="cs-CZ" dirty="0"/>
              <a:t>L3 </a:t>
            </a:r>
            <a:r>
              <a:rPr lang="cs-CZ"/>
              <a:t>cache</a:t>
            </a:r>
            <a:r>
              <a:rPr lang="cs-CZ" dirty="0"/>
              <a:t> (2008-2009) v běžných procesorech (Intel Core i7, AMD </a:t>
            </a:r>
            <a:r>
              <a:rPr lang="cs-CZ" dirty="0" err="1"/>
              <a:t>Phenom</a:t>
            </a:r>
            <a:r>
              <a:rPr lang="cs-CZ" dirty="0"/>
              <a:t>), která je pro všechna jádra společná a většinou má velikost několik megabajtů.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C769D3FE67154E81769CA49A6E1578" ma:contentTypeVersion="0" ma:contentTypeDescription="Vytvoří nový dokument" ma:contentTypeScope="" ma:versionID="3c7ae713f0a7ba01a532cf72482db45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71d6b51c5141eb32e0d04e037372b3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0E0B7E-E878-45AA-82CC-DEEFBC0786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31D0DA-6A6F-46CE-937E-53E58575D44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E0C08B2-3633-41CF-8E9C-9FC53617B35D}"/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290</Words>
  <Application>Microsoft Office PowerPoint</Application>
  <PresentationFormat>Předvádění na obrazovce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1" baseType="lpstr">
      <vt:lpstr>Arial</vt:lpstr>
      <vt:lpstr>Calibri</vt:lpstr>
      <vt:lpstr>Motiv sady Office</vt:lpstr>
      <vt:lpstr>Polovodičové paměti</vt:lpstr>
      <vt:lpstr>Paměti v počítači</vt:lpstr>
      <vt:lpstr>Polovodičové paměti</vt:lpstr>
      <vt:lpstr>Paměti ROM</vt:lpstr>
      <vt:lpstr>Paměti ROM</vt:lpstr>
      <vt:lpstr>Paměti RAM</vt:lpstr>
      <vt:lpstr>Paměti RAM</vt:lpstr>
      <vt:lpstr>Cache paměť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Polovodičové paměti</dc:title>
  <dc:creator>Pavel</dc:creator>
  <cp:lastModifiedBy>Pavel Halouzka</cp:lastModifiedBy>
  <cp:revision>17</cp:revision>
  <dcterms:created xsi:type="dcterms:W3CDTF">2013-03-10T14:24:21Z</dcterms:created>
  <dcterms:modified xsi:type="dcterms:W3CDTF">2022-11-16T10:05:49Z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0x010100ECC769D3FE67154E81769CA49A6E1578</vt:lpwstr>
  </property>
</Properties>
</file>