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81" r:id="rId11"/>
    <p:sldId id="262" r:id="rId12"/>
    <p:sldId id="278" r:id="rId13"/>
    <p:sldId id="275" r:id="rId14"/>
    <p:sldId id="263" r:id="rId15"/>
    <p:sldId id="264" r:id="rId16"/>
    <p:sldId id="265" r:id="rId17"/>
    <p:sldId id="266" r:id="rId18"/>
    <p:sldId id="277" r:id="rId19"/>
    <p:sldId id="267" r:id="rId20"/>
    <p:sldId id="268" r:id="rId21"/>
    <p:sldId id="269" r:id="rId22"/>
    <p:sldId id="270" r:id="rId23"/>
    <p:sldId id="271" r:id="rId24"/>
    <p:sldId id="272" r:id="rId25"/>
    <p:sldId id="279" r:id="rId26"/>
    <p:sldId id="280" r:id="rId27"/>
    <p:sldId id="282" r:id="rId28"/>
    <p:sldId id="273" r:id="rId29"/>
    <p:sldId id="276" r:id="rId30"/>
    <p:sldId id="274" r:id="rId31"/>
    <p:sldId id="283" r:id="rId3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66C14-D150-4516-90D4-2C631718A7E3}" v="3" dt="2021-03-18T13:24:23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l Halouzka" userId="S::halouzka@teleinformatika.eu::a910ec61-1552-49b0-a90b-533e7c0fcf1a" providerId="AD" clId="Web-{DF166C14-D150-4516-90D4-2C631718A7E3}"/>
    <pc:docChg chg="sldOrd">
      <pc:chgData name="Pavel Halouzka" userId="S::halouzka@teleinformatika.eu::a910ec61-1552-49b0-a90b-533e7c0fcf1a" providerId="AD" clId="Web-{DF166C14-D150-4516-90D4-2C631718A7E3}" dt="2021-03-18T13:24:23.330" v="2"/>
      <pc:docMkLst>
        <pc:docMk/>
      </pc:docMkLst>
      <pc:sldChg chg="ord">
        <pc:chgData name="Pavel Halouzka" userId="S::halouzka@teleinformatika.eu::a910ec61-1552-49b0-a90b-533e7c0fcf1a" providerId="AD" clId="Web-{DF166C14-D150-4516-90D4-2C631718A7E3}" dt="2021-03-18T13:24:23.330" v="2"/>
        <pc:sldMkLst>
          <pc:docMk/>
          <pc:sldMk cId="2272603584" sldId="274"/>
        </pc:sldMkLst>
      </pc:sldChg>
      <pc:sldChg chg="ord">
        <pc:chgData name="Pavel Halouzka" userId="S::halouzka@teleinformatika.eu::a910ec61-1552-49b0-a90b-533e7c0fcf1a" providerId="AD" clId="Web-{DF166C14-D150-4516-90D4-2C631718A7E3}" dt="2021-03-18T13:24:22.330" v="1"/>
        <pc:sldMkLst>
          <pc:docMk/>
          <pc:sldMk cId="751679373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26367-046F-4746-9773-6AC72396FCDB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7D88A-1C6A-45F1-8EAD-2DD55A0DCA5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412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97D88A-1C6A-45F1-8EAD-2DD55A0DCA54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2355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727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243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113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654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5048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571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103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601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702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873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453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42B3E-7FCE-4EEB-888C-33E8B6752F0C}" type="datetimeFigureOut">
              <a:rPr lang="cs-CZ" smtClean="0"/>
              <a:pPr/>
              <a:t>09.01.2023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CAB67-B0BD-44CB-B99E-38A4E86451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103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pctuning.tyden.cz/hardware/graficke-karty/26777-sli-versus-crossfire-podrobne-srovnani-multi-gp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zwiki.cz/Lexikon/PCI-Express#PCI-Express_3.0" TargetMode="External"/><Relationship Id="rId2" Type="http://schemas.openxmlformats.org/officeDocument/2006/relationships/hyperlink" Target="https://czwiki.cz/Lexikon/SL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ews.cz/pameti-v-grafikach-jejich-deleni-myty-a-fakta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lza.cz/jak-vybrat-grafickou-kartu#herni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cs.wikipedia.org/wiki/OpenG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cs.wikipedia.org/wiki/DirectX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za.cz/gigabyte-geforce-rtx-3060-ti-gaming-oc-8g-rev-2-0-d6697610.htm" TargetMode="External"/><Relationship Id="rId2" Type="http://schemas.openxmlformats.org/officeDocument/2006/relationships/hyperlink" Target="https://www.alza.cz/gigabyte-geforce-rtx-4090-gaming-oc-24g-d7439963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lza.cz/levne-graficke-karty-nvidia-geforce-gtx1050-ti/18860437.htm" TargetMode="External"/><Relationship Id="rId4" Type="http://schemas.openxmlformats.org/officeDocument/2006/relationships/hyperlink" Target="https://www.alza.cz/msi-geforce-rtx-2060-ventus-12g-oc-d6971599.htm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amd.com/en/graphics/radeon-rx-graph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e.wikipedia.org/wiki/Matrox_Graph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aida64.com/products/aida64-extrem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za.cz/jak-vybrat-grafickou-kartu" TargetMode="External"/><Relationship Id="rId2" Type="http://schemas.openxmlformats.org/officeDocument/2006/relationships/hyperlink" Target="https://cs.wikipedia.org/wiki/Grafick%C3%A1_kar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Lvivib0ZmIc" TargetMode="External"/><Relationship Id="rId5" Type="http://schemas.openxmlformats.org/officeDocument/2006/relationships/hyperlink" Target="https://www.youtube.com/watch?v=eDbU-pU6QOc" TargetMode="External"/><Relationship Id="rId4" Type="http://schemas.openxmlformats.org/officeDocument/2006/relationships/hyperlink" Target="https://www.youtube.com/watch?v=RfAB7CJct9Y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11560" y="476672"/>
            <a:ext cx="7772400" cy="1470025"/>
          </a:xfrm>
        </p:spPr>
        <p:txBody>
          <a:bodyPr/>
          <a:lstStyle/>
          <a:p>
            <a:r>
              <a:rPr lang="cs-CZ" dirty="0"/>
              <a:t>Grafická karta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132856"/>
            <a:ext cx="727372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4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35576"/>
            <a:ext cx="8229600" cy="1143000"/>
          </a:xfrm>
        </p:spPr>
        <p:txBody>
          <a:bodyPr/>
          <a:lstStyle/>
          <a:p>
            <a:r>
              <a:rPr lang="cs-CZ" dirty="0"/>
              <a:t>Grafická karta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327" y="2276873"/>
            <a:ext cx="7932785" cy="41764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cs-CZ" dirty="0"/>
              <a:t>Grafická karta tvoří rozhraní mezi počítačem a monitorem. Stará se o odeslání informací z PC do monitoru, kde se přetvářejí na obraz. </a:t>
            </a:r>
          </a:p>
          <a:p>
            <a:pPr algn="just"/>
            <a:r>
              <a:rPr lang="cs-CZ" dirty="0"/>
              <a:t>Bývá někdy součásti základní desky (integrovaná GK), jindy jako samostatná deska (dedikovaná GK).</a:t>
            </a:r>
          </a:p>
          <a:p>
            <a:pPr algn="just"/>
            <a:r>
              <a:rPr lang="cs-CZ" dirty="0"/>
              <a:t>Grafická karta se označuje jako VGA (Video </a:t>
            </a:r>
            <a:r>
              <a:rPr lang="cs-CZ" dirty="0" err="1"/>
              <a:t>Graphics</a:t>
            </a:r>
            <a:r>
              <a:rPr lang="cs-CZ" dirty="0"/>
              <a:t> Adapter/</a:t>
            </a:r>
            <a:r>
              <a:rPr lang="cs-CZ" dirty="0" err="1"/>
              <a:t>Accelerator</a:t>
            </a:r>
            <a:r>
              <a:rPr lang="cs-CZ" dirty="0"/>
              <a:t>), nebo videokarta či </a:t>
            </a:r>
            <a:r>
              <a:rPr lang="cs-CZ" dirty="0" err="1"/>
              <a:t>videoadapter</a:t>
            </a:r>
            <a:r>
              <a:rPr lang="cs-CZ" dirty="0"/>
              <a:t>.</a:t>
            </a:r>
          </a:p>
        </p:txBody>
      </p:sp>
      <p:pic>
        <p:nvPicPr>
          <p:cNvPr id="4" name="Picture 2" descr="http://www.alfacomp.cz/ezbozi/3/82087/45884cv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53247"/>
            <a:ext cx="2621759" cy="196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60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4978896" cy="1143000"/>
          </a:xfrm>
        </p:spPr>
        <p:txBody>
          <a:bodyPr/>
          <a:lstStyle/>
          <a:p>
            <a:r>
              <a:rPr lang="cs-CZ" dirty="0"/>
              <a:t>Složení grafické karty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4211929"/>
          </a:xfrm>
        </p:spPr>
        <p:txBody>
          <a:bodyPr>
            <a:normAutofit lnSpcReduction="10000"/>
          </a:bodyPr>
          <a:lstStyle/>
          <a:p>
            <a:pPr algn="just"/>
            <a:r>
              <a:rPr lang="cs-CZ" sz="3000" b="1" dirty="0"/>
              <a:t>BIOS GK </a:t>
            </a:r>
            <a:r>
              <a:rPr lang="cs-CZ" sz="3000" dirty="0"/>
              <a:t>– stará se o funkčnost GK, vzájemnou komunikaci jejích komponent a poskytuje svoje funkce jak ostatnímu HW zařízení tak operačnímu systému a aplikacím.</a:t>
            </a:r>
          </a:p>
          <a:p>
            <a:pPr algn="just"/>
            <a:r>
              <a:rPr lang="cs-CZ" sz="3000" b="1" dirty="0"/>
              <a:t>Paměť GK </a:t>
            </a:r>
            <a:r>
              <a:rPr lang="cs-CZ" sz="3000" dirty="0"/>
              <a:t>– dnes součásti GK, některé GK ji ale nemají (sdílená paměť z OP). Slouží k ukládání obrazu, čím je větší, tím je rychlejší GK a poskytuje i větší výkon (6GB GDDR6&gt;&gt; </a:t>
            </a:r>
            <a:r>
              <a:rPr lang="cs-CZ" sz="2800" dirty="0" err="1"/>
              <a:t>Graphic</a:t>
            </a:r>
            <a:r>
              <a:rPr lang="cs-CZ" sz="2800" dirty="0"/>
              <a:t> Double Data </a:t>
            </a:r>
            <a:r>
              <a:rPr lang="cs-CZ" sz="2800" dirty="0" err="1"/>
              <a:t>Rate</a:t>
            </a:r>
            <a:r>
              <a:rPr lang="cs-CZ" sz="3000" dirty="0"/>
              <a:t>).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21804"/>
            <a:ext cx="2808312" cy="19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908720"/>
            <a:ext cx="5122912" cy="1143000"/>
          </a:xfrm>
        </p:spPr>
        <p:txBody>
          <a:bodyPr/>
          <a:lstStyle/>
          <a:p>
            <a:r>
              <a:rPr lang="cs-CZ" dirty="0"/>
              <a:t>Složení grafické karty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2750135"/>
            <a:ext cx="8229600" cy="387581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cs-CZ" sz="3000" b="1" dirty="0"/>
              <a:t>Grafický procesor </a:t>
            </a:r>
            <a:r>
              <a:rPr lang="cs-CZ" sz="3000" dirty="0"/>
              <a:t>(GPU) – </a:t>
            </a:r>
            <a:r>
              <a:rPr lang="cs-CZ" sz="3000" dirty="0" err="1"/>
              <a:t>Graphics</a:t>
            </a:r>
            <a:r>
              <a:rPr lang="cs-CZ" sz="3000" dirty="0"/>
              <a:t> </a:t>
            </a:r>
            <a:r>
              <a:rPr lang="cs-CZ" sz="3000" dirty="0" err="1"/>
              <a:t>Processor</a:t>
            </a:r>
            <a:r>
              <a:rPr lang="cs-CZ" sz="3000" dirty="0"/>
              <a:t> Unit. Je součásti </a:t>
            </a:r>
            <a:r>
              <a:rPr lang="cs-CZ" sz="3000" dirty="0" err="1"/>
              <a:t>chipsetu</a:t>
            </a:r>
            <a:r>
              <a:rPr lang="cs-CZ" sz="3000" dirty="0"/>
              <a:t> GK a zabezpečuje transformaci údajů z </a:t>
            </a:r>
            <a:r>
              <a:rPr lang="cs-CZ" sz="3000" dirty="0" err="1"/>
              <a:t>videopaměti</a:t>
            </a:r>
            <a:r>
              <a:rPr lang="cs-CZ" sz="3000" dirty="0"/>
              <a:t> na obraz.  Má také na starosti výpočty týkající se dvoj nebo trojrozměrného zobrazení (rychlost a možnost používání pokročilých funkcí). Ulehčuje funkci CPU (přebírá práci s grafickými instrukcemi). </a:t>
            </a:r>
          </a:p>
          <a:p>
            <a:pPr marL="0" indent="0" algn="just">
              <a:buNone/>
            </a:pPr>
            <a:r>
              <a:rPr lang="cs-CZ" sz="3000" dirty="0"/>
              <a:t>Příklad: GPU - TU116, frekvence jádra - 1530 MHz &gt;&gt; </a:t>
            </a:r>
            <a:r>
              <a:rPr lang="en-US" sz="3000" dirty="0"/>
              <a:t>GIGABYTE GeForce GTX 1660 6G</a:t>
            </a:r>
            <a:endParaRPr lang="cs-CZ" sz="300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88640"/>
            <a:ext cx="3351608" cy="256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1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Složení grafické karty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cs-CZ" b="1" dirty="0"/>
              <a:t>Šířka sběrnice </a:t>
            </a:r>
            <a:r>
              <a:rPr lang="cs-CZ" dirty="0"/>
              <a:t>– určuje rychlost, kterou bude komunikovat GPU s pamětí GK.</a:t>
            </a:r>
          </a:p>
          <a:p>
            <a:pPr lvl="1" algn="just"/>
            <a:r>
              <a:rPr lang="cs-CZ" dirty="0"/>
              <a:t>Hodnoty sběrnice:</a:t>
            </a:r>
          </a:p>
          <a:p>
            <a:pPr lvl="2" algn="just"/>
            <a:r>
              <a:rPr lang="cs-CZ" dirty="0"/>
              <a:t>32 bitů</a:t>
            </a:r>
          </a:p>
          <a:p>
            <a:pPr lvl="2" algn="just"/>
            <a:r>
              <a:rPr lang="cs-CZ" dirty="0"/>
              <a:t>64 bitů</a:t>
            </a:r>
          </a:p>
          <a:p>
            <a:pPr lvl="2" algn="just"/>
            <a:r>
              <a:rPr lang="cs-CZ" dirty="0"/>
              <a:t>128 bitů</a:t>
            </a:r>
          </a:p>
          <a:p>
            <a:pPr lvl="2" algn="just"/>
            <a:r>
              <a:rPr lang="cs-CZ" b="1" dirty="0">
                <a:solidFill>
                  <a:srgbClr val="002060"/>
                </a:solidFill>
              </a:rPr>
              <a:t>192 bitů</a:t>
            </a:r>
          </a:p>
          <a:p>
            <a:pPr lvl="2" algn="just"/>
            <a:r>
              <a:rPr lang="cs-CZ" dirty="0"/>
              <a:t>256 bitů</a:t>
            </a:r>
          </a:p>
          <a:p>
            <a:pPr lvl="2" algn="just"/>
            <a:r>
              <a:rPr lang="cs-CZ" dirty="0">
                <a:solidFill>
                  <a:srgbClr val="002060"/>
                </a:solidFill>
              </a:rPr>
              <a:t>384 bitů</a:t>
            </a:r>
          </a:p>
          <a:p>
            <a:pPr lvl="2" algn="just"/>
            <a:r>
              <a:rPr lang="cs-CZ" dirty="0">
                <a:solidFill>
                  <a:srgbClr val="002060"/>
                </a:solidFill>
              </a:rPr>
              <a:t>512 bitů</a:t>
            </a:r>
          </a:p>
          <a:p>
            <a:pPr lvl="2" algn="just"/>
            <a:r>
              <a:rPr lang="cs-CZ" dirty="0">
                <a:solidFill>
                  <a:srgbClr val="002060"/>
                </a:solidFill>
              </a:rPr>
              <a:t>1024 bitů,..</a:t>
            </a:r>
          </a:p>
          <a:p>
            <a:pPr lvl="2" algn="just"/>
            <a:endParaRPr lang="cs-CZ" dirty="0">
              <a:solidFill>
                <a:srgbClr val="002060"/>
              </a:solidFill>
            </a:endParaRPr>
          </a:p>
          <a:p>
            <a:pPr marL="914400" lvl="2" indent="0" algn="just">
              <a:buNone/>
            </a:pPr>
            <a:endParaRPr lang="cs-CZ" dirty="0">
              <a:solidFill>
                <a:srgbClr val="002060"/>
              </a:solidFill>
            </a:endParaRPr>
          </a:p>
          <a:p>
            <a:pPr algn="just"/>
            <a:r>
              <a:rPr lang="cs-CZ" sz="2800" dirty="0"/>
              <a:t>Pozor: nemá nic společného s šířkou sběrnice mimo grafickou kartu.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586608"/>
            <a:ext cx="464700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5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Složení grafické karty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Komunikační rozhraní:</a:t>
            </a:r>
          </a:p>
          <a:p>
            <a:pPr marL="0" indent="0">
              <a:buNone/>
            </a:pPr>
            <a:endParaRPr lang="cs-CZ" dirty="0"/>
          </a:p>
          <a:p>
            <a:pPr lvl="1"/>
            <a:r>
              <a:rPr lang="cs-CZ" dirty="0"/>
              <a:t>Konektor VGA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Konektor DVI</a:t>
            </a:r>
          </a:p>
          <a:p>
            <a:pPr lvl="2"/>
            <a:r>
              <a:rPr lang="cs-CZ" sz="1500" b="1" dirty="0"/>
              <a:t>DVI-D</a:t>
            </a:r>
            <a:r>
              <a:rPr lang="cs-CZ" sz="1500" dirty="0"/>
              <a:t> (</a:t>
            </a:r>
            <a:r>
              <a:rPr lang="cs-CZ" sz="1500" dirty="0" err="1"/>
              <a:t>digital</a:t>
            </a:r>
            <a:r>
              <a:rPr lang="cs-CZ" sz="1500" dirty="0"/>
              <a:t> </a:t>
            </a:r>
            <a:r>
              <a:rPr lang="cs-CZ" sz="1500" dirty="0" err="1"/>
              <a:t>only</a:t>
            </a:r>
            <a:r>
              <a:rPr lang="cs-CZ" sz="1500" dirty="0"/>
              <a:t>) - pouze digitální signál</a:t>
            </a:r>
          </a:p>
          <a:p>
            <a:pPr lvl="2"/>
            <a:r>
              <a:rPr lang="cs-CZ" sz="1500" b="1" dirty="0"/>
              <a:t>DVI-A</a:t>
            </a:r>
            <a:r>
              <a:rPr lang="cs-CZ" sz="1500" dirty="0"/>
              <a:t> (analog </a:t>
            </a:r>
            <a:r>
              <a:rPr lang="cs-CZ" sz="1500" dirty="0" err="1"/>
              <a:t>only</a:t>
            </a:r>
            <a:r>
              <a:rPr lang="cs-CZ" sz="1500" dirty="0"/>
              <a:t>) - pro kompatibilitu s analogovými monitory</a:t>
            </a:r>
          </a:p>
          <a:p>
            <a:pPr lvl="2"/>
            <a:r>
              <a:rPr lang="cs-CZ" sz="1500" b="1" dirty="0"/>
              <a:t>DVI-I (</a:t>
            </a:r>
            <a:r>
              <a:rPr lang="cs-CZ" sz="1500" b="1" dirty="0" err="1"/>
              <a:t>digital</a:t>
            </a:r>
            <a:r>
              <a:rPr lang="cs-CZ" sz="1500" b="1" dirty="0"/>
              <a:t> &amp; analog) - digitální i analogový signál</a:t>
            </a:r>
          </a:p>
          <a:p>
            <a:pPr lvl="1"/>
            <a:endParaRPr lang="cs-CZ" dirty="0"/>
          </a:p>
          <a:p>
            <a:pPr lvl="1"/>
            <a:r>
              <a:rPr lang="cs-CZ" b="1" dirty="0"/>
              <a:t>Konektor HDMI</a:t>
            </a:r>
          </a:p>
          <a:p>
            <a:pPr lvl="1"/>
            <a:r>
              <a:rPr lang="cs-CZ" b="1" dirty="0"/>
              <a:t>Display Port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Konektor S-Video nebo SCART (málo používané)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409" y="4098020"/>
            <a:ext cx="1684655" cy="1440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765" y="3492337"/>
            <a:ext cx="1148084" cy="574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602" y="3519869"/>
            <a:ext cx="1285876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009" y="2935124"/>
            <a:ext cx="1285876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602" y="2964229"/>
            <a:ext cx="1148084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581" y="4054434"/>
            <a:ext cx="1252197" cy="477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857" y="4036040"/>
            <a:ext cx="114808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586208"/>
            <a:ext cx="943545" cy="1288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59" y="4993441"/>
            <a:ext cx="1382765" cy="151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602" y="6027828"/>
            <a:ext cx="1117407" cy="58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HDMI vs DisplayPort: Which is the best? - RTINGS.com">
            <a:extLst>
              <a:ext uri="{FF2B5EF4-FFF2-40B4-BE49-F238E27FC236}">
                <a16:creationId xmlns:a16="http://schemas.microsoft.com/office/drawing/2014/main" id="{873398A8-FED7-9DB9-DE1E-0F996634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591468"/>
            <a:ext cx="1684655" cy="94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83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279B19-5F26-4361-F217-2E918152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06" y="405349"/>
            <a:ext cx="3106688" cy="1143000"/>
          </a:xfrm>
        </p:spPr>
        <p:txBody>
          <a:bodyPr/>
          <a:lstStyle/>
          <a:p>
            <a:r>
              <a:rPr lang="cs-CZ" dirty="0"/>
              <a:t>Konektivita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2187A8-34C2-C1B8-154B-AE2B7CDD9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057399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cs-CZ" dirty="0"/>
              <a:t>Existuje hned několik způsobů, jak můžete ke grafické kartě, potažmo k počítači, připojit monitor, televizi, projektor a vůbec cokoliv chcete. Na grafických kartách se nejčastěji setkáte s porty </a:t>
            </a:r>
            <a:r>
              <a:rPr lang="cs-CZ" b="1" dirty="0"/>
              <a:t>HDMI, </a:t>
            </a:r>
            <a:r>
              <a:rPr lang="cs-CZ" b="1" dirty="0" err="1"/>
              <a:t>DisplayPort</a:t>
            </a:r>
            <a:r>
              <a:rPr lang="cs-CZ" b="1" dirty="0"/>
              <a:t> a DVI</a:t>
            </a:r>
            <a:r>
              <a:rPr lang="cs-CZ" dirty="0"/>
              <a:t>.</a:t>
            </a:r>
          </a:p>
          <a:p>
            <a:pPr algn="just"/>
            <a:endParaRPr lang="cs-CZ" dirty="0"/>
          </a:p>
          <a:p>
            <a:pPr algn="just"/>
            <a:r>
              <a:rPr lang="cs-CZ" b="1" dirty="0"/>
              <a:t>HDMI</a:t>
            </a:r>
            <a:r>
              <a:rPr lang="cs-CZ" dirty="0"/>
              <a:t> – dnes nejpoužívanější konektor, schopný přenášet obraz i zvuk, a to i ve vysokém rozlišení. Klasickým HDMI kabelem můžete v dnešní době propojit téměř jakékoliv zobrazovací zařízení.</a:t>
            </a:r>
          </a:p>
          <a:p>
            <a:pPr algn="just"/>
            <a:r>
              <a:rPr lang="cs-CZ" b="1" dirty="0" err="1"/>
              <a:t>DisplayPort</a:t>
            </a:r>
            <a:r>
              <a:rPr lang="cs-CZ" dirty="0"/>
              <a:t> (DP) je typ rozhraní čerpající z HDMI, který zajišťuje velice kvalitní obraz. Pokud plánujete do počítače zapojit pouze monitor, jistě nešlápnete vedle. Dávejte si ovšem pozor v případě ostatních zařízení. Televize, které podporují toto rozhraní, jsou totiž převážně raritou.</a:t>
            </a:r>
          </a:p>
          <a:p>
            <a:pPr algn="just"/>
            <a:r>
              <a:rPr lang="cs-CZ" b="1" dirty="0"/>
              <a:t>DVI</a:t>
            </a:r>
            <a:r>
              <a:rPr lang="cs-CZ" dirty="0"/>
              <a:t> – toto rozhraní se na karty přidává prakticky pouze kvůli </a:t>
            </a:r>
            <a:r>
              <a:rPr lang="cs-CZ" i="1" dirty="0"/>
              <a:t>kompatibilitě se staršími monitory</a:t>
            </a:r>
            <a:r>
              <a:rPr lang="cs-CZ" dirty="0"/>
              <a:t>. V porovnání s rozhraním HDMI a DP je v dnešní době zkrátka nedostatečné. Pokud tedy máte možnost připojení pomocí novějšího rozhraní, jistě jí využijte.</a:t>
            </a:r>
          </a:p>
          <a:p>
            <a:pPr marL="0" indent="0" algn="just">
              <a:buNone/>
            </a:pPr>
            <a:endParaRPr lang="cs-CZ" dirty="0"/>
          </a:p>
          <a:p>
            <a:pPr algn="just"/>
            <a:r>
              <a:rPr lang="cs-CZ" sz="2500" dirty="0">
                <a:solidFill>
                  <a:srgbClr val="0070C0"/>
                </a:solidFill>
              </a:rPr>
              <a:t>Tip: Pokud plánujete hrát ve virtuální realitě, vyberte si takovou kartu, která má 2 HDMI porty. Brýle se totiž připojují právě přes toto rozhraní a vy tak ušetříte čas i peníze za další adaptéry.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2BDC57C-D172-CF9A-487D-568E747B9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865" y="147359"/>
            <a:ext cx="2098616" cy="179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F9B0A09E-0B66-DC76-92CB-9A10ED6B7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481" y="548680"/>
            <a:ext cx="35814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7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Složení grafické karty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cs-CZ" dirty="0"/>
              <a:t>Sloty pro připojení</a:t>
            </a:r>
          </a:p>
          <a:p>
            <a:pPr lvl="1" algn="just"/>
            <a:r>
              <a:rPr lang="cs-CZ" dirty="0"/>
              <a:t>Starší sloty:</a:t>
            </a:r>
          </a:p>
          <a:p>
            <a:pPr lvl="2" algn="just"/>
            <a:r>
              <a:rPr lang="cs-CZ" dirty="0"/>
              <a:t>ISA</a:t>
            </a:r>
          </a:p>
          <a:p>
            <a:pPr lvl="2" algn="just"/>
            <a:r>
              <a:rPr lang="cs-CZ" dirty="0"/>
              <a:t>VL-BUS</a:t>
            </a:r>
          </a:p>
          <a:p>
            <a:pPr lvl="2" algn="just"/>
            <a:r>
              <a:rPr lang="cs-CZ" dirty="0"/>
              <a:t>PCI</a:t>
            </a:r>
          </a:p>
          <a:p>
            <a:pPr lvl="2" algn="just"/>
            <a:r>
              <a:rPr lang="cs-CZ" dirty="0"/>
              <a:t>AGP – 1997 Intel – AGP 1 (266 MB/s), 2003 AGP 8 (2,1 GB/s)</a:t>
            </a:r>
          </a:p>
          <a:p>
            <a:pPr lvl="1" algn="just"/>
            <a:r>
              <a:rPr lang="cs-CZ" dirty="0"/>
              <a:t>Současné sloty:</a:t>
            </a:r>
          </a:p>
          <a:p>
            <a:pPr lvl="2" algn="just"/>
            <a:r>
              <a:rPr lang="cs-CZ" dirty="0" err="1"/>
              <a:t>PCIe</a:t>
            </a:r>
            <a:r>
              <a:rPr lang="cs-CZ" dirty="0"/>
              <a:t> – (</a:t>
            </a:r>
            <a:r>
              <a:rPr lang="cs-CZ" dirty="0" err="1"/>
              <a:t>PCIe</a:t>
            </a:r>
            <a:r>
              <a:rPr lang="cs-CZ" dirty="0"/>
              <a:t> 16x) rychlý sériový přenos (2,5 GT/s v1,5GT/s v2, 8GT/s v3, 32GT/s v4, 64GT/s v5). Údaje přenáší po drahách obousměrně rychlostí 250 </a:t>
            </a:r>
            <a:r>
              <a:rPr lang="cs-CZ" dirty="0" err="1"/>
              <a:t>MB/s</a:t>
            </a:r>
            <a:r>
              <a:rPr lang="cs-CZ" dirty="0"/>
              <a:t> ve verzi 1 (500 MHz v2, 985 </a:t>
            </a:r>
            <a:r>
              <a:rPr lang="cs-CZ" dirty="0" err="1"/>
              <a:t>Mhz</a:t>
            </a:r>
            <a:r>
              <a:rPr lang="cs-CZ" dirty="0"/>
              <a:t> v3, 1970 MHz v4, 3940 </a:t>
            </a:r>
            <a:r>
              <a:rPr lang="cs-CZ" dirty="0" err="1"/>
              <a:t>Mhz</a:t>
            </a:r>
            <a:r>
              <a:rPr lang="cs-CZ" dirty="0"/>
              <a:t> v5). Využívá více přenosových drah (sčítají se = větší rychlost). </a:t>
            </a:r>
          </a:p>
          <a:p>
            <a:pPr lvl="2" algn="just"/>
            <a:r>
              <a:rPr lang="cs-CZ" dirty="0" err="1"/>
              <a:t>PCIe</a:t>
            </a:r>
            <a:r>
              <a:rPr lang="cs-CZ" dirty="0"/>
              <a:t> – 1x, 4x, 8x, 16x – typy slotů, externí - </a:t>
            </a:r>
            <a:r>
              <a:rPr lang="cs-CZ" dirty="0" err="1"/>
              <a:t>thunderbolt</a:t>
            </a:r>
            <a:endParaRPr lang="cs-CZ" dirty="0"/>
          </a:p>
          <a:p>
            <a:pPr lvl="2" algn="just">
              <a:buNone/>
            </a:pPr>
            <a:endParaRPr lang="cs-CZ" dirty="0"/>
          </a:p>
          <a:p>
            <a:pPr algn="just">
              <a:buNone/>
            </a:pPr>
            <a:r>
              <a:rPr lang="cs-CZ" sz="1500" dirty="0">
                <a:hlinkClick r:id="rId2"/>
              </a:rPr>
              <a:t>http://pctuning.tyden.cz/hardware/graficke-karty/26777-sli-versus-crossfire-podrobne-srovnani-multi-gpu</a:t>
            </a:r>
            <a:r>
              <a:rPr lang="cs-CZ" sz="1500" dirty="0"/>
              <a:t> </a:t>
            </a:r>
          </a:p>
        </p:txBody>
      </p:sp>
      <p:pic>
        <p:nvPicPr>
          <p:cNvPr id="14338" name="Picture 2" descr="SLI versus CrossFire — podrobné srovnání multi GP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6910" y="1196752"/>
            <a:ext cx="3515233" cy="20597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83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5EB30F-2CF1-64A3-C27B-D2561B7E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826768" cy="1143000"/>
          </a:xfrm>
        </p:spPr>
        <p:txBody>
          <a:bodyPr/>
          <a:lstStyle/>
          <a:p>
            <a:r>
              <a:rPr lang="cs-CZ" dirty="0"/>
              <a:t>PCI express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EA5E04-89A4-114A-1F03-2E13E11E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00808"/>
            <a:ext cx="8507288" cy="515719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1.0 - byla představena v roce 2003 s rychlostí 250 </a:t>
            </a:r>
            <a:r>
              <a:rPr lang="cs-CZ" b="0" i="0" dirty="0" err="1">
                <a:solidFill>
                  <a:srgbClr val="001133"/>
                </a:solidFill>
                <a:effectLst/>
              </a:rPr>
              <a:t>MB/s</a:t>
            </a:r>
            <a:r>
              <a:rPr lang="cs-CZ" b="0" i="0" dirty="0">
                <a:solidFill>
                  <a:srgbClr val="001133"/>
                </a:solidFill>
                <a:effectLst/>
              </a:rPr>
              <a:t> na jedné lince a přenosovou rychlostí 2.5 GT/s.</a:t>
            </a:r>
          </a:p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1.1 - 2005, byla představena aktualizace na verzi 1.1. Ta se týkala pouze několika málo úprav při zachování stejné rychlosti a plné zpětné kompatibility.</a:t>
            </a:r>
          </a:p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2.0 (2.1.) - byl představen roku 2007, zvyšoval přenosovou rychlost jedné linky z 250 </a:t>
            </a:r>
            <a:r>
              <a:rPr lang="cs-CZ" b="0" i="0" dirty="0" err="1">
                <a:solidFill>
                  <a:srgbClr val="001133"/>
                </a:solidFill>
                <a:effectLst/>
              </a:rPr>
              <a:t>MB/s</a:t>
            </a:r>
            <a:r>
              <a:rPr lang="cs-CZ" b="0" i="0" dirty="0">
                <a:solidFill>
                  <a:srgbClr val="001133"/>
                </a:solidFill>
                <a:effectLst/>
              </a:rPr>
              <a:t> na 500 MB/s. (podpora SLI od v2.1.).</a:t>
            </a:r>
          </a:p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3.0 - specifikace verze 3.0 byly zveřejněny v listopadu 2010. Propustnost oproti verzi 2.0 vzroste na 8 GT/s a byla zpětně kompatibilní s předešlou verzí (podpora pro paměťové moduly od v3).</a:t>
            </a:r>
          </a:p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4.0 – v roce 2011 byl oznámen začátek prací na </a:t>
            </a:r>
            <a:r>
              <a:rPr lang="cs-CZ" b="0" i="0" dirty="0" err="1">
                <a:solidFill>
                  <a:srgbClr val="001133"/>
                </a:solidFill>
                <a:effectLst/>
              </a:rPr>
              <a:t>vevrzi</a:t>
            </a:r>
            <a:r>
              <a:rPr lang="cs-CZ" b="0" i="0" dirty="0">
                <a:solidFill>
                  <a:srgbClr val="001133"/>
                </a:solidFill>
                <a:effectLst/>
              </a:rPr>
              <a:t> 4 s cílem dosáhnout rychlosti 32 GB/s. Až v roce 2017 konsorcium PCI-SIG prohlásilo specifikaci PCI-Express 4.0 konečně za finální.</a:t>
            </a:r>
          </a:p>
          <a:p>
            <a:pPr algn="just"/>
            <a:r>
              <a:rPr lang="cs-CZ" b="0" i="0" dirty="0">
                <a:solidFill>
                  <a:srgbClr val="001133"/>
                </a:solidFill>
                <a:effectLst/>
              </a:rPr>
              <a:t>PCI-Express 5.0 - specifikace verze 5 byly oznámeny v květnu 2019. Tato generace opět přináší dvojnásobný výkon, respektive přenosovou rychlost. S touto specifikací se nepočítá pro osobní počítače ale spíše pro síťové komponenty, servery, apod.</a:t>
            </a:r>
          </a:p>
          <a:p>
            <a:pPr marL="0" indent="0">
              <a:buNone/>
            </a:pPr>
            <a:r>
              <a:rPr lang="cs-CZ" sz="1700" dirty="0">
                <a:solidFill>
                  <a:srgbClr val="001133"/>
                </a:solidFill>
              </a:rPr>
              <a:t>Pozn: 	</a:t>
            </a:r>
            <a:r>
              <a:rPr lang="cs-CZ" sz="1700" b="0" i="0" dirty="0">
                <a:solidFill>
                  <a:srgbClr val="001133"/>
                </a:solidFill>
                <a:effectLst/>
              </a:rPr>
              <a:t>GT/s = </a:t>
            </a:r>
            <a:r>
              <a:rPr lang="cs-CZ" sz="1700" b="0" i="0" dirty="0" err="1">
                <a:solidFill>
                  <a:srgbClr val="001133"/>
                </a:solidFill>
                <a:effectLst/>
              </a:rPr>
              <a:t>gigatransfer</a:t>
            </a:r>
            <a:r>
              <a:rPr lang="cs-CZ" sz="1700" b="0" i="0" dirty="0">
                <a:solidFill>
                  <a:srgbClr val="001133"/>
                </a:solidFill>
                <a:effectLst/>
              </a:rPr>
              <a:t> za sekundu = 10</a:t>
            </a:r>
            <a:r>
              <a:rPr lang="cs-CZ" sz="1700" b="0" i="0" baseline="30000" dirty="0">
                <a:solidFill>
                  <a:srgbClr val="001133"/>
                </a:solidFill>
                <a:effectLst/>
              </a:rPr>
              <a:t>9</a:t>
            </a:r>
            <a:r>
              <a:rPr lang="cs-CZ" sz="1700" b="0" i="0" dirty="0">
                <a:solidFill>
                  <a:srgbClr val="001133"/>
                </a:solidFill>
                <a:effectLst/>
              </a:rPr>
              <a:t>/s. </a:t>
            </a:r>
          </a:p>
          <a:p>
            <a:pPr marL="0" indent="0">
              <a:buNone/>
            </a:pPr>
            <a:r>
              <a:rPr lang="cs-CZ" sz="1700" dirty="0">
                <a:solidFill>
                  <a:srgbClr val="001133"/>
                </a:solidFill>
              </a:rPr>
              <a:t>	SLI - </a:t>
            </a:r>
            <a:r>
              <a:rPr lang="cs-CZ" sz="1700" i="0" dirty="0" err="1">
                <a:solidFill>
                  <a:srgbClr val="001133"/>
                </a:solidFill>
                <a:effectLst/>
              </a:rPr>
              <a:t>Scalable</a:t>
            </a:r>
            <a:r>
              <a:rPr lang="cs-CZ" sz="1700" i="0" dirty="0">
                <a:solidFill>
                  <a:srgbClr val="001133"/>
                </a:solidFill>
                <a:effectLst/>
              </a:rPr>
              <a:t> Link Interface, propojení vice GK na jedné desce ( </a:t>
            </a:r>
            <a:r>
              <a:rPr lang="cs-CZ" sz="1700" i="0" dirty="0">
                <a:solidFill>
                  <a:srgbClr val="001133"/>
                </a:solidFill>
                <a:effectLst/>
                <a:hlinkClick r:id="rId2"/>
              </a:rPr>
              <a:t>https://czwiki.cz/Lexikon/SLI</a:t>
            </a:r>
            <a:r>
              <a:rPr lang="cs-CZ" sz="1700" i="0" dirty="0">
                <a:solidFill>
                  <a:srgbClr val="001133"/>
                </a:solidFill>
                <a:effectLst/>
              </a:rPr>
              <a:t> )</a:t>
            </a:r>
          </a:p>
          <a:p>
            <a:pPr marL="0" indent="0">
              <a:buNone/>
            </a:pPr>
            <a:r>
              <a:rPr lang="cs-CZ" sz="1700" dirty="0">
                <a:solidFill>
                  <a:srgbClr val="001133"/>
                </a:solidFill>
              </a:rPr>
              <a:t>	 </a:t>
            </a:r>
            <a:r>
              <a:rPr lang="cs-CZ" sz="1700" dirty="0">
                <a:solidFill>
                  <a:srgbClr val="001133"/>
                </a:solidFill>
                <a:hlinkClick r:id="rId3"/>
              </a:rPr>
              <a:t>https://czwiki.cz/Lexikon/PCI-Express#PCI-Express_3.0</a:t>
            </a:r>
            <a:r>
              <a:rPr lang="cs-CZ" sz="1700" dirty="0">
                <a:solidFill>
                  <a:srgbClr val="001133"/>
                </a:solidFill>
              </a:rPr>
              <a:t> </a:t>
            </a:r>
            <a:endParaRPr lang="cs-CZ" sz="1700" i="0" dirty="0">
              <a:solidFill>
                <a:srgbClr val="001133"/>
              </a:solidFill>
              <a:effectLst/>
            </a:endParaRP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659067F-2F8B-4AE6-B141-D1784F9CF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08335"/>
            <a:ext cx="2170009" cy="14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Složení grafické karty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68759"/>
            <a:ext cx="7848872" cy="5523861"/>
          </a:xfrm>
        </p:spPr>
      </p:pic>
    </p:spTree>
    <p:extLst>
      <p:ext uri="{BB962C8B-B14F-4D97-AF65-F5344CB8AC3E}">
        <p14:creationId xmlns:p14="http://schemas.microsoft.com/office/powerpoint/2010/main" val="4175266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Zpracování grafické informace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1268760"/>
            <a:ext cx="5760640" cy="54006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cs-CZ" dirty="0"/>
              <a:t>Začíná se od procesoru, který zadá požadavky k zobrazení přes adresovou sběrnici ZD, následně přes datovou sběrnici a rozhraní GK uloží data do grafické paměti (GDDR).  Z grafické paměti údaje čte zobrazovací čip (GPU) a přes výstupní konektory údaje odesílá na monitor. Grafický čip nepracuje pouze jako převodník dat na obraz, ale pomáhá CPU při některých výpočtech 2D a 3D operací, některé operace provádí i samostatně (grafický akcelerátor).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348880"/>
            <a:ext cx="2662670" cy="257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9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cs-CZ" dirty="0"/>
              <a:t>Charakteristiky GK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9512" y="980728"/>
            <a:ext cx="5688632" cy="5390059"/>
          </a:xfrm>
        </p:spPr>
        <p:txBody>
          <a:bodyPr>
            <a:noAutofit/>
          </a:bodyPr>
          <a:lstStyle/>
          <a:p>
            <a:pPr algn="just"/>
            <a:r>
              <a:rPr lang="cs-CZ" sz="2600" b="1" dirty="0"/>
              <a:t>Rozlišení</a:t>
            </a:r>
            <a:r>
              <a:rPr lang="cs-CZ" sz="2600" dirty="0"/>
              <a:t> – počet svislých a vodorovných bodů, které tvoří obraz. (640x480,800x600, …1600x1200, atd.) Poměr mezi šířkou a výškou odpovídá standardnímu poměru 4:3</a:t>
            </a:r>
          </a:p>
          <a:p>
            <a:pPr algn="just"/>
            <a:r>
              <a:rPr lang="cs-CZ" sz="2600" dirty="0"/>
              <a:t>Nestandardní poměry, nebo tzv. širokoúhlé formáty, mají poměr 16:9 (1920x1080, 1366x768, atd), popřípadě 16:10 (1680x1050, apod.).</a:t>
            </a:r>
          </a:p>
          <a:p>
            <a:pPr algn="just"/>
            <a:r>
              <a:rPr lang="cs-CZ" sz="2600" dirty="0"/>
              <a:t>Dnes se používají častěji nestandardní poměry stran. 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158" y="1808820"/>
            <a:ext cx="297033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7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7584" y="361604"/>
            <a:ext cx="4618856" cy="1143000"/>
          </a:xfrm>
        </p:spPr>
        <p:txBody>
          <a:bodyPr/>
          <a:lstStyle/>
          <a:p>
            <a:r>
              <a:rPr lang="cs-CZ" dirty="0"/>
              <a:t>Charakteristiky GK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cs-CZ" b="1" dirty="0"/>
              <a:t>Barevná hloubka </a:t>
            </a:r>
            <a:r>
              <a:rPr lang="cs-CZ" dirty="0"/>
              <a:t>(</a:t>
            </a:r>
            <a:r>
              <a:rPr lang="cs-CZ" dirty="0" err="1"/>
              <a:t>Colour</a:t>
            </a:r>
            <a:r>
              <a:rPr lang="cs-CZ" dirty="0"/>
              <a:t> </a:t>
            </a:r>
            <a:r>
              <a:rPr lang="cs-CZ" dirty="0" err="1"/>
              <a:t>depth</a:t>
            </a:r>
            <a:r>
              <a:rPr lang="cs-CZ" dirty="0"/>
              <a:t>)– definuje počet barev, které je GK schopna při určitém rozlišení zobrazit.</a:t>
            </a:r>
          </a:p>
          <a:p>
            <a:pPr algn="just"/>
            <a:r>
              <a:rPr lang="cs-CZ" dirty="0"/>
              <a:t>Dříve se udávala počtem barev (4, 16, 256),Dnes se udává počet barev v bitech (16 bitů, </a:t>
            </a:r>
            <a:r>
              <a:rPr lang="cs-CZ" u="sng" dirty="0"/>
              <a:t>24 bitů, 32 bitů</a:t>
            </a:r>
            <a:r>
              <a:rPr lang="cs-CZ" dirty="0"/>
              <a:t>, až 48 bitů</a:t>
            </a:r>
            <a:r>
              <a:rPr lang="cs-CZ" u="sng" dirty="0"/>
              <a:t>)</a:t>
            </a:r>
            <a:r>
              <a:rPr lang="cs-CZ" dirty="0"/>
              <a:t>. Jde o počet bitů, potřebných pro zakódování barvy jednoho bodu (pixelu).    </a:t>
            </a:r>
          </a:p>
          <a:p>
            <a:pPr algn="just"/>
            <a:r>
              <a:rPr lang="cs-CZ" dirty="0"/>
              <a:t>16 bitů = 2</a:t>
            </a:r>
            <a:r>
              <a:rPr lang="cs-CZ" baseline="30000" dirty="0"/>
              <a:t>16</a:t>
            </a:r>
            <a:r>
              <a:rPr lang="cs-CZ" dirty="0"/>
              <a:t> = 65536 &gt;&gt; </a:t>
            </a:r>
            <a:r>
              <a:rPr lang="cs-CZ" dirty="0" err="1"/>
              <a:t>high-color</a:t>
            </a:r>
            <a:endParaRPr lang="cs-CZ" dirty="0"/>
          </a:p>
          <a:p>
            <a:pPr algn="just"/>
            <a:r>
              <a:rPr lang="cs-CZ" dirty="0"/>
              <a:t>24  bitů = 2</a:t>
            </a:r>
            <a:r>
              <a:rPr lang="cs-CZ" baseline="30000" dirty="0"/>
              <a:t>24</a:t>
            </a:r>
            <a:r>
              <a:rPr lang="cs-CZ" dirty="0"/>
              <a:t> (16 777 216</a:t>
            </a:r>
            <a:r>
              <a:rPr lang="cs-CZ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cs-CZ" dirty="0"/>
              <a:t> &gt;&gt; </a:t>
            </a:r>
            <a:r>
              <a:rPr lang="cs-CZ" dirty="0" err="1"/>
              <a:t>true-color</a:t>
            </a:r>
            <a:endParaRPr lang="cs-CZ" dirty="0"/>
          </a:p>
          <a:p>
            <a:pPr algn="just"/>
            <a:r>
              <a:rPr lang="cs-CZ" dirty="0"/>
              <a:t>32 bitů = 2</a:t>
            </a:r>
            <a:r>
              <a:rPr lang="cs-CZ" baseline="30000" dirty="0"/>
              <a:t>32</a:t>
            </a:r>
            <a:r>
              <a:rPr lang="cs-CZ" dirty="0"/>
              <a:t> (4 294 967 296) až 48 &gt;&gt; </a:t>
            </a:r>
            <a:r>
              <a:rPr lang="cs-CZ" dirty="0" err="1"/>
              <a:t>deep</a:t>
            </a:r>
            <a:r>
              <a:rPr lang="cs-CZ" dirty="0"/>
              <a:t> </a:t>
            </a:r>
            <a:r>
              <a:rPr lang="cs-CZ" dirty="0" err="1"/>
              <a:t>color</a:t>
            </a:r>
            <a:endParaRPr lang="cs-CZ" dirty="0"/>
          </a:p>
          <a:p>
            <a:pPr algn="just"/>
            <a:r>
              <a:rPr lang="cs-CZ" sz="2400" dirty="0">
                <a:solidFill>
                  <a:srgbClr val="0070C0"/>
                </a:solidFill>
              </a:rPr>
              <a:t>Pozn: Je celkem pochopitelné, že s větším počtem barev vzrůstají také nároky na výpočetní výkon grafické karty.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503AD7C-695C-3E91-EAF6-666B9635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09291"/>
            <a:ext cx="1647626" cy="164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Charakteristiky GK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cs-CZ" b="1" dirty="0"/>
              <a:t>Obnovovací frekvence </a:t>
            </a:r>
            <a:r>
              <a:rPr lang="cs-CZ" dirty="0"/>
              <a:t>– určuje, kolikrát za sekundu je grafická karta (spolu s monitorem) schopna aktualizovat obraz. </a:t>
            </a:r>
          </a:p>
          <a:p>
            <a:pPr algn="just"/>
            <a:r>
              <a:rPr lang="cs-CZ" dirty="0"/>
              <a:t>Udává se horizontální a vertikální frekvence.</a:t>
            </a:r>
          </a:p>
          <a:p>
            <a:pPr lvl="1" algn="just"/>
            <a:r>
              <a:rPr lang="cs-CZ" dirty="0"/>
              <a:t>horizontální obnovovací frekvence určuje řádkovou obnovovací frekvenci, </a:t>
            </a:r>
          </a:p>
          <a:p>
            <a:pPr lvl="1" algn="just"/>
            <a:r>
              <a:rPr lang="cs-CZ" dirty="0"/>
              <a:t>vertikální pak obnovovací frekvenci celé obrazovky.</a:t>
            </a:r>
          </a:p>
          <a:p>
            <a:pPr algn="just"/>
            <a:r>
              <a:rPr lang="cs-CZ" dirty="0"/>
              <a:t>V případě nízké vertikální obnovovací frekvence obraz bliká.</a:t>
            </a:r>
          </a:p>
          <a:p>
            <a:pPr algn="just"/>
            <a:r>
              <a:rPr lang="cs-CZ" dirty="0"/>
              <a:t>70 – 100 Hz 	</a:t>
            </a:r>
            <a:r>
              <a:rPr lang="cs-CZ" sz="1600" dirty="0"/>
              <a:t>(Platí pro CRT) &gt;&gt; Trinitron monitory (SONY) měly až 120 Hz</a:t>
            </a:r>
          </a:p>
          <a:p>
            <a:pPr algn="just"/>
            <a:r>
              <a:rPr lang="cs-CZ" dirty="0"/>
              <a:t>50 – 100 Hz </a:t>
            </a:r>
            <a:r>
              <a:rPr lang="cs-CZ" sz="1600" dirty="0"/>
              <a:t>	(Platí pro LCD) &gt;&gt; běžné displeje u notebooků mají 60Hz</a:t>
            </a:r>
          </a:p>
          <a:p>
            <a:pPr algn="just"/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200868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6BFCB6-A266-93E4-5789-918F376E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09"/>
            <a:ext cx="8229600" cy="1143000"/>
          </a:xfrm>
        </p:spPr>
        <p:txBody>
          <a:bodyPr/>
          <a:lstStyle/>
          <a:p>
            <a:r>
              <a:rPr lang="cs-CZ" dirty="0"/>
              <a:t>Charakteristiky GK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D4EEE-7A55-22E5-CECB-6498CF0DB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0609"/>
            <a:ext cx="8291264" cy="282934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cs-CZ" b="1" dirty="0"/>
              <a:t>Parametry GDDR </a:t>
            </a:r>
            <a:r>
              <a:rPr lang="cs-CZ" dirty="0"/>
              <a:t>(</a:t>
            </a:r>
            <a:r>
              <a:rPr lang="cs-CZ" dirty="0" err="1"/>
              <a:t>Graphic</a:t>
            </a:r>
            <a:r>
              <a:rPr lang="cs-CZ" dirty="0"/>
              <a:t> Double Data </a:t>
            </a:r>
            <a:r>
              <a:rPr lang="cs-CZ" dirty="0" err="1"/>
              <a:t>Rate</a:t>
            </a:r>
            <a:r>
              <a:rPr lang="cs-CZ" dirty="0"/>
              <a:t>) - základní parametr pamětí je </a:t>
            </a:r>
            <a:r>
              <a:rPr lang="cs-CZ" u="sng" dirty="0"/>
              <a:t>kapacita</a:t>
            </a:r>
            <a:r>
              <a:rPr lang="cs-CZ" dirty="0"/>
              <a:t>, dále pak </a:t>
            </a:r>
            <a:r>
              <a:rPr lang="cs-CZ" u="sng" dirty="0"/>
              <a:t>frekvence</a:t>
            </a:r>
            <a:r>
              <a:rPr lang="cs-CZ" dirty="0"/>
              <a:t>, která se udává v hertzích [Hz], tato jednotka udává počet cyklů za jednu sekundu. </a:t>
            </a:r>
          </a:p>
          <a:p>
            <a:pPr marL="0" indent="0" algn="just">
              <a:buNone/>
            </a:pPr>
            <a:r>
              <a:rPr lang="cs-CZ" dirty="0"/>
              <a:t>Následuje CAS </a:t>
            </a:r>
            <a:r>
              <a:rPr lang="cs-CZ" dirty="0" err="1"/>
              <a:t>latency</a:t>
            </a:r>
            <a:r>
              <a:rPr lang="cs-CZ" dirty="0"/>
              <a:t> = </a:t>
            </a:r>
            <a:r>
              <a:rPr lang="cs-CZ" u="sng" dirty="0"/>
              <a:t>délka čekání</a:t>
            </a:r>
            <a:r>
              <a:rPr lang="cs-CZ" dirty="0"/>
              <a:t>, než se data objeví na pinech paměti po zadání adresy požadovaného přenosu dat do paměti. Čím nižší je hodnota latence, tím lépe. Tento údaj se podílí na celkové odezvě (</a:t>
            </a:r>
            <a:r>
              <a:rPr lang="cs-CZ" dirty="0" err="1"/>
              <a:t>memory</a:t>
            </a:r>
            <a:r>
              <a:rPr lang="cs-CZ" dirty="0"/>
              <a:t> </a:t>
            </a:r>
            <a:r>
              <a:rPr lang="cs-CZ" dirty="0" err="1"/>
              <a:t>timings</a:t>
            </a:r>
            <a:r>
              <a:rPr lang="cs-CZ" dirty="0"/>
              <a:t>, </a:t>
            </a:r>
            <a:r>
              <a:rPr lang="cs-CZ" dirty="0" err="1"/>
              <a:t>ns</a:t>
            </a:r>
            <a:r>
              <a:rPr lang="cs-CZ" dirty="0"/>
              <a:t>) každé paměti. </a:t>
            </a:r>
          </a:p>
          <a:p>
            <a:pPr marL="0" indent="0" algn="just">
              <a:buNone/>
            </a:pPr>
            <a:r>
              <a:rPr lang="cs-CZ" dirty="0"/>
              <a:t>V současné době by paměť GK neměla být menší než 4GB, záleží ale hlavně na použití GK.  V případě herních počítačů je takové minimum 8GB, u kancelářského stačí 2GB.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36D5ECE-775E-50FC-DCC1-7B766DAA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645024"/>
            <a:ext cx="3763028" cy="2213926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C2A4EE7-4A3A-A396-B362-87C80D7DE380}"/>
              </a:ext>
            </a:extLst>
          </p:cNvPr>
          <p:cNvSpPr txBox="1"/>
          <p:nvPr/>
        </p:nvSpPr>
        <p:spPr>
          <a:xfrm>
            <a:off x="457200" y="6021288"/>
            <a:ext cx="6685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hlinkClick r:id="rId3"/>
              </a:rPr>
              <a:t>https://www.cnews.cz/pameti-v-grafikach-jejich-deleni-myty-a-fakta/</a:t>
            </a:r>
            <a:endParaRPr lang="cs-CZ" dirty="0"/>
          </a:p>
          <a:p>
            <a:r>
              <a:rPr lang="cs-CZ" dirty="0">
                <a:hlinkClick r:id="rId4"/>
              </a:rPr>
              <a:t>https://www.alza.cz/jak-vybrat-grafickou-kartu#herni</a:t>
            </a:r>
            <a:r>
              <a:rPr lang="cs-CZ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77430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3D grafické karty (akcelerátor)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cs-CZ" dirty="0"/>
              <a:t>Vzhledem k neustálému zvyšování nároků na grafický výkon přestal být centrální procesor dostatečný (nástup 2D a 3D grafiky), proto vznikly GK s 3D akcelerátory (GPU).</a:t>
            </a:r>
          </a:p>
          <a:p>
            <a:pPr algn="just"/>
            <a:r>
              <a:rPr lang="cs-CZ" dirty="0"/>
              <a:t>Hlavní rozdíl mezi běžnou GK a 3D je v tom, že 3D karty mohou ve vlastní paměti vytvářet samostatně  dle požadavků určité obrazce (úsečky, trojúhelníky, kruhy, stíny, textury, ..)</a:t>
            </a:r>
          </a:p>
        </p:txBody>
      </p:sp>
    </p:spTree>
    <p:extLst>
      <p:ext uri="{BB962C8B-B14F-4D97-AF65-F5344CB8AC3E}">
        <p14:creationId xmlns:p14="http://schemas.microsoft.com/office/powerpoint/2010/main" val="2882109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3D grafické karty (akcelerátory)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28596" y="1857364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cs-CZ" dirty="0"/>
              <a:t>1. PGA – (1985), 3 karty, 2 se zapojovaly do počítače a jedna byla mimo počítač, vzájemně propojeny kabely (640x480  256 barev).</a:t>
            </a:r>
          </a:p>
          <a:p>
            <a:pPr algn="just"/>
            <a:r>
              <a:rPr lang="cs-CZ" dirty="0"/>
              <a:t>2. TARGA, TIGA, </a:t>
            </a:r>
            <a:r>
              <a:rPr lang="cs-CZ" dirty="0" err="1"/>
              <a:t>VooDoo</a:t>
            </a:r>
            <a:r>
              <a:rPr lang="cs-CZ" dirty="0"/>
              <a:t> – (1995), 2 karty zapojovaly se do počítače (GK a Akcelerátor), propojovaly se kabelem.</a:t>
            </a:r>
          </a:p>
          <a:p>
            <a:pPr algn="just"/>
            <a:r>
              <a:rPr lang="cs-CZ" dirty="0"/>
              <a:t>Dnes je akcelerátor (grafický procesor) součástí GK a označuje se jako GPU, který převzal některé funkce centrálního procesoru.</a:t>
            </a:r>
          </a:p>
          <a:p>
            <a:pPr algn="just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27950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6173" y="498202"/>
            <a:ext cx="6347048" cy="1143000"/>
          </a:xfrm>
        </p:spPr>
        <p:txBody>
          <a:bodyPr/>
          <a:lstStyle/>
          <a:p>
            <a:r>
              <a:rPr lang="cs-CZ" dirty="0"/>
              <a:t>2D operace (akcelerátoru)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2021490"/>
            <a:ext cx="8229600" cy="4525963"/>
          </a:xfrm>
        </p:spPr>
        <p:txBody>
          <a:bodyPr>
            <a:normAutofit fontScale="92500"/>
          </a:bodyPr>
          <a:lstStyle/>
          <a:p>
            <a:pPr algn="just"/>
            <a:r>
              <a:rPr lang="cs-CZ" dirty="0"/>
              <a:t>Ořez obrazu obdélníkem</a:t>
            </a:r>
          </a:p>
          <a:p>
            <a:pPr algn="just"/>
            <a:r>
              <a:rPr lang="cs-CZ" dirty="0"/>
              <a:t>Změna rozměrů (zvětšení či zmenšení bez potřeby zatěžovat CPU)</a:t>
            </a:r>
          </a:p>
          <a:p>
            <a:pPr algn="just"/>
            <a:r>
              <a:rPr lang="cs-CZ" dirty="0"/>
              <a:t>Vykreslování úseček, kruhů, elips,..</a:t>
            </a:r>
          </a:p>
          <a:p>
            <a:pPr algn="just"/>
            <a:r>
              <a:rPr lang="cs-CZ" dirty="0"/>
              <a:t>Vykreslování otevřených a uzavřených n-úhelníků.</a:t>
            </a:r>
          </a:p>
          <a:p>
            <a:pPr algn="just"/>
            <a:r>
              <a:rPr lang="cs-CZ" dirty="0"/>
              <a:t>Vykreslování a posun textu</a:t>
            </a:r>
          </a:p>
          <a:p>
            <a:pPr algn="just"/>
            <a:r>
              <a:rPr lang="cs-CZ" dirty="0"/>
              <a:t>Speciální operace s animacemi a videem (posun, střih,..)</a:t>
            </a:r>
          </a:p>
          <a:p>
            <a:pPr algn="just">
              <a:buNone/>
            </a:pPr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DF6CEB2-988B-6B36-C73C-0BF1E5D66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259365"/>
            <a:ext cx="2600325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6264696" cy="1143000"/>
          </a:xfrm>
        </p:spPr>
        <p:txBody>
          <a:bodyPr/>
          <a:lstStyle/>
          <a:p>
            <a:r>
              <a:rPr lang="cs-CZ" dirty="0"/>
              <a:t>3D operace (akcelerátoru)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709120"/>
          </a:xfrm>
        </p:spPr>
        <p:txBody>
          <a:bodyPr/>
          <a:lstStyle/>
          <a:p>
            <a:r>
              <a:rPr lang="cs-CZ" dirty="0"/>
              <a:t>Výpočet obrysů objektů</a:t>
            </a:r>
          </a:p>
          <a:p>
            <a:r>
              <a:rPr lang="cs-CZ" dirty="0"/>
              <a:t>Vyplnění texturou</a:t>
            </a:r>
          </a:p>
          <a:p>
            <a:r>
              <a:rPr lang="cs-CZ" dirty="0"/>
              <a:t>Určení viditelných ploch</a:t>
            </a:r>
          </a:p>
          <a:p>
            <a:r>
              <a:rPr lang="cs-CZ" dirty="0"/>
              <a:t>Výpočty velikosti objektu na základě umístění v prostoru</a:t>
            </a:r>
          </a:p>
          <a:p>
            <a:r>
              <a:rPr lang="cs-CZ" dirty="0"/>
              <a:t>Výpočty stínování a osvětlení, průhlednosti, zamlžení</a:t>
            </a:r>
          </a:p>
          <a:p>
            <a:r>
              <a:rPr lang="cs-CZ" dirty="0"/>
              <a:t>Vyhlazování obrysů objektů (</a:t>
            </a:r>
            <a:r>
              <a:rPr lang="cs-CZ" dirty="0" err="1"/>
              <a:t>antialiasing</a:t>
            </a:r>
            <a:r>
              <a:rPr lang="cs-CZ" dirty="0"/>
              <a:t>)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B0F8850-1595-1F95-8BA4-C21BD73A5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670" y="1124744"/>
            <a:ext cx="2642810" cy="21245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3D operace akcelerátoru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39552" y="1214422"/>
            <a:ext cx="8064896" cy="564357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cs-CZ" dirty="0"/>
              <a:t>    Téměř všechny algoritmy, které jsou implementované  v grafických akcelerátorech možno popsat funkcemi dvou rozhraní:</a:t>
            </a:r>
          </a:p>
          <a:p>
            <a:pPr algn="just">
              <a:buNone/>
            </a:pPr>
            <a:endParaRPr lang="cs-CZ" sz="2000" dirty="0"/>
          </a:p>
          <a:p>
            <a:pPr marL="514350" indent="-514350" algn="just">
              <a:buFont typeface="+mj-lt"/>
              <a:buAutoNum type="arabicPeriod"/>
            </a:pPr>
            <a:r>
              <a:rPr lang="cs-CZ" b="1" dirty="0" err="1"/>
              <a:t>OpenGL</a:t>
            </a:r>
            <a:r>
              <a:rPr lang="cs-CZ" dirty="0"/>
              <a:t> - je průmyslový standard specifikující multiplatformní rozhraní (API = programovací prostředí) pro tvorbu aplikací počítačové grafiky. Používá se při tvorbě počítačových her, CAD programů, aplikací virtuální reality, apod. </a:t>
            </a:r>
          </a:p>
          <a:p>
            <a:pPr algn="just"/>
            <a:r>
              <a:rPr lang="cs-CZ" dirty="0">
                <a:hlinkClick r:id="rId3"/>
              </a:rPr>
              <a:t>http://cs.wikipedia.org/wiki/OpenGL</a:t>
            </a:r>
            <a:r>
              <a:rPr lang="cs-CZ" dirty="0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3D operace (akcelerátoru)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lvl="1" indent="-514350" algn="just">
              <a:buFont typeface="+mj-lt"/>
              <a:buAutoNum type="arabicPeriod" startAt="2"/>
            </a:pPr>
            <a:r>
              <a:rPr lang="cs-CZ" b="1" dirty="0"/>
              <a:t>DirectX -</a:t>
            </a:r>
            <a:r>
              <a:rPr lang="cs-CZ" dirty="0"/>
              <a:t> je v informatice sada knihoven poskytujících aplikační rozhraní (API) pro umožnění přímého ovládání moderního hardwaru. Jejich cílem je maximální využití možností hardware jak po stránce nabízených funkcí, tak z hlediska maximálního výkonu, což je využíváno pro tvorbu počítačových her, multimediálních aplikací i grafického uživatelského prostředí</a:t>
            </a:r>
          </a:p>
          <a:p>
            <a:pPr marL="0" lvl="1" indent="0" algn="just">
              <a:buNone/>
            </a:pPr>
            <a:r>
              <a:rPr lang="cs-CZ" dirty="0"/>
              <a:t>      Aktuální verze: 12 </a:t>
            </a:r>
            <a:r>
              <a:rPr lang="cs-CZ" dirty="0" err="1"/>
              <a:t>Ultimate</a:t>
            </a:r>
            <a:endParaRPr lang="cs-CZ"/>
          </a:p>
          <a:p>
            <a:pPr marL="0" lvl="1" indent="0" algn="just">
              <a:buNone/>
            </a:pPr>
            <a:endParaRPr lang="cs-CZ" sz="2000" dirty="0"/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cs-CZ" dirty="0">
                <a:hlinkClick r:id="rId2"/>
              </a:rPr>
              <a:t>http://cs.wikipedia.org/wiki/DirectX</a:t>
            </a:r>
            <a:r>
              <a:rPr lang="cs-CZ" dirty="0"/>
              <a:t> </a:t>
            </a:r>
          </a:p>
          <a:p>
            <a:pPr marL="342900" lvl="1" indent="-342900" algn="just">
              <a:buFont typeface="Arial" pitchFamily="34" charset="0"/>
              <a:buChar char="•"/>
            </a:pPr>
            <a:endParaRPr lang="cs-CZ" dirty="0"/>
          </a:p>
          <a:p>
            <a:pPr algn="just"/>
            <a:endParaRPr lang="cs-CZ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B935A1-FC07-EF7B-0D0F-33E76C52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grafické karty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F2BFCD-13BD-E498-50D4-918545D2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cs-CZ" b="0" i="0" dirty="0">
                <a:solidFill>
                  <a:srgbClr val="373737"/>
                </a:solidFill>
                <a:effectLst/>
              </a:rPr>
              <a:t>Výkon hraje klíčovou roli při výběru. Pro lepší orientaci jsou grafické karty rozděleny do čtyř skupin podle výkonu:</a:t>
            </a:r>
          </a:p>
          <a:p>
            <a:pPr marL="0" indent="0" algn="l">
              <a:buNone/>
            </a:pPr>
            <a:endParaRPr lang="cs-CZ" b="0" i="0" dirty="0">
              <a:solidFill>
                <a:srgbClr val="373737"/>
              </a:solidFill>
              <a:effectLst/>
            </a:endParaRPr>
          </a:p>
          <a:p>
            <a:pPr algn="l"/>
            <a:r>
              <a:rPr lang="cs-CZ" b="1" i="0" dirty="0">
                <a:solidFill>
                  <a:srgbClr val="373737"/>
                </a:solidFill>
                <a:effectLst/>
              </a:rPr>
              <a:t>Výkon pro nadšence (</a:t>
            </a:r>
            <a:r>
              <a:rPr lang="cs-CZ" b="1" i="0" dirty="0" err="1">
                <a:solidFill>
                  <a:srgbClr val="373737"/>
                </a:solidFill>
                <a:effectLst/>
              </a:rPr>
              <a:t>Enthusiast</a:t>
            </a:r>
            <a:r>
              <a:rPr lang="cs-CZ" b="1" i="0" dirty="0">
                <a:solidFill>
                  <a:srgbClr val="373737"/>
                </a:solidFill>
                <a:effectLst/>
              </a:rPr>
              <a:t>)</a:t>
            </a:r>
            <a:r>
              <a:rPr lang="cs-CZ" b="0" i="0" dirty="0">
                <a:solidFill>
                  <a:srgbClr val="373737"/>
                </a:solidFill>
                <a:effectLst/>
              </a:rPr>
              <a:t> – grafické karty s cenou 20 000 Kč a výše (např. </a:t>
            </a:r>
            <a:r>
              <a:rPr lang="cs-CZ" b="0" i="0" u="sng" dirty="0">
                <a:solidFill>
                  <a:srgbClr val="00275A"/>
                </a:solidFill>
                <a:effectLst/>
              </a:rPr>
              <a:t> </a:t>
            </a:r>
            <a:r>
              <a:rPr lang="cs-CZ" b="0" i="0" u="sng" dirty="0">
                <a:solidFill>
                  <a:srgbClr val="00275A"/>
                </a:solidFill>
                <a:effectLst/>
                <a:hlinkClick r:id="rId2"/>
              </a:rPr>
              <a:t>https://www.alza.cz/gigabyte-geforce-rtx-4090-gaming-oc-24g-d7439963.htm</a:t>
            </a:r>
            <a:r>
              <a:rPr lang="cs-CZ" b="0" i="0" dirty="0">
                <a:solidFill>
                  <a:srgbClr val="373737"/>
                </a:solidFill>
                <a:effectLst/>
              </a:rPr>
              <a:t>)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73737"/>
                </a:solidFill>
                <a:effectLst/>
              </a:rPr>
              <a:t>Vysoký výkon (</a:t>
            </a:r>
            <a:r>
              <a:rPr lang="cs-CZ" b="1" i="0" dirty="0" err="1">
                <a:solidFill>
                  <a:srgbClr val="373737"/>
                </a:solidFill>
                <a:effectLst/>
              </a:rPr>
              <a:t>High</a:t>
            </a:r>
            <a:r>
              <a:rPr lang="cs-CZ" b="1" i="0" dirty="0">
                <a:solidFill>
                  <a:srgbClr val="373737"/>
                </a:solidFill>
                <a:effectLst/>
              </a:rPr>
              <a:t>-end)</a:t>
            </a:r>
            <a:r>
              <a:rPr lang="cs-CZ" b="0" i="0" dirty="0">
                <a:solidFill>
                  <a:srgbClr val="373737"/>
                </a:solidFill>
                <a:effectLst/>
              </a:rPr>
              <a:t> – grafické karty s cenou od 10 000 do 20 000 Kč (např. </a:t>
            </a:r>
            <a:r>
              <a:rPr lang="cs-CZ" b="0" i="0" u="sng" dirty="0">
                <a:solidFill>
                  <a:srgbClr val="00275A"/>
                </a:solidFill>
                <a:effectLst/>
              </a:rPr>
              <a:t> </a:t>
            </a:r>
            <a:r>
              <a:rPr lang="cs-CZ" b="0" i="0" u="sng" dirty="0">
                <a:solidFill>
                  <a:srgbClr val="00275A"/>
                </a:solidFill>
                <a:effectLst/>
                <a:hlinkClick r:id="rId3"/>
              </a:rPr>
              <a:t>https://www.alza.cz/gigabyte-geforce-rtx-3060-ti-gaming-oc-8g-rev-2-0-d6697610.htm</a:t>
            </a:r>
            <a:r>
              <a:rPr lang="cs-CZ" b="0" i="0" dirty="0">
                <a:solidFill>
                  <a:srgbClr val="373737"/>
                </a:solidFill>
                <a:effectLst/>
              </a:rPr>
              <a:t>)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73737"/>
                </a:solidFill>
                <a:effectLst/>
              </a:rPr>
              <a:t>Střední výkon (Mainstream)</a:t>
            </a:r>
            <a:r>
              <a:rPr lang="cs-CZ" b="0" i="0" dirty="0">
                <a:solidFill>
                  <a:srgbClr val="373737"/>
                </a:solidFill>
                <a:effectLst/>
              </a:rPr>
              <a:t> – grafické karty s cenou od 5 000 do 10 000 Kč (např. </a:t>
            </a:r>
            <a:r>
              <a:rPr lang="cs-CZ" b="0" i="0" dirty="0">
                <a:solidFill>
                  <a:srgbClr val="373737"/>
                </a:solidFill>
                <a:effectLst/>
                <a:hlinkClick r:id="rId4"/>
              </a:rPr>
              <a:t>https://www.alza.cz/msi-geforce-rtx-2060-ventus-12g-oc-d6971599.htm</a:t>
            </a:r>
            <a:r>
              <a:rPr lang="cs-CZ" b="0" i="0" dirty="0">
                <a:solidFill>
                  <a:srgbClr val="373737"/>
                </a:solidFill>
                <a:effectLst/>
              </a:rPr>
              <a:t>)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73737"/>
                </a:solidFill>
                <a:effectLst/>
              </a:rPr>
              <a:t>Nízký výkon (</a:t>
            </a:r>
            <a:r>
              <a:rPr lang="cs-CZ" b="1" i="0" dirty="0" err="1">
                <a:solidFill>
                  <a:srgbClr val="373737"/>
                </a:solidFill>
                <a:effectLst/>
              </a:rPr>
              <a:t>Low</a:t>
            </a:r>
            <a:r>
              <a:rPr lang="cs-CZ" b="1" i="0" dirty="0">
                <a:solidFill>
                  <a:srgbClr val="373737"/>
                </a:solidFill>
                <a:effectLst/>
              </a:rPr>
              <a:t>-end)</a:t>
            </a:r>
            <a:r>
              <a:rPr lang="cs-CZ" b="0" i="0" dirty="0">
                <a:solidFill>
                  <a:srgbClr val="373737"/>
                </a:solidFill>
                <a:effectLst/>
              </a:rPr>
              <a:t> – grafické karty do 5 000 Kč (např. </a:t>
            </a:r>
            <a:r>
              <a:rPr lang="cs-CZ" b="0" i="0" u="sng" dirty="0" err="1">
                <a:solidFill>
                  <a:srgbClr val="00275A"/>
                </a:solidFill>
                <a:effectLst/>
                <a:hlinkClick r:id="rId5"/>
              </a:rPr>
              <a:t>GeForce</a:t>
            </a:r>
            <a:r>
              <a:rPr lang="cs-CZ" b="0" i="0" u="sng" dirty="0">
                <a:solidFill>
                  <a:srgbClr val="00275A"/>
                </a:solidFill>
                <a:effectLst/>
                <a:hlinkClick r:id="rId5"/>
              </a:rPr>
              <a:t> GTX 1050 Ti</a:t>
            </a:r>
            <a:r>
              <a:rPr lang="cs-CZ" b="0" i="0" dirty="0">
                <a:solidFill>
                  <a:srgbClr val="373737"/>
                </a:solidFill>
                <a:effectLst/>
              </a:rPr>
              <a:t>)</a:t>
            </a:r>
          </a:p>
          <a:p>
            <a:pPr algn="l" fontAlgn="ctr">
              <a:buFont typeface="Arial" panose="020B0604020202020204" pitchFamily="34" charset="0"/>
              <a:buChar char="•"/>
            </a:pPr>
            <a:endParaRPr lang="cs-CZ" dirty="0">
              <a:solidFill>
                <a:srgbClr val="373737"/>
              </a:solidFill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cs-CZ" sz="2900" b="0" i="0" dirty="0">
                <a:effectLst/>
                <a:latin typeface="Segoe Segoe"/>
              </a:rPr>
              <a:t>Nechte se ale vyvést z omylu, že ta nejdražší </a:t>
            </a:r>
            <a:r>
              <a:rPr lang="cs-CZ" sz="2900" b="0" i="0" dirty="0">
                <a:effectLst/>
                <a:latin typeface="Segoe"/>
              </a:rPr>
              <a:t>grafická karta</a:t>
            </a:r>
            <a:r>
              <a:rPr lang="cs-CZ" sz="2900" b="0" i="0" dirty="0">
                <a:effectLst/>
                <a:latin typeface="Segoe Segoe"/>
              </a:rPr>
              <a:t> je pro vás automaticky ta nejlepší. Výkon karty byste totiž měli vybírat podle toho, k čemu ji využijete. Pokud tedy stavíte </a:t>
            </a:r>
            <a:r>
              <a:rPr lang="cs-CZ" sz="2900" b="0" i="0" dirty="0">
                <a:effectLst/>
                <a:latin typeface="Segoe"/>
              </a:rPr>
              <a:t>kancelářský počítač</a:t>
            </a:r>
            <a:r>
              <a:rPr lang="cs-CZ" sz="2900" b="0" i="0" dirty="0">
                <a:effectLst/>
                <a:latin typeface="Segoe Segoe"/>
              </a:rPr>
              <a:t>, na kterém budete pracovat maximálně s internetem a balíkem Office, nejvýkonnější karta za desítky tisíc není nic pro vás. Její výkon by byl drasticky promrhán spolu s vašimi penězi.</a:t>
            </a:r>
            <a:endParaRPr lang="cs-CZ" sz="29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7243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A24D63-2CDB-10F4-866D-63B878C3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grafické karty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B43C17-4F12-5258-6497-306FC04C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Použití počítače – výkon GK</a:t>
            </a:r>
          </a:p>
          <a:p>
            <a:r>
              <a:rPr lang="cs-CZ" dirty="0"/>
              <a:t>Sladit architekturu základní desky, procesoru a grafické karty (není podmínkou)</a:t>
            </a:r>
          </a:p>
          <a:p>
            <a:r>
              <a:rPr lang="cs-CZ" dirty="0"/>
              <a:t>Dostupné sloty základní desky, jejich počet</a:t>
            </a:r>
          </a:p>
          <a:p>
            <a:r>
              <a:rPr lang="cs-CZ" dirty="0"/>
              <a:t>Rozměry grafické karty – dostupné místo ve skříni</a:t>
            </a:r>
          </a:p>
          <a:p>
            <a:r>
              <a:rPr lang="cs-CZ" dirty="0"/>
              <a:t>Chlazení grafické karty</a:t>
            </a:r>
          </a:p>
          <a:p>
            <a:r>
              <a:rPr lang="cs-CZ" dirty="0"/>
              <a:t>Napájení grafické karty</a:t>
            </a:r>
          </a:p>
          <a:p>
            <a:r>
              <a:rPr lang="cs-CZ" dirty="0"/>
              <a:t>Cena grafické karty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63959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7D9FC8-B75D-7100-158D-AC753F52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131024" cy="1143000"/>
          </a:xfrm>
        </p:spPr>
        <p:txBody>
          <a:bodyPr/>
          <a:lstStyle/>
          <a:p>
            <a:r>
              <a:rPr lang="cs-CZ" dirty="0"/>
              <a:t>Nejznámější výrobci GK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5198A9-79AC-7E3B-2609-9183B067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cs-CZ" sz="2400" dirty="0"/>
              <a:t>NVIDIA je americká společnost, specializující se na výrobu grafických procesorů pro herní i profesionální trh a systémů na chipu pro mobilní zařízení a automobilový trh. Společnost sídlí ve městě Santa Clara v Silicon </a:t>
            </a:r>
            <a:r>
              <a:rPr lang="cs-CZ" sz="2400" dirty="0" err="1"/>
              <a:t>Valley</a:t>
            </a:r>
            <a:r>
              <a:rPr lang="cs-CZ" sz="2400" dirty="0"/>
              <a:t> státu Kalifornie. Název NVIDIA pochází ze španělského </a:t>
            </a:r>
            <a:r>
              <a:rPr lang="cs-CZ" sz="2400" dirty="0" err="1"/>
              <a:t>envidia</a:t>
            </a:r>
            <a:r>
              <a:rPr lang="cs-CZ" sz="2400" dirty="0"/>
              <a:t>, což znamená závist.</a:t>
            </a:r>
          </a:p>
          <a:p>
            <a:pPr algn="just"/>
            <a:r>
              <a:rPr lang="cs-CZ" sz="2400" dirty="0"/>
              <a:t>AMD </a:t>
            </a:r>
            <a:r>
              <a:rPr lang="cs-CZ" sz="2400" dirty="0" err="1"/>
              <a:t>Radeon</a:t>
            </a:r>
            <a:r>
              <a:rPr lang="cs-CZ" sz="2400" dirty="0"/>
              <a:t> je značka grafických čipů americké firmy AMD a také grafických karet, na které je dané GPU používáno. Řada </a:t>
            </a:r>
            <a:r>
              <a:rPr lang="cs-CZ" sz="2400" dirty="0" err="1"/>
              <a:t>Radeon</a:t>
            </a:r>
            <a:r>
              <a:rPr lang="cs-CZ" sz="2400" dirty="0"/>
              <a:t> nahradila starší generaci GPU </a:t>
            </a:r>
            <a:r>
              <a:rPr lang="cs-CZ" sz="2400" dirty="0" err="1"/>
              <a:t>Rage</a:t>
            </a:r>
            <a:r>
              <a:rPr lang="cs-CZ" sz="2400" dirty="0"/>
              <a:t> v roce 2000. V září 2015 byla divize GPU společnosti AMD rozdělena na samostatnou jednotku známou jako </a:t>
            </a:r>
            <a:r>
              <a:rPr lang="cs-CZ" sz="2400" dirty="0" err="1"/>
              <a:t>Radeon</a:t>
            </a:r>
            <a:r>
              <a:rPr lang="cs-CZ" sz="2400" dirty="0"/>
              <a:t> Technologies Group.</a:t>
            </a:r>
          </a:p>
          <a:p>
            <a:pPr algn="just"/>
            <a:r>
              <a:rPr lang="cs-CZ" sz="1500" dirty="0">
                <a:hlinkClick r:id="rId2"/>
              </a:rPr>
              <a:t>https://www.nvidia.com/cs-cz/</a:t>
            </a:r>
          </a:p>
          <a:p>
            <a:pPr algn="just"/>
            <a:r>
              <a:rPr lang="cs-CZ" sz="1500" dirty="0">
                <a:hlinkClick r:id="rId2"/>
              </a:rPr>
              <a:t>https://www.amd.com/en/graphics/radeon-rx-graphics</a:t>
            </a:r>
            <a:r>
              <a:rPr lang="cs-CZ" sz="1500" dirty="0"/>
              <a:t> </a:t>
            </a:r>
          </a:p>
          <a:p>
            <a:pPr algn="just"/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5925C87-87D1-744B-A092-2ECB99DC1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085" y="97326"/>
            <a:ext cx="1133475" cy="63817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A04AD0D6-1F38-164E-0236-5C6485DEA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24" y="543246"/>
            <a:ext cx="1000124" cy="84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66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90595"/>
            <a:ext cx="8229600" cy="1143000"/>
          </a:xfrm>
        </p:spPr>
        <p:txBody>
          <a:bodyPr/>
          <a:lstStyle/>
          <a:p>
            <a:r>
              <a:rPr lang="cs-CZ" dirty="0"/>
              <a:t>Nejznámější typy GK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95536" y="1600200"/>
            <a:ext cx="5976664" cy="5257800"/>
          </a:xfrm>
        </p:spPr>
        <p:txBody>
          <a:bodyPr>
            <a:normAutofit fontScale="77500" lnSpcReduction="20000"/>
          </a:bodyPr>
          <a:lstStyle/>
          <a:p>
            <a:r>
              <a:rPr lang="cs-CZ" b="1" u="sng" dirty="0">
                <a:solidFill>
                  <a:srgbClr val="002060"/>
                </a:solidFill>
              </a:rPr>
              <a:t>AMD </a:t>
            </a:r>
            <a:r>
              <a:rPr lang="cs-CZ" b="1" u="sng" dirty="0" err="1">
                <a:solidFill>
                  <a:srgbClr val="002060"/>
                </a:solidFill>
              </a:rPr>
              <a:t>Radeon</a:t>
            </a:r>
            <a:endParaRPr lang="cs-CZ" b="1" u="sng" dirty="0">
              <a:solidFill>
                <a:srgbClr val="002060"/>
              </a:solidFill>
            </a:endParaRPr>
          </a:p>
          <a:p>
            <a:pPr lvl="1"/>
            <a:r>
              <a:rPr lang="cs-CZ" dirty="0" err="1"/>
              <a:t>Sapphire</a:t>
            </a:r>
            <a:r>
              <a:rPr lang="cs-CZ" dirty="0"/>
              <a:t> </a:t>
            </a:r>
            <a:r>
              <a:rPr lang="cs-CZ" dirty="0" err="1"/>
              <a:t>Radeon</a:t>
            </a:r>
            <a:endParaRPr lang="cs-CZ" dirty="0"/>
          </a:p>
          <a:p>
            <a:pPr lvl="1"/>
            <a:r>
              <a:rPr lang="cs-CZ" dirty="0"/>
              <a:t>MSI</a:t>
            </a:r>
          </a:p>
          <a:p>
            <a:pPr lvl="1"/>
            <a:r>
              <a:rPr lang="cs-CZ" dirty="0"/>
              <a:t>ASUS</a:t>
            </a:r>
          </a:p>
          <a:p>
            <a:pPr lvl="1"/>
            <a:r>
              <a:rPr lang="cs-CZ" dirty="0"/>
              <a:t>Gigabyte</a:t>
            </a:r>
          </a:p>
          <a:p>
            <a:r>
              <a:rPr lang="cs-CZ" b="1" u="sng" dirty="0">
                <a:solidFill>
                  <a:srgbClr val="002060"/>
                </a:solidFill>
              </a:rPr>
              <a:t>NVIDIA </a:t>
            </a:r>
            <a:r>
              <a:rPr lang="cs-CZ" b="1" u="sng" dirty="0" err="1">
                <a:solidFill>
                  <a:srgbClr val="002060"/>
                </a:solidFill>
              </a:rPr>
              <a:t>GeForce</a:t>
            </a:r>
            <a:endParaRPr lang="cs-CZ" b="1" u="sng" dirty="0">
              <a:solidFill>
                <a:srgbClr val="002060"/>
              </a:solidFill>
            </a:endParaRPr>
          </a:p>
          <a:p>
            <a:pPr lvl="1"/>
            <a:r>
              <a:rPr lang="cs-CZ" dirty="0"/>
              <a:t>Gigabyte</a:t>
            </a:r>
          </a:p>
          <a:p>
            <a:pPr lvl="1"/>
            <a:r>
              <a:rPr lang="cs-CZ" dirty="0" err="1"/>
              <a:t>Gainward</a:t>
            </a:r>
            <a:r>
              <a:rPr lang="cs-CZ" dirty="0"/>
              <a:t> </a:t>
            </a:r>
            <a:r>
              <a:rPr lang="cs-CZ" dirty="0" err="1"/>
              <a:t>GeForce</a:t>
            </a:r>
            <a:endParaRPr lang="cs-CZ" dirty="0"/>
          </a:p>
          <a:p>
            <a:pPr lvl="1"/>
            <a:r>
              <a:rPr lang="cs-CZ" dirty="0"/>
              <a:t>ASUS</a:t>
            </a:r>
          </a:p>
          <a:p>
            <a:pPr lvl="1"/>
            <a:r>
              <a:rPr lang="cs-CZ" dirty="0"/>
              <a:t>MSI</a:t>
            </a:r>
          </a:p>
          <a:p>
            <a:pPr lvl="1"/>
            <a:endParaRPr lang="cs-CZ" dirty="0"/>
          </a:p>
          <a:p>
            <a:r>
              <a:rPr lang="cs-CZ" sz="3500" b="1" u="sng" dirty="0" err="1">
                <a:solidFill>
                  <a:srgbClr val="002060"/>
                </a:solidFill>
              </a:rPr>
              <a:t>Matrox</a:t>
            </a:r>
            <a:endParaRPr lang="cs-CZ" dirty="0"/>
          </a:p>
          <a:p>
            <a:pPr lvl="1"/>
            <a:r>
              <a:rPr lang="cs-CZ" sz="2900" dirty="0"/>
              <a:t>drahé, profesionální grafické karty pro práci s grafikou a úlohami CAD/CAM ve vysokém rozlišení </a:t>
            </a:r>
            <a:r>
              <a:rPr lang="cs-CZ" sz="1700" dirty="0">
                <a:hlinkClick r:id="rId2"/>
              </a:rPr>
              <a:t>https://de.wikipedia.org/wiki/Matrox_Graphics</a:t>
            </a:r>
            <a:r>
              <a:rPr lang="cs-CZ" sz="1700" dirty="0"/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5686509"/>
            <a:ext cx="1306488" cy="97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300965"/>
            <a:ext cx="144016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17C401B2-A9E1-060C-BB72-9843DBF01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888" y="1105381"/>
            <a:ext cx="5122912" cy="45811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>
          <a:xfrm>
            <a:off x="323528" y="1052736"/>
            <a:ext cx="8496944" cy="5688631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AIDA 64 </a:t>
            </a:r>
            <a:r>
              <a:rPr lang="cs-CZ" dirty="0" err="1"/>
              <a:t>Extreme</a:t>
            </a:r>
            <a:r>
              <a:rPr lang="cs-CZ" dirty="0"/>
              <a:t> - </a:t>
            </a:r>
            <a:r>
              <a:rPr lang="cs-CZ" sz="1900" dirty="0">
                <a:hlinkClick r:id="rId2"/>
              </a:rPr>
              <a:t>https://www.aida64.com/products/aida64-extreme</a:t>
            </a:r>
            <a:r>
              <a:rPr lang="cs-CZ" sz="1900" dirty="0"/>
              <a:t>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Diagnostika v MS Windows </a:t>
            </a:r>
          </a:p>
          <a:p>
            <a:pPr lvl="1" algn="just"/>
            <a:r>
              <a:rPr lang="cs-CZ" sz="1700" dirty="0"/>
              <a:t>stiskněte [Windows] + [R] a do příkazové řádky, která se objeví, napíšete »</a:t>
            </a:r>
            <a:r>
              <a:rPr lang="cs-CZ" sz="1700" b="1" dirty="0" err="1"/>
              <a:t>dxdiag</a:t>
            </a:r>
            <a:r>
              <a:rPr lang="cs-CZ" sz="1700" dirty="0"/>
              <a:t>« a stisknete »OK«: spustí se »Nástroj pro diagnostiku rozhraní DirectX«. Přejděte do záložky »Zobrazení« a podívejte se na parametry.</a:t>
            </a:r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5842992" cy="1143000"/>
          </a:xfrm>
        </p:spPr>
        <p:txBody>
          <a:bodyPr>
            <a:normAutofit fontScale="90000"/>
          </a:bodyPr>
          <a:lstStyle/>
          <a:p>
            <a:r>
              <a:rPr lang="cs-CZ" dirty="0"/>
              <a:t>Diagnostika grafické karty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63" y="1556792"/>
            <a:ext cx="4824536" cy="3461761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844824"/>
            <a:ext cx="331236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79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Odkazy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Grafická karta: </a:t>
            </a:r>
            <a:r>
              <a:rPr lang="cs-CZ" dirty="0">
                <a:hlinkClick r:id="rId2"/>
              </a:rPr>
              <a:t>https://cs.wikipedia.org/wiki/Grafick%C3%A1_karta</a:t>
            </a:r>
            <a:r>
              <a:rPr lang="cs-CZ" dirty="0"/>
              <a:t> </a:t>
            </a:r>
          </a:p>
          <a:p>
            <a:r>
              <a:rPr lang="cs-CZ" dirty="0">
                <a:hlinkClick r:id="rId3"/>
              </a:rPr>
              <a:t>https://www.alza.cz/jak-vybrat-grafickou-kartu</a:t>
            </a:r>
            <a:r>
              <a:rPr lang="cs-CZ" dirty="0"/>
              <a:t> </a:t>
            </a:r>
          </a:p>
          <a:p>
            <a:r>
              <a:rPr lang="cs-CZ" dirty="0"/>
              <a:t>Video:</a:t>
            </a:r>
          </a:p>
          <a:p>
            <a:r>
              <a:rPr lang="cs-CZ" dirty="0">
                <a:hlinkClick r:id="rId4"/>
              </a:rPr>
              <a:t>https://www.youtube.com/watch?v=RfAB7CJct9Y</a:t>
            </a:r>
            <a:endParaRPr lang="cs-CZ" dirty="0"/>
          </a:p>
          <a:p>
            <a:r>
              <a:rPr lang="cs-CZ" dirty="0">
                <a:hlinkClick r:id="rId5"/>
              </a:rPr>
              <a:t>https://www.youtube.com/watch?v=eDbU-pU6QOc</a:t>
            </a:r>
            <a:endParaRPr lang="cs-CZ" dirty="0"/>
          </a:p>
          <a:p>
            <a:r>
              <a:rPr lang="cs-CZ" dirty="0"/>
              <a:t>Montáž grafické karty</a:t>
            </a:r>
          </a:p>
          <a:p>
            <a:r>
              <a:rPr lang="cs-CZ" dirty="0">
                <a:hlinkClick r:id="rId6"/>
              </a:rPr>
              <a:t>http://www.youtube.com/watch?v=Lvivib0ZmIc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2603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54CE16-1A49-FE3D-2229-E0038BFA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Otázky k tématu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C2C751-19DA-3D16-E403-824EE3806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b="1" dirty="0"/>
              <a:t>Složení GK – základní části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Sběrnice, porty, sloty</a:t>
            </a:r>
          </a:p>
          <a:p>
            <a:pPr marL="514350" indent="-514350">
              <a:buFont typeface="+mj-lt"/>
              <a:buAutoNum type="arabicPeriod"/>
            </a:pPr>
            <a:r>
              <a:rPr lang="cs-CZ" b="1" dirty="0"/>
              <a:t>Charakteristiky GK</a:t>
            </a:r>
          </a:p>
          <a:p>
            <a:pPr marL="914400" lvl="1" indent="-514350">
              <a:buFont typeface="+mj-lt"/>
              <a:buAutoNum type="alphaLcPeriod"/>
            </a:pPr>
            <a:r>
              <a:rPr lang="cs-CZ" dirty="0"/>
              <a:t>Rozlišení</a:t>
            </a:r>
          </a:p>
          <a:p>
            <a:pPr marL="914400" lvl="1" indent="-514350">
              <a:buFont typeface="+mj-lt"/>
              <a:buAutoNum type="alphaLcPeriod"/>
            </a:pPr>
            <a:r>
              <a:rPr lang="cs-CZ" dirty="0"/>
              <a:t>Barevná hloubka</a:t>
            </a:r>
          </a:p>
          <a:p>
            <a:pPr marL="914400" lvl="1" indent="-514350">
              <a:buFont typeface="+mj-lt"/>
              <a:buAutoNum type="alphaLcPeriod"/>
            </a:pPr>
            <a:r>
              <a:rPr lang="cs-CZ" dirty="0"/>
              <a:t>Frekvence</a:t>
            </a:r>
          </a:p>
          <a:p>
            <a:pPr marL="914400" lvl="1" indent="-514350">
              <a:buFont typeface="+mj-lt"/>
              <a:buAutoNum type="alphaLcPeriod"/>
            </a:pPr>
            <a:r>
              <a:rPr lang="cs-CZ" dirty="0"/>
              <a:t>Velikost paměti, apod.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Standardy pro použití GK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Výrobci GK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09330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C769D3FE67154E81769CA49A6E1578" ma:contentTypeVersion="3" ma:contentTypeDescription="Vytvoří nový dokument" ma:contentTypeScope="" ma:versionID="3a6f8ccd075dc455b5fa8600df0a7d98">
  <xsd:schema xmlns:xsd="http://www.w3.org/2001/XMLSchema" xmlns:xs="http://www.w3.org/2001/XMLSchema" xmlns:p="http://schemas.microsoft.com/office/2006/metadata/properties" xmlns:ns2="210cd76a-3109-4941-8e09-0d437665f01b" targetNamespace="http://schemas.microsoft.com/office/2006/metadata/properties" ma:root="true" ma:fieldsID="741dc742a9657b7783bba72e8e788922" ns2:_="">
    <xsd:import namespace="210cd76a-3109-4941-8e09-0d437665f0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0cd76a-3109-4941-8e09-0d437665f0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F5817D-9B37-4AFD-A386-39BC227C9D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10EF5F-96C2-45D9-8E47-90C1EA1C7873}"/>
</file>

<file path=customXml/itemProps3.xml><?xml version="1.0" encoding="utf-8"?>
<ds:datastoreItem xmlns:ds="http://schemas.openxmlformats.org/officeDocument/2006/customXml" ds:itemID="{5C613405-91E4-4B33-9A06-6BEB70BCC71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2397</Words>
  <Application>Microsoft Office PowerPoint</Application>
  <PresentationFormat>Předvádění na obrazovce (4:3)</PresentationFormat>
  <Paragraphs>196</Paragraphs>
  <Slides>28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4" baseType="lpstr">
      <vt:lpstr>Arial</vt:lpstr>
      <vt:lpstr>Arial</vt:lpstr>
      <vt:lpstr>Calibri</vt:lpstr>
      <vt:lpstr>Segoe</vt:lpstr>
      <vt:lpstr>Segoe Segoe</vt:lpstr>
      <vt:lpstr>Motiv systému Office</vt:lpstr>
      <vt:lpstr>Grafická karta</vt:lpstr>
      <vt:lpstr>Grafická karta</vt:lpstr>
      <vt:lpstr>Složení grafické karty</vt:lpstr>
      <vt:lpstr>Složení grafické karty</vt:lpstr>
      <vt:lpstr>Složení grafické karty</vt:lpstr>
      <vt:lpstr>Složení grafické karty</vt:lpstr>
      <vt:lpstr>Konektivita</vt:lpstr>
      <vt:lpstr>Složení grafické karty</vt:lpstr>
      <vt:lpstr>PCI express</vt:lpstr>
      <vt:lpstr>Složení grafické karty</vt:lpstr>
      <vt:lpstr>Zpracování grafické informace</vt:lpstr>
      <vt:lpstr>Charakteristiky GK</vt:lpstr>
      <vt:lpstr>Charakteristiky GK</vt:lpstr>
      <vt:lpstr>Charakteristiky GK</vt:lpstr>
      <vt:lpstr>Charakteristiky GK</vt:lpstr>
      <vt:lpstr>3D grafické karty (akcelerátor)</vt:lpstr>
      <vt:lpstr>3D grafické karty (akcelerátory) </vt:lpstr>
      <vt:lpstr>2D operace (akcelerátoru)</vt:lpstr>
      <vt:lpstr>3D operace (akcelerátoru)</vt:lpstr>
      <vt:lpstr>3D operace akcelerátoru</vt:lpstr>
      <vt:lpstr>3D operace (akcelerátoru)</vt:lpstr>
      <vt:lpstr>Výběr grafické karty</vt:lpstr>
      <vt:lpstr>Výběr grafické karty</vt:lpstr>
      <vt:lpstr>Nejznámější výrobci GK</vt:lpstr>
      <vt:lpstr>Nejznámější typy GK</vt:lpstr>
      <vt:lpstr>Diagnostika grafické karty</vt:lpstr>
      <vt:lpstr>Odkazy </vt:lpstr>
      <vt:lpstr>Otázky k tématu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Grafická karta</dc:title>
  <dc:creator>P101</dc:creator>
  <cp:lastModifiedBy>Pavel Halouzka</cp:lastModifiedBy>
  <cp:revision>85</cp:revision>
  <dcterms:created xsi:type="dcterms:W3CDTF">2013-03-19T09:33:54Z</dcterms:created>
  <dcterms:modified xsi:type="dcterms:W3CDTF">2023-01-09T09:49:55Z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0x010100ECC769D3FE67154E81769CA49A6E1578</vt:lpwstr>
  </property>
</Properties>
</file>