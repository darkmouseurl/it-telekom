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6"/>
  </p:notesMasterIdLst>
  <p:handoutMasterIdLst>
    <p:handoutMasterId r:id="rId27"/>
  </p:handoutMasterIdLst>
  <p:sldIdLst>
    <p:sldId id="257" r:id="rId2"/>
    <p:sldId id="271" r:id="rId3"/>
    <p:sldId id="291" r:id="rId4"/>
    <p:sldId id="286" r:id="rId5"/>
    <p:sldId id="287" r:id="rId6"/>
    <p:sldId id="278" r:id="rId7"/>
    <p:sldId id="292" r:id="rId8"/>
    <p:sldId id="293" r:id="rId9"/>
    <p:sldId id="294" r:id="rId10"/>
    <p:sldId id="295" r:id="rId11"/>
    <p:sldId id="296" r:id="rId12"/>
    <p:sldId id="297" r:id="rId13"/>
    <p:sldId id="280" r:id="rId14"/>
    <p:sldId id="284" r:id="rId15"/>
    <p:sldId id="279" r:id="rId16"/>
    <p:sldId id="299" r:id="rId17"/>
    <p:sldId id="283" r:id="rId18"/>
    <p:sldId id="302" r:id="rId19"/>
    <p:sldId id="282" r:id="rId20"/>
    <p:sldId id="298" r:id="rId21"/>
    <p:sldId id="285" r:id="rId22"/>
    <p:sldId id="301" r:id="rId23"/>
    <p:sldId id="300" r:id="rId24"/>
    <p:sldId id="2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21" autoAdjust="0"/>
  </p:normalViewPr>
  <p:slideViewPr>
    <p:cSldViewPr>
      <p:cViewPr varScale="1">
        <p:scale>
          <a:sx n="105" d="100"/>
          <a:sy n="105" d="100"/>
        </p:scale>
        <p:origin x="79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2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A5A8125-0131-4B2C-9EE1-224BDD9F2748}" type="datetimeFigureOut">
              <a:rPr lang="cs-CZ"/>
              <a:pPr>
                <a:defRPr/>
              </a:pPr>
              <a:t>04.12.2023</a:t>
            </a:fld>
            <a:endParaRPr lang="cs-CZ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4AA4832-1526-4BB8-86A4-0A85A553D5C9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CC19590-0C13-439D-9489-528EFA51F3B6}" type="datetimeFigureOut">
              <a:rPr lang="cs-CZ"/>
              <a:pPr>
                <a:defRPr/>
              </a:pPr>
              <a:t>04.12.2023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D82617D5-9915-472A-B81A-3EF97815FFC4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cs-CZ" alt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94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12/4/2023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196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8628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34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94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5079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16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12/4/2023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68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120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smtClean="0"/>
              <a:t>12/4/2023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809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264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1BEF0D-F0BB-DE4B-95CE-6DB70DBA9567}" type="datetimeFigureOut">
              <a:rPr lang="en-US" smtClean="0"/>
              <a:pPr/>
              <a:t>12/4/2023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cs-CZ"/>
              <a:t>Autorem materiálu a všech jeho částí, není-li uvedeno jinak, je Ing. Jitka Vlčková. Dostupné z Metodického portálu www.rvp.cz ; ISSN 1802-4785. Provozuje Národní ústav pro vzdělávání, školské poradenské zařízení a zařízení pro další vzdělávání pedagogických pracovníků (NÚV). </a:t>
            </a:r>
            <a:endParaRPr lang="cs-CZ">
              <a:latin typeface="Calibri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Nadpis 1"/>
          <p:cNvSpPr>
            <a:spLocks noGrp="1"/>
          </p:cNvSpPr>
          <p:nvPr>
            <p:ph type="ctrTitle"/>
          </p:nvPr>
        </p:nvSpPr>
        <p:spPr>
          <a:xfrm>
            <a:off x="-96688" y="5085185"/>
            <a:ext cx="7772400" cy="1470025"/>
          </a:xfrm>
        </p:spPr>
        <p:txBody>
          <a:bodyPr/>
          <a:lstStyle/>
          <a:p>
            <a:pPr eaLnBrk="1" hangingPunct="1"/>
            <a:r>
              <a:rPr lang="cs-CZ" altLang="cs-CZ" b="1" dirty="0"/>
              <a:t>Počítačová grafika</a:t>
            </a:r>
            <a:endParaRPr lang="cs-CZ" alt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Počítačová grafika</a:t>
            </a:r>
          </a:p>
        </p:txBody>
      </p:sp>
      <p:sp>
        <p:nvSpPr>
          <p:cNvPr id="3075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altLang="cs-CZ" sz="3200" dirty="0"/>
              <a:t>Zpracování obrazových informací s využitím výpočetní techniky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rozdělení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2D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3D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Rastrová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Vektorová</a:t>
            </a:r>
          </a:p>
        </p:txBody>
      </p:sp>
    </p:spTree>
    <p:extLst>
      <p:ext uri="{BB962C8B-B14F-4D97-AF65-F5344CB8AC3E}">
        <p14:creationId xmlns:p14="http://schemas.microsoft.com/office/powerpoint/2010/main" val="3628540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2D grafika</a:t>
            </a:r>
          </a:p>
        </p:txBody>
      </p:sp>
      <p:sp>
        <p:nvSpPr>
          <p:cNvPr id="4099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Používá osy: x, y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92" y="3295283"/>
            <a:ext cx="5358358" cy="3014077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3D grafika</a:t>
            </a:r>
          </a:p>
        </p:txBody>
      </p:sp>
      <p:sp>
        <p:nvSpPr>
          <p:cNvPr id="512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Používá osy: x, y, z</a:t>
            </a: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92" y="3189918"/>
            <a:ext cx="5357182" cy="3119442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Rastrová grafika</a:t>
            </a:r>
          </a:p>
        </p:txBody>
      </p:sp>
      <p:sp>
        <p:nvSpPr>
          <p:cNvPr id="6147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Rastrová/bitmapová grafika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Základem obrázku je 1 pixel/bod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Rastr je mřížka, kde jsou uloženy pixely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Každý pixel má barvu a souřadnici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Rastrová grafika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Nevýhoda – změnou velikosti klesá kvalita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Výhoda – snadné pořízení obrázku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20062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23" t="-400" r="10382"/>
          <a:stretch/>
        </p:blipFill>
        <p:spPr>
          <a:xfrm>
            <a:off x="1487488" y="-27384"/>
            <a:ext cx="9217024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5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34" t="-329" r="37958" b="17276"/>
          <a:stretch/>
        </p:blipFill>
        <p:spPr>
          <a:xfrm>
            <a:off x="1415480" y="-27383"/>
            <a:ext cx="9289032" cy="6912768"/>
          </a:xfrm>
        </p:spPr>
      </p:pic>
    </p:spTree>
    <p:extLst>
      <p:ext uri="{BB962C8B-B14F-4D97-AF65-F5344CB8AC3E}">
        <p14:creationId xmlns:p14="http://schemas.microsoft.com/office/powerpoint/2010/main" val="138613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Zástupný symbol pro obsah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4" t="38873" r="54646" b="26870"/>
          <a:stretch/>
        </p:blipFill>
        <p:spPr>
          <a:xfrm>
            <a:off x="1487488" y="-99392"/>
            <a:ext cx="9145016" cy="698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8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491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9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2"/>
          <a:srcRect l="2230" t="2857" r="26411" b="5713"/>
          <a:stretch/>
        </p:blipFill>
        <p:spPr>
          <a:xfrm>
            <a:off x="1487488" y="-27384"/>
            <a:ext cx="9217025" cy="69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83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Rastrové editory</a:t>
            </a:r>
          </a:p>
        </p:txBody>
      </p:sp>
      <p:sp>
        <p:nvSpPr>
          <p:cNvPr id="8195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GIMP (free)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Adobe </a:t>
            </a:r>
            <a:r>
              <a:rPr lang="cs-CZ" altLang="cs-CZ" sz="3200" dirty="0" err="1"/>
              <a:t>Photoshop</a:t>
            </a:r>
            <a:r>
              <a:rPr lang="cs-CZ" altLang="cs-CZ" sz="3200" dirty="0"/>
              <a:t> (placený)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MS </a:t>
            </a:r>
            <a:r>
              <a:rPr lang="cs-CZ" altLang="cs-CZ" sz="3200" dirty="0" err="1"/>
              <a:t>Paint</a:t>
            </a:r>
            <a:r>
              <a:rPr lang="cs-CZ" altLang="cs-CZ" sz="3200" dirty="0"/>
              <a:t> (Malování ve Windows)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 err="1"/>
              <a:t>Zoner</a:t>
            </a:r>
            <a:r>
              <a:rPr lang="cs-CZ" altLang="cs-CZ" sz="3200" dirty="0"/>
              <a:t> </a:t>
            </a:r>
            <a:r>
              <a:rPr lang="cs-CZ" altLang="cs-CZ" sz="3200" dirty="0" err="1"/>
              <a:t>Photo</a:t>
            </a:r>
            <a:r>
              <a:rPr lang="cs-CZ" altLang="cs-CZ" sz="3200" dirty="0"/>
              <a:t> Studio (placený)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Rastrové formáty</a:t>
            </a:r>
          </a:p>
        </p:txBody>
      </p:sp>
      <p:sp>
        <p:nvSpPr>
          <p:cNvPr id="9219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PNG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JPG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GIF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BMP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Vektorová grafika</a:t>
            </a:r>
          </a:p>
        </p:txBody>
      </p:sp>
      <p:sp>
        <p:nvSpPr>
          <p:cNvPr id="1024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Obrázek je složen z grafických prvků (bod, úsečka, křivka, mnohoúhelník)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každý grafický prvek může mít:</a:t>
            </a:r>
          </a:p>
          <a:p>
            <a:pPr lvl="1"/>
            <a:r>
              <a:rPr lang="cs-CZ" altLang="cs-CZ" sz="2800" dirty="0"/>
              <a:t>velikost</a:t>
            </a:r>
          </a:p>
          <a:p>
            <a:pPr lvl="1"/>
            <a:r>
              <a:rPr lang="cs-CZ" altLang="cs-CZ" sz="2800" dirty="0"/>
              <a:t>tloušťku a barvu obrysové čáry</a:t>
            </a:r>
          </a:p>
          <a:p>
            <a:pPr lvl="1"/>
            <a:r>
              <a:rPr lang="cs-CZ" altLang="cs-CZ" sz="2800" dirty="0"/>
              <a:t>barevnou výplň</a:t>
            </a:r>
          </a:p>
          <a:p>
            <a:pPr lvl="1"/>
            <a:r>
              <a:rPr lang="cs-CZ" altLang="cs-CZ" sz="2800" dirty="0"/>
              <a:t>barevný přechod</a:t>
            </a:r>
          </a:p>
          <a:p>
            <a:pPr lvl="1"/>
            <a:r>
              <a:rPr lang="cs-CZ" altLang="cs-CZ" sz="2800" dirty="0"/>
              <a:t>průhlednost</a:t>
            </a:r>
          </a:p>
          <a:p>
            <a:pPr lvl="1"/>
            <a:endParaRPr lang="cs-CZ" altLang="cs-CZ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Vektorová grafika</a:t>
            </a:r>
          </a:p>
        </p:txBody>
      </p:sp>
      <p:sp>
        <p:nvSpPr>
          <p:cNvPr id="4" name="Obdélník 3"/>
          <p:cNvSpPr/>
          <p:nvPr/>
        </p:nvSpPr>
        <p:spPr>
          <a:xfrm>
            <a:off x="6456040" y="4736646"/>
            <a:ext cx="2880320" cy="1584176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Rovnoramenný trojúhelník 4"/>
          <p:cNvSpPr/>
          <p:nvPr/>
        </p:nvSpPr>
        <p:spPr>
          <a:xfrm rot="1874583">
            <a:off x="2714351" y="2099167"/>
            <a:ext cx="2160240" cy="2232248"/>
          </a:xfrm>
          <a:prstGeom prst="triangle">
            <a:avLst/>
          </a:prstGeom>
          <a:solidFill>
            <a:srgbClr val="FF000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7" name="Přímá spojnice 6"/>
          <p:cNvCxnSpPr/>
          <p:nvPr/>
        </p:nvCxnSpPr>
        <p:spPr>
          <a:xfrm>
            <a:off x="8112224" y="623003"/>
            <a:ext cx="1993392" cy="2592288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Volný tvar 7"/>
          <p:cNvSpPr/>
          <p:nvPr/>
        </p:nvSpPr>
        <p:spPr>
          <a:xfrm>
            <a:off x="4943872" y="2647395"/>
            <a:ext cx="3986784" cy="1519816"/>
          </a:xfrm>
          <a:custGeom>
            <a:avLst/>
            <a:gdLst>
              <a:gd name="connsiteX0" fmla="*/ 3986784 w 3986784"/>
              <a:gd name="connsiteY0" fmla="*/ 0 h 1519816"/>
              <a:gd name="connsiteX1" fmla="*/ 1609344 w 3986784"/>
              <a:gd name="connsiteY1" fmla="*/ 1517904 h 1519816"/>
              <a:gd name="connsiteX2" fmla="*/ 1737360 w 3986784"/>
              <a:gd name="connsiteY2" fmla="*/ 310896 h 1519816"/>
              <a:gd name="connsiteX3" fmla="*/ 457200 w 3986784"/>
              <a:gd name="connsiteY3" fmla="*/ 64008 h 1519816"/>
              <a:gd name="connsiteX4" fmla="*/ 0 w 3986784"/>
              <a:gd name="connsiteY4" fmla="*/ 411480 h 1519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6784" h="1519816">
                <a:moveTo>
                  <a:pt x="3986784" y="0"/>
                </a:moveTo>
                <a:cubicBezTo>
                  <a:pt x="2985516" y="733044"/>
                  <a:pt x="1984248" y="1466088"/>
                  <a:pt x="1609344" y="1517904"/>
                </a:cubicBezTo>
                <a:cubicBezTo>
                  <a:pt x="1234440" y="1569720"/>
                  <a:pt x="1929384" y="553212"/>
                  <a:pt x="1737360" y="310896"/>
                </a:cubicBezTo>
                <a:cubicBezTo>
                  <a:pt x="1545336" y="68580"/>
                  <a:pt x="746760" y="47244"/>
                  <a:pt x="457200" y="64008"/>
                </a:cubicBezTo>
                <a:cubicBezTo>
                  <a:pt x="167640" y="80772"/>
                  <a:pt x="59436" y="326136"/>
                  <a:pt x="0" y="411480"/>
                </a:cubicBezTo>
              </a:path>
            </a:pathLst>
          </a:cu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vál 9"/>
          <p:cNvSpPr/>
          <p:nvPr/>
        </p:nvSpPr>
        <p:spPr>
          <a:xfrm>
            <a:off x="2639616" y="5528734"/>
            <a:ext cx="2075712" cy="720080"/>
          </a:xfrm>
          <a:prstGeom prst="ellipse">
            <a:avLst/>
          </a:prstGeom>
          <a:solidFill>
            <a:srgbClr val="FFFF00"/>
          </a:solidFill>
          <a:ln w="762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7817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Výhody vektorové grafiky</a:t>
            </a:r>
          </a:p>
        </p:txBody>
      </p:sp>
      <p:sp>
        <p:nvSpPr>
          <p:cNvPr id="11267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S každým grafickým prvkem lze pracovat samostatně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Libovolně měníme velikosti objektů bez ztráty kvality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Velikost souboru je obvykle mnohem menší </a:t>
            </a:r>
            <a:br>
              <a:rPr lang="cs-CZ" altLang="cs-CZ" sz="3200" dirty="0"/>
            </a:br>
            <a:r>
              <a:rPr lang="cs-CZ" altLang="cs-CZ" sz="3200" dirty="0"/>
              <a:t>(v porovnání s rastrovým obrázkem)</a:t>
            </a:r>
          </a:p>
          <a:p>
            <a:pPr lvl="1"/>
            <a:endParaRPr lang="cs-CZ" altLang="cs-CZ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 err="1"/>
              <a:t>neVýhody</a:t>
            </a:r>
            <a:r>
              <a:rPr lang="cs-CZ" altLang="cs-CZ" dirty="0"/>
              <a:t> vektorové grafiky</a:t>
            </a:r>
          </a:p>
        </p:txBody>
      </p:sp>
      <p:sp>
        <p:nvSpPr>
          <p:cNvPr id="11267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Oproti rastrové grafice – složitější pořízení obrázku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Při použití mnoha objektů a efektů je náročnější </a:t>
            </a:r>
            <a:r>
              <a:rPr lang="cs-CZ" altLang="cs-CZ" sz="3200"/>
              <a:t>na výkon PC</a:t>
            </a:r>
            <a:endParaRPr lang="cs-CZ" altLang="cs-CZ" sz="3200" dirty="0"/>
          </a:p>
          <a:p>
            <a:pPr>
              <a:buFont typeface="Courier New" panose="02070309020205020404" pitchFamily="49" charset="0"/>
              <a:buChar char="o"/>
            </a:pPr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1709620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Vektorová grafika – změna velikosti</a:t>
            </a:r>
          </a:p>
        </p:txBody>
      </p:sp>
      <p:sp>
        <p:nvSpPr>
          <p:cNvPr id="12291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Při změně velikosti je zachována kvalita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Každý objekt je zapsán pomocí vzorce, který se jen přepočítá</a:t>
            </a:r>
          </a:p>
          <a:p>
            <a:pPr lvl="1"/>
            <a:endParaRPr lang="cs-CZ" altLang="cs-CZ" dirty="0"/>
          </a:p>
        </p:txBody>
      </p:sp>
      <p:sp>
        <p:nvSpPr>
          <p:cNvPr id="2" name="Volný tvar 1"/>
          <p:cNvSpPr/>
          <p:nvPr/>
        </p:nvSpPr>
        <p:spPr>
          <a:xfrm rot="12751012">
            <a:off x="2233556" y="5172136"/>
            <a:ext cx="1490472" cy="799275"/>
          </a:xfrm>
          <a:custGeom>
            <a:avLst/>
            <a:gdLst>
              <a:gd name="connsiteX0" fmla="*/ 0 w 1490472"/>
              <a:gd name="connsiteY0" fmla="*/ 658368 h 799275"/>
              <a:gd name="connsiteX1" fmla="*/ 676656 w 1490472"/>
              <a:gd name="connsiteY1" fmla="*/ 768096 h 799275"/>
              <a:gd name="connsiteX2" fmla="*/ 420624 w 1490472"/>
              <a:gd name="connsiteY2" fmla="*/ 164592 h 799275"/>
              <a:gd name="connsiteX3" fmla="*/ 1490472 w 1490472"/>
              <a:gd name="connsiteY3" fmla="*/ 0 h 79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0472" h="799275">
                <a:moveTo>
                  <a:pt x="0" y="658368"/>
                </a:moveTo>
                <a:cubicBezTo>
                  <a:pt x="303276" y="754380"/>
                  <a:pt x="606552" y="850392"/>
                  <a:pt x="676656" y="768096"/>
                </a:cubicBezTo>
                <a:cubicBezTo>
                  <a:pt x="746760" y="685800"/>
                  <a:pt x="284988" y="292608"/>
                  <a:pt x="420624" y="164592"/>
                </a:cubicBezTo>
                <a:cubicBezTo>
                  <a:pt x="556260" y="36576"/>
                  <a:pt x="1023366" y="18288"/>
                  <a:pt x="149047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Volný tvar 7"/>
          <p:cNvSpPr/>
          <p:nvPr/>
        </p:nvSpPr>
        <p:spPr>
          <a:xfrm rot="12751012">
            <a:off x="3908183" y="3184711"/>
            <a:ext cx="6151810" cy="3298947"/>
          </a:xfrm>
          <a:custGeom>
            <a:avLst/>
            <a:gdLst>
              <a:gd name="connsiteX0" fmla="*/ 0 w 1490472"/>
              <a:gd name="connsiteY0" fmla="*/ 658368 h 799275"/>
              <a:gd name="connsiteX1" fmla="*/ 676656 w 1490472"/>
              <a:gd name="connsiteY1" fmla="*/ 768096 h 799275"/>
              <a:gd name="connsiteX2" fmla="*/ 420624 w 1490472"/>
              <a:gd name="connsiteY2" fmla="*/ 164592 h 799275"/>
              <a:gd name="connsiteX3" fmla="*/ 1490472 w 1490472"/>
              <a:gd name="connsiteY3" fmla="*/ 0 h 79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0472" h="799275">
                <a:moveTo>
                  <a:pt x="0" y="658368"/>
                </a:moveTo>
                <a:cubicBezTo>
                  <a:pt x="303276" y="754380"/>
                  <a:pt x="606552" y="850392"/>
                  <a:pt x="676656" y="768096"/>
                </a:cubicBezTo>
                <a:cubicBezTo>
                  <a:pt x="746760" y="685800"/>
                  <a:pt x="284988" y="292608"/>
                  <a:pt x="420624" y="164592"/>
                </a:cubicBezTo>
                <a:cubicBezTo>
                  <a:pt x="556260" y="36576"/>
                  <a:pt x="1023366" y="18288"/>
                  <a:pt x="149047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Vektorové editory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 err="1"/>
              <a:t>Inkscape</a:t>
            </a:r>
            <a:endParaRPr lang="cs-CZ" altLang="cs-CZ" sz="3200" dirty="0"/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Corel </a:t>
            </a:r>
            <a:r>
              <a:rPr lang="cs-CZ" altLang="cs-CZ" sz="3200" dirty="0" err="1"/>
              <a:t>Draw</a:t>
            </a:r>
            <a:endParaRPr lang="cs-CZ" altLang="cs-CZ" sz="3200" dirty="0"/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Adobe </a:t>
            </a:r>
            <a:r>
              <a:rPr lang="cs-CZ" altLang="cs-CZ" sz="3200" dirty="0" err="1"/>
              <a:t>Illustrator</a:t>
            </a:r>
            <a:endParaRPr lang="cs-CZ" altLang="cs-CZ" sz="32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77330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Vektorové formáty</a:t>
            </a:r>
          </a:p>
        </p:txBody>
      </p:sp>
      <p:sp>
        <p:nvSpPr>
          <p:cNvPr id="13315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PDF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CDR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SVG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altLang="cs-CZ" sz="3200" dirty="0"/>
              <a:t>AI</a:t>
            </a:r>
          </a:p>
          <a:p>
            <a:pPr lvl="1"/>
            <a:endParaRPr lang="cs-CZ" altLang="cs-CZ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V programu Malování vytvoř plátno o velikosti cca 60x60 </a:t>
            </a:r>
            <a:r>
              <a:rPr lang="cs-CZ" sz="3200" dirty="0" err="1"/>
              <a:t>px</a:t>
            </a:r>
            <a:endParaRPr lang="cs-CZ" sz="3200" dirty="0"/>
          </a:p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Do plátna napiš písmeno A tak, aby zaplnilo co největší plochu plátna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Soubor ulož jako obrázek s příponou PNG</a:t>
            </a:r>
          </a:p>
        </p:txBody>
      </p:sp>
    </p:spTree>
    <p:extLst>
      <p:ext uri="{BB962C8B-B14F-4D97-AF65-F5344CB8AC3E}">
        <p14:creationId xmlns:p14="http://schemas.microsoft.com/office/powerpoint/2010/main" val="1034160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Vytvoř nový dokument MS Word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Na jednu stránku dokumentu vlož obrázek písmene A, který jsme vytvořili v Malování a roztáhni jej přes celou stránku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3200" dirty="0"/>
              <a:t>Na novou stránku napiš písmeno A přes celou stránku</a:t>
            </a:r>
          </a:p>
        </p:txBody>
      </p:sp>
    </p:spTree>
    <p:extLst>
      <p:ext uri="{BB962C8B-B14F-4D97-AF65-F5344CB8AC3E}">
        <p14:creationId xmlns:p14="http://schemas.microsoft.com/office/powerpoint/2010/main" val="2005265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dirty="0"/>
              <a:t>otázky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cs-CZ" sz="3200" dirty="0"/>
              <a:t>Zjisti, zda lze v rastrové i vektorové grafice použít barevné modely RGB a CMYK.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cs-CZ" sz="3200" dirty="0"/>
              <a:t>Zjisti typické použití rastrových formátů PNG, JPG, GIF.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cs-CZ" sz="3200" dirty="0"/>
              <a:t>Zjisti, který rastrový formát podporuje průhlednost a který podporuje animace.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cs-CZ" sz="3200" dirty="0"/>
              <a:t>Zjisti, co jsou vrstvy a který typ počítačové grafiky je podporuje.</a:t>
            </a:r>
          </a:p>
          <a:p>
            <a:pPr marL="0" indent="0">
              <a:buNone/>
              <a:defRPr/>
            </a:pPr>
            <a:endParaRPr lang="cs-CZ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ál">
  <a:themeElements>
    <a:clrScheme name="Integrá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á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á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884</TotalTime>
  <Words>346</Words>
  <Application>Microsoft Office PowerPoint</Application>
  <PresentationFormat>Širokoúhlá obrazovka</PresentationFormat>
  <Paragraphs>71</Paragraphs>
  <Slides>24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31" baseType="lpstr">
      <vt:lpstr>Arial</vt:lpstr>
      <vt:lpstr>Calibri</vt:lpstr>
      <vt:lpstr>Courier New</vt:lpstr>
      <vt:lpstr>Tw Cen MT</vt:lpstr>
      <vt:lpstr>Tw Cen MT Condensed</vt:lpstr>
      <vt:lpstr>Wingdings 3</vt:lpstr>
      <vt:lpstr>Integrál</vt:lpstr>
      <vt:lpstr>Počítačová grafika</vt:lpstr>
      <vt:lpstr>Počítačová grafika</vt:lpstr>
      <vt:lpstr>rozdělení</vt:lpstr>
      <vt:lpstr>2D grafika</vt:lpstr>
      <vt:lpstr>3D grafika</vt:lpstr>
      <vt:lpstr>Rastrová grafika</vt:lpstr>
      <vt:lpstr>Rastrová grafika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Rastrové editory</vt:lpstr>
      <vt:lpstr>Rastrové formáty</vt:lpstr>
      <vt:lpstr>Vektorová grafika</vt:lpstr>
      <vt:lpstr>Vektorová grafika</vt:lpstr>
      <vt:lpstr>Výhody vektorové grafiky</vt:lpstr>
      <vt:lpstr>neVýhody vektorové grafiky</vt:lpstr>
      <vt:lpstr>Vektorová grafika – změna velikosti</vt:lpstr>
      <vt:lpstr>Vektorové editory</vt:lpstr>
      <vt:lpstr>Vektorové formáty</vt:lpstr>
      <vt:lpstr>úkol</vt:lpstr>
      <vt:lpstr>úkol</vt:lpstr>
      <vt:lpstr>otázky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/>
  <cp:lastModifiedBy/>
  <cp:revision>1</cp:revision>
</cp:coreProperties>
</file>