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303" r:id="rId4"/>
    <p:sldId id="304" r:id="rId5"/>
    <p:sldId id="305" r:id="rId6"/>
    <p:sldId id="264" r:id="rId7"/>
    <p:sldId id="306" r:id="rId8"/>
    <p:sldId id="307" r:id="rId9"/>
    <p:sldId id="308" r:id="rId10"/>
    <p:sldId id="309" r:id="rId11"/>
    <p:sldId id="310" r:id="rId12"/>
    <p:sldId id="316" r:id="rId13"/>
    <p:sldId id="313" r:id="rId14"/>
    <p:sldId id="312" r:id="rId15"/>
    <p:sldId id="315" r:id="rId16"/>
    <p:sldId id="314" r:id="rId17"/>
    <p:sldId id="317" r:id="rId18"/>
    <p:sldId id="319" r:id="rId19"/>
    <p:sldId id="320" r:id="rId20"/>
    <p:sldId id="321" r:id="rId21"/>
    <p:sldId id="349" r:id="rId22"/>
    <p:sldId id="322" r:id="rId23"/>
    <p:sldId id="348" r:id="rId24"/>
    <p:sldId id="347" r:id="rId25"/>
    <p:sldId id="324" r:id="rId26"/>
    <p:sldId id="331" r:id="rId27"/>
    <p:sldId id="350" r:id="rId28"/>
    <p:sldId id="342" r:id="rId29"/>
    <p:sldId id="341" r:id="rId30"/>
    <p:sldId id="332" r:id="rId31"/>
    <p:sldId id="343" r:id="rId32"/>
    <p:sldId id="333" r:id="rId33"/>
    <p:sldId id="337" r:id="rId34"/>
    <p:sldId id="344" r:id="rId35"/>
    <p:sldId id="335" r:id="rId36"/>
    <p:sldId id="345" r:id="rId37"/>
    <p:sldId id="346" r:id="rId38"/>
    <p:sldId id="336" r:id="rId39"/>
    <p:sldId id="334" r:id="rId40"/>
    <p:sldId id="339" r:id="rId4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Styl Světlá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Střední styl 3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Světlý styl 1 – zvýraznění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Světlý sty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6012B0-D0A1-E50B-269F-447DAA903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DBC468C-8CB0-517D-9DC3-820B33558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034059-90E1-71AC-C365-63020C6B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0872238-880E-4F28-1AE4-D591B2B2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D9A118-29C4-F069-CB7C-9BF2152C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836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D28C05-C7B3-8BBF-D5A7-DB240711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53147B-7539-D016-B13B-30AB7B3C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C9BF36D-A943-6102-B24F-D306D47D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F3E8DA-FA37-2541-0D6D-EF3A74FF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D9026D5-51B8-0D9D-CDFD-BD18A264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223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2CC6AD-0F7F-1422-9B14-76FBD1AE2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5B9652-C041-C82A-A5DC-A51FB5199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3D94BAD-5ABD-F80A-0B3F-C677A7E8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030897-88BF-DE11-84DA-6C5E0A74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02ABF5A-46BD-FB69-0927-4784D3E8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588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2AF5B0-9D0A-647D-FF7F-1133980E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9D63EC-195C-F296-104F-647BDFF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56ECEA3-5E84-760C-B96E-42973033B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7761EE8-CB90-6087-B470-1D768FB0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A348FD8-10CF-B44E-ECEF-5B6051DB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9CA2254-A50A-9F1B-E52B-C75B2352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849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0AC197-6E8A-15A5-5963-BA265020B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4B4F97-F44E-FADA-D7F1-628F8DB55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FD523D4-90A6-8E53-63FF-62EBBF9F4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605867-38F8-8F42-8396-9B30DE9E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BAACBF6-D782-9451-8CD4-50500B1F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698A26F-FE1A-2F83-4DBE-0340C1CF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3FE0D90-04ED-7D51-4B57-A64536FF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3906D71-6897-F32E-81A3-231AC1E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876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B20E16-530A-B449-09B7-0C3D6D7B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A867EDE-CEB0-BB89-5D76-0337F6C0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138B92B-0A49-B395-7A04-540F20C4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4F929B-47E4-DFF1-EB69-67A6B919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152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D0292A-316D-078E-59E5-BD00197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2FA0E96-384A-479C-B470-98C69221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A66D8FB-CDD7-785D-2CBB-12E71B5E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228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99DDD1-15D6-D938-0D29-C8EFE658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D67765-8B08-2A26-41AD-303A9F4D2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EDCAA88-C1E9-4713-70C8-D90C63D6D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C041F3-28EF-264C-DE8E-7ECC582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DFF10D-7BDF-99C8-3642-A37930AB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6E385ED-7DF9-D776-03E1-AE0DA994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518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DC9E1A-6406-852F-B675-346ABA59E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615C2FB-CD30-0CF2-952C-2A0796EAC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0D99036-1820-6FC8-F98B-621AD71B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4E332E9-B40C-AEB0-6371-9875183A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AA6F4FA-BD7F-2E55-853F-32D8CC3E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80A502E-F4C0-BFCA-A6AB-969E1B19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742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791164-7455-0C53-2756-6F7B4D73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57CC600-AF26-F05C-D847-8003BF2A9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941C9B-5BEE-D014-A267-30AEE0F2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F120F7-8602-CA26-6B55-B82CBB7F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7D1615-A12D-C6E8-2412-DC4E5EB3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390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47C2431-198F-8821-15CD-CDC27AF1D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E09F351-EF78-E36C-C8A5-BAA5220AA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47BA83-CFD1-362F-956A-F9A5CA1E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35E851-2FDD-3D69-BE1E-3EF0A57F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092567-CB7A-E4D8-7714-F8CB801E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6736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0084EAE-D58F-0C79-97BC-E581B0AF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D5C2B71-F8B1-90D4-91A6-4A62ADAB1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10702C8-329B-6237-32BD-8DAB6C12E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89C8A-B6D7-45C5-BB37-E359105AF756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3F2E6D9-4902-DF0A-E1D1-754B3718C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CB0F86-A0C5-D857-D12B-144F94D48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16337-E35B-43FD-BA4F-9631689874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671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Nf9nzvnd1k" TargetMode="Externa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S53u2DHd0Y" TargetMode="Externa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pMreLeVD6o&amp;t=49s" TargetMode="Externa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cs-CZ" dirty="0">
                <a:solidFill>
                  <a:schemeClr val="tx2"/>
                </a:solidFill>
              </a:rPr>
              <a:t>Multimédia</a:t>
            </a:r>
          </a:p>
        </p:txBody>
      </p:sp>
      <p:pic>
        <p:nvPicPr>
          <p:cNvPr id="7" name="Graphic 6" descr="Film reel">
            <a:extLst>
              <a:ext uri="{FF2B5EF4-FFF2-40B4-BE49-F238E27FC236}">
                <a16:creationId xmlns:a16="http://schemas.microsoft.com/office/drawing/2014/main" id="{F476085F-BE20-B0C3-0CBE-4A1F0D0AD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669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Multimédia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Vznikají jako výsledek spojení různých typů dat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Textů 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Obrázků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Grafiky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Zvuku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Animace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Videa</a:t>
            </a:r>
          </a:p>
        </p:txBody>
      </p:sp>
    </p:spTree>
    <p:extLst>
      <p:ext uri="{BB962C8B-B14F-4D97-AF65-F5344CB8AC3E}">
        <p14:creationId xmlns:p14="http://schemas.microsoft.com/office/powerpoint/2010/main" val="5023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Programy pro tvorbu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PowerPoint</a:t>
            </a:r>
          </a:p>
          <a:p>
            <a:r>
              <a:rPr lang="cs-CZ" sz="3500" dirty="0">
                <a:solidFill>
                  <a:schemeClr val="tx2"/>
                </a:solidFill>
              </a:rPr>
              <a:t>H5P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98BEB6A-6083-7256-20FC-A2452CBAA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775" y="5122576"/>
            <a:ext cx="1835887" cy="930752"/>
          </a:xfrm>
          <a:prstGeom prst="rect">
            <a:avLst/>
          </a:prstGeom>
        </p:spPr>
      </p:pic>
      <p:pic>
        <p:nvPicPr>
          <p:cNvPr id="1026" name="Picture 2" descr="Microsoft PowerPoint – Aplikace na Google Play">
            <a:extLst>
              <a:ext uri="{FF2B5EF4-FFF2-40B4-BE49-F238E27FC236}">
                <a16:creationId xmlns:a16="http://schemas.microsoft.com/office/drawing/2014/main" id="{74495FDD-85E6-4F23-27CF-8AE0C7803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948" y="4522225"/>
            <a:ext cx="2131454" cy="213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32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Multimédia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Často obsahují také interaktivní prvky</a:t>
            </a:r>
          </a:p>
          <a:p>
            <a:r>
              <a:rPr lang="cs-CZ" sz="3500" dirty="0">
                <a:solidFill>
                  <a:schemeClr val="tx2"/>
                </a:solidFill>
              </a:rPr>
              <a:t>Existují také interaktivní učebnice</a:t>
            </a:r>
          </a:p>
        </p:txBody>
      </p:sp>
    </p:spTree>
    <p:extLst>
      <p:ext uri="{BB962C8B-B14F-4D97-AF65-F5344CB8AC3E}">
        <p14:creationId xmlns:p14="http://schemas.microsoft.com/office/powerpoint/2010/main" val="265694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Multimédia</a:t>
            </a:r>
          </a:p>
        </p:txBody>
      </p:sp>
      <p:pic>
        <p:nvPicPr>
          <p:cNvPr id="4" name="Picture 2" descr="III.běh 2020 - Harry Potter - po stopách pana Filche a jeho kočky">
            <a:extLst>
              <a:ext uri="{FF2B5EF4-FFF2-40B4-BE49-F238E27FC236}">
                <a16:creationId xmlns:a16="http://schemas.microsoft.com/office/drawing/2014/main" id="{A738AE88-7F82-1B4A-25A1-BFDA69314D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049" y="777082"/>
            <a:ext cx="3748293" cy="530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8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2"/>
                </a:solidFill>
              </a:rPr>
              <a:t>Zvuk</a:t>
            </a:r>
          </a:p>
        </p:txBody>
      </p:sp>
    </p:spTree>
    <p:extLst>
      <p:ext uri="{BB962C8B-B14F-4D97-AF65-F5344CB8AC3E}">
        <p14:creationId xmlns:p14="http://schemas.microsoft.com/office/powerpoint/2010/main" val="21345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Zvuk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Zvuk je mechanické vlnění šířící se látkovým prostředím</a:t>
            </a:r>
          </a:p>
          <a:p>
            <a:r>
              <a:rPr lang="cs-CZ" sz="3500" dirty="0">
                <a:solidFill>
                  <a:schemeClr val="tx2"/>
                </a:solidFill>
              </a:rPr>
              <a:t>Ve vakuu se zvuk nešíří</a:t>
            </a:r>
          </a:p>
          <a:p>
            <a:r>
              <a:rPr lang="cs-CZ" sz="3500" dirty="0">
                <a:solidFill>
                  <a:schemeClr val="tx2"/>
                </a:solidFill>
              </a:rPr>
              <a:t>Nauka o zvuku je akustika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6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Zdroj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Co může být zdrojem zvuku?</a:t>
            </a:r>
          </a:p>
        </p:txBody>
      </p:sp>
    </p:spTree>
    <p:extLst>
      <p:ext uri="{BB962C8B-B14F-4D97-AF65-F5344CB8AC3E}">
        <p14:creationId xmlns:p14="http://schemas.microsoft.com/office/powerpoint/2010/main" val="167656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Zdroj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900" dirty="0">
                <a:solidFill>
                  <a:schemeClr val="tx2"/>
                </a:solidFill>
              </a:rPr>
              <a:t>Hudební nástroj</a:t>
            </a:r>
          </a:p>
          <a:p>
            <a:r>
              <a:rPr lang="cs-CZ" sz="3900" dirty="0">
                <a:solidFill>
                  <a:schemeClr val="tx2"/>
                </a:solidFill>
              </a:rPr>
              <a:t>Hlasivky</a:t>
            </a:r>
          </a:p>
          <a:p>
            <a:r>
              <a:rPr lang="cs-CZ" sz="3900" dirty="0">
                <a:solidFill>
                  <a:schemeClr val="tx2"/>
                </a:solidFill>
              </a:rPr>
              <a:t>Reproduktor</a:t>
            </a:r>
          </a:p>
          <a:p>
            <a:r>
              <a:rPr lang="cs-CZ" sz="3900" dirty="0">
                <a:solidFill>
                  <a:schemeClr val="tx2"/>
                </a:solidFill>
              </a:rPr>
              <a:t>Výfuk automobilu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90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Parametry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Rychlost šíření</a:t>
            </a:r>
          </a:p>
          <a:p>
            <a:r>
              <a:rPr lang="cs-CZ" sz="3500" dirty="0">
                <a:solidFill>
                  <a:schemeClr val="tx2"/>
                </a:solidFill>
              </a:rPr>
              <a:t>Frekvence</a:t>
            </a:r>
          </a:p>
          <a:p>
            <a:r>
              <a:rPr lang="cs-CZ" sz="3500" dirty="0">
                <a:solidFill>
                  <a:schemeClr val="tx2"/>
                </a:solidFill>
              </a:rPr>
              <a:t>Výška tónu</a:t>
            </a:r>
          </a:p>
          <a:p>
            <a:r>
              <a:rPr lang="cs-CZ" sz="3500" dirty="0">
                <a:solidFill>
                  <a:schemeClr val="tx2"/>
                </a:solidFill>
              </a:rPr>
              <a:t>Barva tónu</a:t>
            </a:r>
          </a:p>
          <a:p>
            <a:r>
              <a:rPr lang="cs-CZ" sz="3500" dirty="0">
                <a:solidFill>
                  <a:schemeClr val="tx2"/>
                </a:solidFill>
              </a:rPr>
              <a:t>Intenzita/hlasitost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Rychlost zvuku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4BAB3CD7-263A-C2EB-E436-D5AAF9621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96589"/>
              </p:ext>
            </p:extLst>
          </p:nvPr>
        </p:nvGraphicFramePr>
        <p:xfrm>
          <a:off x="5985163" y="1341929"/>
          <a:ext cx="4719782" cy="43859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042669">
                  <a:extLst>
                    <a:ext uri="{9D8B030D-6E8A-4147-A177-3AD203B41FA5}">
                      <a16:colId xmlns:a16="http://schemas.microsoft.com/office/drawing/2014/main" val="1526913938"/>
                    </a:ext>
                  </a:extLst>
                </a:gridCol>
                <a:gridCol w="2677113">
                  <a:extLst>
                    <a:ext uri="{9D8B030D-6E8A-4147-A177-3AD203B41FA5}">
                      <a16:colId xmlns:a16="http://schemas.microsoft.com/office/drawing/2014/main" val="2571155674"/>
                    </a:ext>
                  </a:extLst>
                </a:gridCol>
              </a:tblGrid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>
                          <a:solidFill>
                            <a:schemeClr val="tx1"/>
                          </a:solidFill>
                        </a:rPr>
                        <a:t>Látka</a:t>
                      </a:r>
                      <a:endParaRPr lang="cs-CZ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99818" marR="99818" marT="49909" marB="499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>
                          <a:solidFill>
                            <a:schemeClr val="tx1"/>
                          </a:solidFill>
                        </a:rPr>
                        <a:t>Rychlost zvuku [m/s]</a:t>
                      </a:r>
                      <a:endParaRPr lang="cs-CZ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99818" marR="99818" marT="49909" marB="499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30265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Kaučuk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40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524676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Vzduch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340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083995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Voda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1500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333749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Beton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1700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566032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Led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3200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6306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Ocel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5000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902138"/>
                  </a:ext>
                </a:extLst>
              </a:tr>
              <a:tr h="499091"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Sklo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600" dirty="0"/>
                        <a:t>5200</a:t>
                      </a:r>
                    </a:p>
                  </a:txBody>
                  <a:tcPr marL="99818" marR="99818" marT="49909" marB="4990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60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250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Frekvence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fontScale="92500"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Jednotka Hertz</a:t>
            </a:r>
          </a:p>
          <a:p>
            <a:r>
              <a:rPr lang="cs-CZ" sz="3500" dirty="0">
                <a:solidFill>
                  <a:schemeClr val="tx2"/>
                </a:solidFill>
              </a:rPr>
              <a:t>Slyšitelné pásmo – od 16 Hz do 20 000 Hz 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Každý člověk může vnímat jiné krajní frekvence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&lt;16 – infrazvuk 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&gt; 20 000 ultrazvuk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Některá zvířata slyší zvuky, které my neslyšíme</a:t>
            </a:r>
          </a:p>
          <a:p>
            <a:pPr marL="274320" lvl="1" indent="0">
              <a:buNone/>
            </a:pPr>
            <a:r>
              <a:rPr lang="cs-CZ" sz="17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https://www.youtube.com/watch?v=qNf9nzvnd1k</a:t>
            </a:r>
            <a:r>
              <a:rPr lang="cs-CZ" sz="1700" dirty="0">
                <a:solidFill>
                  <a:schemeClr val="tx2"/>
                </a:solidFill>
              </a:rPr>
              <a:t> 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12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Frekvence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Pozor – některé frekvence reproduktory neumí přehrát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95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Frekvence zvuku a lidské ucho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cs-CZ" sz="3500" dirty="0">
              <a:solidFill>
                <a:schemeClr val="tx2"/>
              </a:solidFill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Slyšitelnost frekvencí je ovlivněna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Stářím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Poškozením ucha</a:t>
            </a:r>
          </a:p>
          <a:p>
            <a:pPr lvl="2"/>
            <a:r>
              <a:rPr lang="cs-CZ" sz="3200" dirty="0">
                <a:solidFill>
                  <a:schemeClr val="tx2"/>
                </a:solidFill>
              </a:rPr>
              <a:t>Poslech hlasité hudby</a:t>
            </a:r>
          </a:p>
          <a:p>
            <a:pPr lvl="2"/>
            <a:r>
              <a:rPr lang="cs-CZ" sz="3200" dirty="0">
                <a:solidFill>
                  <a:schemeClr val="tx2"/>
                </a:solidFill>
              </a:rPr>
              <a:t>Mechanické poškození</a:t>
            </a:r>
          </a:p>
          <a:p>
            <a:pPr lvl="2"/>
            <a:r>
              <a:rPr lang="cs-CZ" sz="3200" dirty="0">
                <a:solidFill>
                  <a:schemeClr val="tx2"/>
                </a:solidFill>
              </a:rPr>
              <a:t>Vrozené a získané vady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625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Výška tónu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Je dána frekvencí</a:t>
            </a:r>
          </a:p>
          <a:p>
            <a:r>
              <a:rPr lang="cs-CZ" sz="3500" dirty="0">
                <a:solidFill>
                  <a:schemeClr val="tx2"/>
                </a:solidFill>
              </a:rPr>
              <a:t>Čím vyšší frekvence, tím vyšší tón slyšíme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096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Barva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Charakterizuje zdroj zvuku</a:t>
            </a:r>
          </a:p>
          <a:p>
            <a:r>
              <a:rPr lang="cs-CZ" sz="3500" dirty="0">
                <a:solidFill>
                  <a:schemeClr val="tx2"/>
                </a:solidFill>
              </a:rPr>
              <a:t>Můžeme tak rozeznat různé hudební nástroje vydávající tóny o stejné výšce</a:t>
            </a:r>
          </a:p>
          <a:p>
            <a:pPr marL="0" indent="0">
              <a:buNone/>
            </a:pPr>
            <a:r>
              <a:rPr lang="cs-CZ" sz="3500" dirty="0">
                <a:solidFill>
                  <a:schemeClr val="tx2"/>
                </a:solidFill>
              </a:rPr>
              <a:t>Poznej hudební nástroj</a:t>
            </a:r>
            <a:r>
              <a:rPr lang="cs-CZ" sz="35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cs-CZ" sz="14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https://www.youtube.com/watch?v=HS53u2DHd0Y</a:t>
            </a:r>
            <a:r>
              <a:rPr lang="cs-CZ" sz="1400" dirty="0">
                <a:solidFill>
                  <a:schemeClr val="tx2"/>
                </a:solidFill>
              </a:rPr>
              <a:t> 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48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Intenzita (hlasitost) zvuku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Jednotkou je dB – decibel</a:t>
            </a:r>
          </a:p>
          <a:p>
            <a:r>
              <a:rPr lang="cs-CZ" sz="3500" dirty="0">
                <a:solidFill>
                  <a:schemeClr val="tx2"/>
                </a:solidFill>
              </a:rPr>
              <a:t>Jde o subjektivní pocit při vnímání zvuku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95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Intenzita (hlasitost) zvuku</a:t>
            </a:r>
          </a:p>
        </p:txBody>
      </p:sp>
      <p:graphicFrame>
        <p:nvGraphicFramePr>
          <p:cNvPr id="4" name="Zástupný symbol pro obsah 3">
            <a:extLst>
              <a:ext uri="{FF2B5EF4-FFF2-40B4-BE49-F238E27FC236}">
                <a16:creationId xmlns:a16="http://schemas.microsoft.com/office/drawing/2014/main" id="{622CEE94-1B12-3E44-F37F-6895A59A8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382809"/>
              </p:ext>
            </p:extLst>
          </p:nvPr>
        </p:nvGraphicFramePr>
        <p:xfrm>
          <a:off x="6661727" y="1054104"/>
          <a:ext cx="4223658" cy="47497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40481">
                  <a:extLst>
                    <a:ext uri="{9D8B030D-6E8A-4147-A177-3AD203B41FA5}">
                      <a16:colId xmlns:a16="http://schemas.microsoft.com/office/drawing/2014/main" val="1898274654"/>
                    </a:ext>
                  </a:extLst>
                </a:gridCol>
                <a:gridCol w="1983177">
                  <a:extLst>
                    <a:ext uri="{9D8B030D-6E8A-4147-A177-3AD203B41FA5}">
                      <a16:colId xmlns:a16="http://schemas.microsoft.com/office/drawing/2014/main" val="270902368"/>
                    </a:ext>
                  </a:extLst>
                </a:gridCol>
              </a:tblGrid>
              <a:tr h="517312">
                <a:tc>
                  <a:txBody>
                    <a:bodyPr/>
                    <a:lstStyle/>
                    <a:p>
                      <a:r>
                        <a:rPr lang="cs-CZ" sz="2400" b="1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Zdroj zvuku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b="1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Intenzita [dB]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3667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Práh slyšení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662519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Šumění listí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15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93774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Tichý rozhovor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40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248506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Normální rozhovor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65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710532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Křik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80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620550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Motorové vozidlo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90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204689"/>
                  </a:ext>
                </a:extLst>
              </a:tr>
              <a:tr h="517312"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Práh bolesti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>
                          <a:solidFill>
                            <a:schemeClr val="tx2"/>
                          </a:solidFill>
                          <a:latin typeface="+mj-lt"/>
                          <a:ea typeface="+mj-ea"/>
                          <a:cs typeface="+mj-cs"/>
                        </a:rPr>
                        <a:t>120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98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48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Uložení zvuku do počítače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Digitalizace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Převedení analogového signálu na elektrické veličiny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663CF1F8-7E46-E1D7-232F-5A12292E9381}"/>
              </a:ext>
            </a:extLst>
          </p:cNvPr>
          <p:cNvGrpSpPr/>
          <p:nvPr/>
        </p:nvGrpSpPr>
        <p:grpSpPr>
          <a:xfrm>
            <a:off x="5805110" y="5514109"/>
            <a:ext cx="5387345" cy="685919"/>
            <a:chOff x="1602709" y="4401360"/>
            <a:chExt cx="8523048" cy="1161969"/>
          </a:xfrm>
        </p:grpSpPr>
        <p:pic>
          <p:nvPicPr>
            <p:cNvPr id="4" name="Zástupný symbol pro obsah 5">
              <a:extLst>
                <a:ext uri="{FF2B5EF4-FFF2-40B4-BE49-F238E27FC236}">
                  <a16:creationId xmlns:a16="http://schemas.microsoft.com/office/drawing/2014/main" id="{3B6B8FA1-FD02-D3A2-C52B-6A0449E4B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2709" y="4471765"/>
              <a:ext cx="1063910" cy="1063910"/>
            </a:xfrm>
            <a:prstGeom prst="rect">
              <a:avLst/>
            </a:prstGeom>
          </p:spPr>
        </p:pic>
        <p:sp>
          <p:nvSpPr>
            <p:cNvPr id="5" name="Šipka doprava 4">
              <a:extLst>
                <a:ext uri="{FF2B5EF4-FFF2-40B4-BE49-F238E27FC236}">
                  <a16:creationId xmlns:a16="http://schemas.microsoft.com/office/drawing/2014/main" id="{0EE912A7-A473-03A0-80AD-88F4A803B853}"/>
                </a:ext>
              </a:extLst>
            </p:cNvPr>
            <p:cNvSpPr/>
            <p:nvPr/>
          </p:nvSpPr>
          <p:spPr>
            <a:xfrm>
              <a:off x="2950083" y="4747688"/>
              <a:ext cx="768096" cy="512064"/>
            </a:xfrm>
            <a:prstGeom prst="rightArrow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6" name="Obrázek 5">
              <a:extLst>
                <a:ext uri="{FF2B5EF4-FFF2-40B4-BE49-F238E27FC236}">
                  <a16:creationId xmlns:a16="http://schemas.microsoft.com/office/drawing/2014/main" id="{63A234F9-5DED-4B5C-63DD-CAFD7A438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9687" y="4530864"/>
              <a:ext cx="1024128" cy="1024128"/>
            </a:xfrm>
            <a:prstGeom prst="rect">
              <a:avLst/>
            </a:prstGeom>
          </p:spPr>
        </p:pic>
        <p:sp>
          <p:nvSpPr>
            <p:cNvPr id="7" name="Šipka doprava 8">
              <a:extLst>
                <a:ext uri="{FF2B5EF4-FFF2-40B4-BE49-F238E27FC236}">
                  <a16:creationId xmlns:a16="http://schemas.microsoft.com/office/drawing/2014/main" id="{CFF749E8-94D7-504E-11E0-5C92F748FA86}"/>
                </a:ext>
              </a:extLst>
            </p:cNvPr>
            <p:cNvSpPr/>
            <p:nvPr/>
          </p:nvSpPr>
          <p:spPr>
            <a:xfrm>
              <a:off x="5551591" y="4747688"/>
              <a:ext cx="768096" cy="512064"/>
            </a:xfrm>
            <a:prstGeom prst="rightArrow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" name="Volný tvar 10">
              <a:extLst>
                <a:ext uri="{FF2B5EF4-FFF2-40B4-BE49-F238E27FC236}">
                  <a16:creationId xmlns:a16="http://schemas.microsoft.com/office/drawing/2014/main" id="{7B2FBECC-A5C3-ECCA-0579-6412C34468ED}"/>
                </a:ext>
              </a:extLst>
            </p:cNvPr>
            <p:cNvSpPr/>
            <p:nvPr/>
          </p:nvSpPr>
          <p:spPr>
            <a:xfrm>
              <a:off x="3925325" y="4684709"/>
              <a:ext cx="1261872" cy="713246"/>
            </a:xfrm>
            <a:custGeom>
              <a:avLst/>
              <a:gdLst>
                <a:gd name="connsiteX0" fmla="*/ 0 w 2944368"/>
                <a:gd name="connsiteY0" fmla="*/ 1152158 h 2130574"/>
                <a:gd name="connsiteX1" fmla="*/ 411480 w 2944368"/>
                <a:gd name="connsiteY1" fmla="*/ 27446 h 2130574"/>
                <a:gd name="connsiteX2" fmla="*/ 1042416 w 2944368"/>
                <a:gd name="connsiteY2" fmla="*/ 2130566 h 2130574"/>
                <a:gd name="connsiteX3" fmla="*/ 1600200 w 2944368"/>
                <a:gd name="connsiteY3" fmla="*/ 14 h 2130574"/>
                <a:gd name="connsiteX4" fmla="*/ 2240280 w 2944368"/>
                <a:gd name="connsiteY4" fmla="*/ 2093990 h 2130574"/>
                <a:gd name="connsiteX5" fmla="*/ 2944368 w 2944368"/>
                <a:gd name="connsiteY5" fmla="*/ 850406 h 213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4368" h="2130574">
                  <a:moveTo>
                    <a:pt x="0" y="1152158"/>
                  </a:moveTo>
                  <a:cubicBezTo>
                    <a:pt x="118872" y="508268"/>
                    <a:pt x="237744" y="-135622"/>
                    <a:pt x="411480" y="27446"/>
                  </a:cubicBezTo>
                  <a:cubicBezTo>
                    <a:pt x="585216" y="190514"/>
                    <a:pt x="844296" y="2135138"/>
                    <a:pt x="1042416" y="2130566"/>
                  </a:cubicBezTo>
                  <a:cubicBezTo>
                    <a:pt x="1240536" y="2125994"/>
                    <a:pt x="1400556" y="6110"/>
                    <a:pt x="1600200" y="14"/>
                  </a:cubicBezTo>
                  <a:cubicBezTo>
                    <a:pt x="1799844" y="-6082"/>
                    <a:pt x="2016252" y="1952258"/>
                    <a:pt x="2240280" y="2093990"/>
                  </a:cubicBezTo>
                  <a:cubicBezTo>
                    <a:pt x="2464308" y="2235722"/>
                    <a:pt x="2840736" y="1107962"/>
                    <a:pt x="2944368" y="850406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Šipka doprava 11">
              <a:extLst>
                <a:ext uri="{FF2B5EF4-FFF2-40B4-BE49-F238E27FC236}">
                  <a16:creationId xmlns:a16="http://schemas.microsoft.com/office/drawing/2014/main" id="{21FBE98E-E2CA-FDF6-4797-5FF7C8DAA0BF}"/>
                </a:ext>
              </a:extLst>
            </p:cNvPr>
            <p:cNvSpPr/>
            <p:nvPr/>
          </p:nvSpPr>
          <p:spPr>
            <a:xfrm>
              <a:off x="7769753" y="4747688"/>
              <a:ext cx="768096" cy="512064"/>
            </a:xfrm>
            <a:prstGeom prst="rightArrow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0" name="Obrázek 9">
              <a:extLst>
                <a:ext uri="{FF2B5EF4-FFF2-40B4-BE49-F238E27FC236}">
                  <a16:creationId xmlns:a16="http://schemas.microsoft.com/office/drawing/2014/main" id="{38371021-FB80-980F-795A-CEF1290AF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3788" y="4401360"/>
              <a:ext cx="1161969" cy="11619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1086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PCM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Pulzně kódová modulace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Vzorkování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Kvantování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Kódování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977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Vzorkování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E20E8166-5875-0804-A488-A460BD64DEB5}"/>
              </a:ext>
            </a:extLst>
          </p:cNvPr>
          <p:cNvGrpSpPr/>
          <p:nvPr/>
        </p:nvGrpSpPr>
        <p:grpSpPr>
          <a:xfrm>
            <a:off x="5271749" y="3508499"/>
            <a:ext cx="6840000" cy="3240000"/>
            <a:chOff x="1098403" y="3174339"/>
            <a:chExt cx="5252174" cy="2604857"/>
          </a:xfrm>
        </p:grpSpPr>
        <p:grpSp>
          <p:nvGrpSpPr>
            <p:cNvPr id="5" name="Skupina 4">
              <a:extLst>
                <a:ext uri="{FF2B5EF4-FFF2-40B4-BE49-F238E27FC236}">
                  <a16:creationId xmlns:a16="http://schemas.microsoft.com/office/drawing/2014/main" id="{620AEE5D-8B0B-550B-DA01-7A259F5B0483}"/>
                </a:ext>
              </a:extLst>
            </p:cNvPr>
            <p:cNvGrpSpPr/>
            <p:nvPr/>
          </p:nvGrpSpPr>
          <p:grpSpPr>
            <a:xfrm>
              <a:off x="1354183" y="3174339"/>
              <a:ext cx="4825637" cy="2303352"/>
              <a:chOff x="1354183" y="3174339"/>
              <a:chExt cx="4825637" cy="2303352"/>
            </a:xfrm>
          </p:grpSpPr>
          <p:grpSp>
            <p:nvGrpSpPr>
              <p:cNvPr id="8" name="Skupina 7">
                <a:extLst>
                  <a:ext uri="{FF2B5EF4-FFF2-40B4-BE49-F238E27FC236}">
                    <a16:creationId xmlns:a16="http://schemas.microsoft.com/office/drawing/2014/main" id="{7ED338E4-98CC-9797-A8FE-4D624D9790BB}"/>
                  </a:ext>
                </a:extLst>
              </p:cNvPr>
              <p:cNvGrpSpPr/>
              <p:nvPr/>
            </p:nvGrpSpPr>
            <p:grpSpPr>
              <a:xfrm>
                <a:off x="1354183" y="3387634"/>
                <a:ext cx="4825637" cy="2090057"/>
                <a:chOff x="1354183" y="3387634"/>
                <a:chExt cx="4825637" cy="2090057"/>
              </a:xfrm>
            </p:grpSpPr>
            <p:cxnSp>
              <p:nvCxnSpPr>
                <p:cNvPr id="13" name="Přímá spojnice 12">
                  <a:extLst>
                    <a:ext uri="{FF2B5EF4-FFF2-40B4-BE49-F238E27FC236}">
                      <a16:creationId xmlns:a16="http://schemas.microsoft.com/office/drawing/2014/main" id="{C36E650A-AC58-D4BF-8985-60E6AB4ADCFC}"/>
                    </a:ext>
                  </a:extLst>
                </p:cNvPr>
                <p:cNvCxnSpPr/>
                <p:nvPr/>
              </p:nvCxnSpPr>
              <p:spPr>
                <a:xfrm flipV="1">
                  <a:off x="2361927" y="4275908"/>
                  <a:ext cx="0" cy="1053735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Přímá spojnice 13">
                  <a:extLst>
                    <a:ext uri="{FF2B5EF4-FFF2-40B4-BE49-F238E27FC236}">
                      <a16:creationId xmlns:a16="http://schemas.microsoft.com/office/drawing/2014/main" id="{E1531DDB-8BF2-DC29-0F7C-2F6A0463A92C}"/>
                    </a:ext>
                  </a:extLst>
                </p:cNvPr>
                <p:cNvCxnSpPr/>
                <p:nvPr/>
              </p:nvCxnSpPr>
              <p:spPr>
                <a:xfrm flipV="1">
                  <a:off x="2947852" y="3814763"/>
                  <a:ext cx="0" cy="151488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Přímá spojnice 14">
                  <a:extLst>
                    <a:ext uri="{FF2B5EF4-FFF2-40B4-BE49-F238E27FC236}">
                      <a16:creationId xmlns:a16="http://schemas.microsoft.com/office/drawing/2014/main" id="{012DFC05-8985-ED69-9F4D-A130C90A4B16}"/>
                    </a:ext>
                  </a:extLst>
                </p:cNvPr>
                <p:cNvCxnSpPr/>
                <p:nvPr/>
              </p:nvCxnSpPr>
              <p:spPr>
                <a:xfrm flipV="1">
                  <a:off x="2643052" y="4019550"/>
                  <a:ext cx="0" cy="131009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Přímá spojnice 15">
                  <a:extLst>
                    <a:ext uri="{FF2B5EF4-FFF2-40B4-BE49-F238E27FC236}">
                      <a16:creationId xmlns:a16="http://schemas.microsoft.com/office/drawing/2014/main" id="{42C1BC90-C4D9-CBD4-35DF-2B457513B6EE}"/>
                    </a:ext>
                  </a:extLst>
                </p:cNvPr>
                <p:cNvCxnSpPr/>
                <p:nvPr/>
              </p:nvCxnSpPr>
              <p:spPr>
                <a:xfrm flipV="1">
                  <a:off x="3243263" y="3692433"/>
                  <a:ext cx="0" cy="163721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Přímá spojnice 16">
                  <a:extLst>
                    <a:ext uri="{FF2B5EF4-FFF2-40B4-BE49-F238E27FC236}">
                      <a16:creationId xmlns:a16="http://schemas.microsoft.com/office/drawing/2014/main" id="{994F3B3E-2C73-533D-C5E9-8821470EFF36}"/>
                    </a:ext>
                  </a:extLst>
                </p:cNvPr>
                <p:cNvCxnSpPr/>
                <p:nvPr/>
              </p:nvCxnSpPr>
              <p:spPr>
                <a:xfrm flipV="1">
                  <a:off x="3571195" y="3814763"/>
                  <a:ext cx="0" cy="150182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Přímá spojnice 17">
                  <a:extLst>
                    <a:ext uri="{FF2B5EF4-FFF2-40B4-BE49-F238E27FC236}">
                      <a16:creationId xmlns:a16="http://schemas.microsoft.com/office/drawing/2014/main" id="{9D2A2A50-ECE4-1870-CAA7-D001D6304BD9}"/>
                    </a:ext>
                  </a:extLst>
                </p:cNvPr>
                <p:cNvCxnSpPr/>
                <p:nvPr/>
              </p:nvCxnSpPr>
              <p:spPr>
                <a:xfrm flipV="1">
                  <a:off x="3843065" y="4176713"/>
                  <a:ext cx="0" cy="115293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Přímá spojnice 18">
                  <a:extLst>
                    <a:ext uri="{FF2B5EF4-FFF2-40B4-BE49-F238E27FC236}">
                      <a16:creationId xmlns:a16="http://schemas.microsoft.com/office/drawing/2014/main" id="{A8E1DA67-A8B4-9F20-10C1-7833055C0AF8}"/>
                    </a:ext>
                  </a:extLst>
                </p:cNvPr>
                <p:cNvCxnSpPr/>
                <p:nvPr/>
              </p:nvCxnSpPr>
              <p:spPr>
                <a:xfrm flipV="1">
                  <a:off x="4428990" y="4859383"/>
                  <a:ext cx="0" cy="47026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Přímá spojnice 19">
                  <a:extLst>
                    <a:ext uri="{FF2B5EF4-FFF2-40B4-BE49-F238E27FC236}">
                      <a16:creationId xmlns:a16="http://schemas.microsoft.com/office/drawing/2014/main" id="{3E796393-9E78-98EA-1E2A-A9954E8459CF}"/>
                    </a:ext>
                  </a:extLst>
                </p:cNvPr>
                <p:cNvCxnSpPr/>
                <p:nvPr/>
              </p:nvCxnSpPr>
              <p:spPr>
                <a:xfrm flipV="1">
                  <a:off x="4124190" y="4567643"/>
                  <a:ext cx="0" cy="7620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Přímá spojnice 20">
                  <a:extLst>
                    <a:ext uri="{FF2B5EF4-FFF2-40B4-BE49-F238E27FC236}">
                      <a16:creationId xmlns:a16="http://schemas.microsoft.com/office/drawing/2014/main" id="{616E997F-2B29-929E-DF5F-8585CBB3F107}"/>
                    </a:ext>
                  </a:extLst>
                </p:cNvPr>
                <p:cNvCxnSpPr/>
                <p:nvPr/>
              </p:nvCxnSpPr>
              <p:spPr>
                <a:xfrm flipV="1">
                  <a:off x="4724401" y="4802775"/>
                  <a:ext cx="0" cy="52686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Přímá spojnice 21">
                  <a:extLst>
                    <a:ext uri="{FF2B5EF4-FFF2-40B4-BE49-F238E27FC236}">
                      <a16:creationId xmlns:a16="http://schemas.microsoft.com/office/drawing/2014/main" id="{04AF4F6F-3981-7D22-3A6A-184DBDC4BC33}"/>
                    </a:ext>
                  </a:extLst>
                </p:cNvPr>
                <p:cNvCxnSpPr/>
                <p:nvPr/>
              </p:nvCxnSpPr>
              <p:spPr>
                <a:xfrm flipV="1">
                  <a:off x="5043215" y="4619625"/>
                  <a:ext cx="0" cy="7100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Přímá spojnice 22">
                  <a:extLst>
                    <a:ext uri="{FF2B5EF4-FFF2-40B4-BE49-F238E27FC236}">
                      <a16:creationId xmlns:a16="http://schemas.microsoft.com/office/drawing/2014/main" id="{AA344B1C-C136-517B-6C53-45A19168F03B}"/>
                    </a:ext>
                  </a:extLst>
                </p:cNvPr>
                <p:cNvCxnSpPr/>
                <p:nvPr/>
              </p:nvCxnSpPr>
              <p:spPr>
                <a:xfrm flipV="1">
                  <a:off x="5629140" y="4069080"/>
                  <a:ext cx="0" cy="126056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Přímá spojnice 23">
                  <a:extLst>
                    <a:ext uri="{FF2B5EF4-FFF2-40B4-BE49-F238E27FC236}">
                      <a16:creationId xmlns:a16="http://schemas.microsoft.com/office/drawing/2014/main" id="{6CA0C357-EFD0-EEE1-9CD6-4CAAA5524423}"/>
                    </a:ext>
                  </a:extLst>
                </p:cNvPr>
                <p:cNvCxnSpPr/>
                <p:nvPr/>
              </p:nvCxnSpPr>
              <p:spPr>
                <a:xfrm flipV="1">
                  <a:off x="5324340" y="4376738"/>
                  <a:ext cx="0" cy="952905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Přímá spojnice 11">
                  <a:extLst>
                    <a:ext uri="{FF2B5EF4-FFF2-40B4-BE49-F238E27FC236}">
                      <a16:creationId xmlns:a16="http://schemas.microsoft.com/office/drawing/2014/main" id="{32174398-6A8E-1D68-DD81-9CFCEE0AAA52}"/>
                    </a:ext>
                  </a:extLst>
                </p:cNvPr>
                <p:cNvCxnSpPr/>
                <p:nvPr/>
              </p:nvCxnSpPr>
              <p:spPr>
                <a:xfrm flipV="1">
                  <a:off x="2090057" y="4554583"/>
                  <a:ext cx="0" cy="7620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" name="Skupina 9">
                  <a:extLst>
                    <a:ext uri="{FF2B5EF4-FFF2-40B4-BE49-F238E27FC236}">
                      <a16:creationId xmlns:a16="http://schemas.microsoft.com/office/drawing/2014/main" id="{DD8657DD-6413-ABAD-9570-EFA7009E068F}"/>
                    </a:ext>
                  </a:extLst>
                </p:cNvPr>
                <p:cNvGrpSpPr/>
                <p:nvPr/>
              </p:nvGrpSpPr>
              <p:grpSpPr>
                <a:xfrm>
                  <a:off x="1354183" y="3387634"/>
                  <a:ext cx="4741817" cy="2090057"/>
                  <a:chOff x="1354183" y="3387634"/>
                  <a:chExt cx="4741817" cy="2090057"/>
                </a:xfrm>
              </p:grpSpPr>
              <p:cxnSp>
                <p:nvCxnSpPr>
                  <p:cNvPr id="26" name="Přímá spojnice 25">
                    <a:extLst>
                      <a:ext uri="{FF2B5EF4-FFF2-40B4-BE49-F238E27FC236}">
                        <a16:creationId xmlns:a16="http://schemas.microsoft.com/office/drawing/2014/main" id="{9E4A81E2-7863-331B-1851-7372131A2A60}"/>
                      </a:ext>
                    </a:extLst>
                  </p:cNvPr>
                  <p:cNvCxnSpPr/>
                  <p:nvPr/>
                </p:nvCxnSpPr>
                <p:spPr>
                  <a:xfrm>
                    <a:off x="1541417" y="3387634"/>
                    <a:ext cx="0" cy="2090057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Přímá spojnice 26">
                    <a:extLst>
                      <a:ext uri="{FF2B5EF4-FFF2-40B4-BE49-F238E27FC236}">
                        <a16:creationId xmlns:a16="http://schemas.microsoft.com/office/drawing/2014/main" id="{E488D880-FE40-8C70-2976-48BDF14302CD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354183" y="5316583"/>
                    <a:ext cx="4741817" cy="4355"/>
                  </a:xfrm>
                  <a:prstGeom prst="line">
                    <a:avLst/>
                  </a:prstGeom>
                  <a:ln w="571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Volný tvar 10">
                  <a:extLst>
                    <a:ext uri="{FF2B5EF4-FFF2-40B4-BE49-F238E27FC236}">
                      <a16:creationId xmlns:a16="http://schemas.microsoft.com/office/drawing/2014/main" id="{A9AE5AFD-7F24-520B-C92B-8AD8CF73536F}"/>
                    </a:ext>
                  </a:extLst>
                </p:cNvPr>
                <p:cNvSpPr/>
                <p:nvPr/>
              </p:nvSpPr>
              <p:spPr>
                <a:xfrm>
                  <a:off x="1767840" y="3692433"/>
                  <a:ext cx="4040777" cy="1166950"/>
                </a:xfrm>
                <a:custGeom>
                  <a:avLst/>
                  <a:gdLst>
                    <a:gd name="connsiteX0" fmla="*/ 0 w 4040777"/>
                    <a:gd name="connsiteY0" fmla="*/ 1166950 h 1166950"/>
                    <a:gd name="connsiteX1" fmla="*/ 1532709 w 4040777"/>
                    <a:gd name="connsiteY1" fmla="*/ 1 h 1166950"/>
                    <a:gd name="connsiteX2" fmla="*/ 2717074 w 4040777"/>
                    <a:gd name="connsiteY2" fmla="*/ 1158241 h 1166950"/>
                    <a:gd name="connsiteX3" fmla="*/ 4040777 w 4040777"/>
                    <a:gd name="connsiteY3" fmla="*/ 243841 h 1166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40777" h="1166950">
                      <a:moveTo>
                        <a:pt x="0" y="1166950"/>
                      </a:moveTo>
                      <a:cubicBezTo>
                        <a:pt x="539931" y="584201"/>
                        <a:pt x="1079863" y="1452"/>
                        <a:pt x="1532709" y="1"/>
                      </a:cubicBezTo>
                      <a:cubicBezTo>
                        <a:pt x="1985555" y="-1451"/>
                        <a:pt x="2299063" y="1117601"/>
                        <a:pt x="2717074" y="1158241"/>
                      </a:cubicBezTo>
                      <a:cubicBezTo>
                        <a:pt x="3135085" y="1198881"/>
                        <a:pt x="3795486" y="402047"/>
                        <a:pt x="4040777" y="243841"/>
                      </a:cubicBezTo>
                    </a:path>
                  </a:pathLst>
                </a:custGeom>
                <a:ln w="571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cxnSp>
              <p:nvCxnSpPr>
                <p:cNvPr id="25" name="Přímá spojnice se šipkou 24">
                  <a:extLst>
                    <a:ext uri="{FF2B5EF4-FFF2-40B4-BE49-F238E27FC236}">
                      <a16:creationId xmlns:a16="http://schemas.microsoft.com/office/drawing/2014/main" id="{D024A857-D64D-454E-081A-FBFF2383350E}"/>
                    </a:ext>
                  </a:extLst>
                </p:cNvPr>
                <p:cNvCxnSpPr/>
                <p:nvPr/>
              </p:nvCxnSpPr>
              <p:spPr>
                <a:xfrm>
                  <a:off x="5808617" y="5321345"/>
                  <a:ext cx="371203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Přímá spojnice se šipkou 8">
                <a:extLst>
                  <a:ext uri="{FF2B5EF4-FFF2-40B4-BE49-F238E27FC236}">
                    <a16:creationId xmlns:a16="http://schemas.microsoft.com/office/drawing/2014/main" id="{EBC2E4DB-CF27-CF33-0572-CCA7C7630F84}"/>
                  </a:ext>
                </a:extLst>
              </p:cNvPr>
              <p:cNvCxnSpPr/>
              <p:nvPr/>
            </p:nvCxnSpPr>
            <p:spPr>
              <a:xfrm flipH="1" flipV="1">
                <a:off x="1538015" y="3174339"/>
                <a:ext cx="3402" cy="382362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ovéPole 5">
              <a:extLst>
                <a:ext uri="{FF2B5EF4-FFF2-40B4-BE49-F238E27FC236}">
                  <a16:creationId xmlns:a16="http://schemas.microsoft.com/office/drawing/2014/main" id="{26A0934D-D295-E82F-7DF0-8920E284EF59}"/>
                </a:ext>
              </a:extLst>
            </p:cNvPr>
            <p:cNvSpPr txBox="1"/>
            <p:nvPr/>
          </p:nvSpPr>
          <p:spPr>
            <a:xfrm rot="16200000">
              <a:off x="604037" y="3969214"/>
              <a:ext cx="1358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/>
                <a:t>Amplituda</a:t>
              </a:r>
            </a:p>
          </p:txBody>
        </p: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9846648B-8D11-B54C-08EC-55EDEAF4E09A}"/>
                </a:ext>
              </a:extLst>
            </p:cNvPr>
            <p:cNvSpPr txBox="1"/>
            <p:nvPr/>
          </p:nvSpPr>
          <p:spPr>
            <a:xfrm>
              <a:off x="5667377" y="5409864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/>
                <a:t>Čas</a:t>
              </a:r>
              <a:r>
                <a:rPr lang="cs-CZ" dirty="0"/>
                <a:t> </a:t>
              </a:r>
            </a:p>
          </p:txBody>
        </p:sp>
      </p:grpSp>
      <p:sp>
        <p:nvSpPr>
          <p:cNvPr id="29" name="Zástupný symbol pro obsah 2">
            <a:extLst>
              <a:ext uri="{FF2B5EF4-FFF2-40B4-BE49-F238E27FC236}">
                <a16:creationId xmlns:a16="http://schemas.microsoft.com/office/drawing/2014/main" id="{086DB1C4-5781-E734-1E15-9CC27FE3C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Z časově spojitého signálu se odebírají vzorky v určených časových intervalech</a:t>
            </a:r>
          </a:p>
          <a:p>
            <a:r>
              <a:rPr lang="cs-CZ" sz="3500" dirty="0">
                <a:solidFill>
                  <a:schemeClr val="tx2"/>
                </a:solidFill>
              </a:rPr>
              <a:t>Vzorky se odebírají s určitou frekvencí – vzorkovací frekvence</a:t>
            </a: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25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Kvantování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 err="1">
                <a:solidFill>
                  <a:schemeClr val="tx2"/>
                </a:solidFill>
              </a:rPr>
              <a:t>Navzorkovaný</a:t>
            </a:r>
            <a:r>
              <a:rPr lang="cs-CZ" sz="3500" dirty="0">
                <a:solidFill>
                  <a:schemeClr val="tx2"/>
                </a:solidFill>
              </a:rPr>
              <a:t> signál může v amplitudě nabývat libovolných hodnot, proto jej kvantováním omezíme na omezený počet</a:t>
            </a: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DFD2DF04-F54C-514B-5BD5-C918124E7D28}"/>
              </a:ext>
            </a:extLst>
          </p:cNvPr>
          <p:cNvGrpSpPr/>
          <p:nvPr/>
        </p:nvGrpSpPr>
        <p:grpSpPr>
          <a:xfrm>
            <a:off x="5271749" y="3508499"/>
            <a:ext cx="6840000" cy="3240000"/>
            <a:chOff x="1098402" y="3174339"/>
            <a:chExt cx="6800271" cy="3372648"/>
          </a:xfrm>
        </p:grpSpPr>
        <p:grpSp>
          <p:nvGrpSpPr>
            <p:cNvPr id="5" name="Skupina 4">
              <a:extLst>
                <a:ext uri="{FF2B5EF4-FFF2-40B4-BE49-F238E27FC236}">
                  <a16:creationId xmlns:a16="http://schemas.microsoft.com/office/drawing/2014/main" id="{0923D079-F711-8DE7-1740-4E4277643197}"/>
                </a:ext>
              </a:extLst>
            </p:cNvPr>
            <p:cNvGrpSpPr/>
            <p:nvPr/>
          </p:nvGrpSpPr>
          <p:grpSpPr>
            <a:xfrm>
              <a:off x="1098402" y="3174339"/>
              <a:ext cx="6800271" cy="3372648"/>
              <a:chOff x="1098403" y="3174339"/>
              <a:chExt cx="5252174" cy="2604857"/>
            </a:xfrm>
          </p:grpSpPr>
          <p:grpSp>
            <p:nvGrpSpPr>
              <p:cNvPr id="20" name="Skupina 19">
                <a:extLst>
                  <a:ext uri="{FF2B5EF4-FFF2-40B4-BE49-F238E27FC236}">
                    <a16:creationId xmlns:a16="http://schemas.microsoft.com/office/drawing/2014/main" id="{D7C00BD7-2550-BDB8-EE08-1F5868F5F060}"/>
                  </a:ext>
                </a:extLst>
              </p:cNvPr>
              <p:cNvGrpSpPr/>
              <p:nvPr/>
            </p:nvGrpSpPr>
            <p:grpSpPr>
              <a:xfrm>
                <a:off x="1354183" y="3174339"/>
                <a:ext cx="4825637" cy="2303352"/>
                <a:chOff x="1354183" y="3174339"/>
                <a:chExt cx="4825637" cy="2303352"/>
              </a:xfrm>
            </p:grpSpPr>
            <p:grpSp>
              <p:nvGrpSpPr>
                <p:cNvPr id="23" name="Skupina 22">
                  <a:extLst>
                    <a:ext uri="{FF2B5EF4-FFF2-40B4-BE49-F238E27FC236}">
                      <a16:creationId xmlns:a16="http://schemas.microsoft.com/office/drawing/2014/main" id="{E9802BC0-1369-64A2-CF92-A67E105B61FE}"/>
                    </a:ext>
                  </a:extLst>
                </p:cNvPr>
                <p:cNvGrpSpPr/>
                <p:nvPr/>
              </p:nvGrpSpPr>
              <p:grpSpPr>
                <a:xfrm>
                  <a:off x="1354183" y="3387634"/>
                  <a:ext cx="4825637" cy="2090057"/>
                  <a:chOff x="1354183" y="3387634"/>
                  <a:chExt cx="4825637" cy="2090057"/>
                </a:xfrm>
              </p:grpSpPr>
              <p:grpSp>
                <p:nvGrpSpPr>
                  <p:cNvPr id="25" name="Skupina 24">
                    <a:extLst>
                      <a:ext uri="{FF2B5EF4-FFF2-40B4-BE49-F238E27FC236}">
                        <a16:creationId xmlns:a16="http://schemas.microsoft.com/office/drawing/2014/main" id="{CD9279C1-DCB5-9D04-67E8-182EC080C225}"/>
                      </a:ext>
                    </a:extLst>
                  </p:cNvPr>
                  <p:cNvGrpSpPr/>
                  <p:nvPr/>
                </p:nvGrpSpPr>
                <p:grpSpPr>
                  <a:xfrm>
                    <a:off x="1354183" y="3387634"/>
                    <a:ext cx="4741817" cy="2090057"/>
                    <a:chOff x="1354183" y="3387634"/>
                    <a:chExt cx="4741817" cy="2090057"/>
                  </a:xfrm>
                </p:grpSpPr>
                <p:cxnSp>
                  <p:nvCxnSpPr>
                    <p:cNvPr id="47" name="Přímá spojnice 46">
                      <a:extLst>
                        <a:ext uri="{FF2B5EF4-FFF2-40B4-BE49-F238E27FC236}">
                          <a16:creationId xmlns:a16="http://schemas.microsoft.com/office/drawing/2014/main" id="{38FB5160-486F-DBCA-A21A-1F8FD77C64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41417" y="3387634"/>
                      <a:ext cx="0" cy="2090057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Přímá spojnice 47">
                      <a:extLst>
                        <a:ext uri="{FF2B5EF4-FFF2-40B4-BE49-F238E27FC236}">
                          <a16:creationId xmlns:a16="http://schemas.microsoft.com/office/drawing/2014/main" id="{AB203B9E-0C1E-37DE-7AF0-5092EFEDCB5D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354183" y="5316583"/>
                      <a:ext cx="4741817" cy="4355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6" name="Přímá spojnice 25">
                    <a:extLst>
                      <a:ext uri="{FF2B5EF4-FFF2-40B4-BE49-F238E27FC236}">
                        <a16:creationId xmlns:a16="http://schemas.microsoft.com/office/drawing/2014/main" id="{97373F2D-65B6-C948-C790-428A443FF55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090057" y="4554583"/>
                    <a:ext cx="0" cy="76200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Přímá spojnice 26">
                    <a:extLst>
                      <a:ext uri="{FF2B5EF4-FFF2-40B4-BE49-F238E27FC236}">
                        <a16:creationId xmlns:a16="http://schemas.microsoft.com/office/drawing/2014/main" id="{183794CB-D3A4-6760-5AF1-A92F325592F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61927" y="4275908"/>
                    <a:ext cx="0" cy="105373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Přímá spojnice 27">
                    <a:extLst>
                      <a:ext uri="{FF2B5EF4-FFF2-40B4-BE49-F238E27FC236}">
                        <a16:creationId xmlns:a16="http://schemas.microsoft.com/office/drawing/2014/main" id="{6F28AFF2-B457-6053-9F2F-758E47BF526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947852" y="3814763"/>
                    <a:ext cx="0" cy="151488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Přímá spojnice 28">
                    <a:extLst>
                      <a:ext uri="{FF2B5EF4-FFF2-40B4-BE49-F238E27FC236}">
                        <a16:creationId xmlns:a16="http://schemas.microsoft.com/office/drawing/2014/main" id="{669161E4-AF5F-1E38-6979-FD3E6F980C5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43052" y="4019550"/>
                    <a:ext cx="0" cy="131009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Přímá spojnice 29">
                    <a:extLst>
                      <a:ext uri="{FF2B5EF4-FFF2-40B4-BE49-F238E27FC236}">
                        <a16:creationId xmlns:a16="http://schemas.microsoft.com/office/drawing/2014/main" id="{3D16D664-1C72-0836-849A-B6B2B4A7DB7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243263" y="3692433"/>
                    <a:ext cx="0" cy="163721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Přímá spojnice 30">
                    <a:extLst>
                      <a:ext uri="{FF2B5EF4-FFF2-40B4-BE49-F238E27FC236}">
                        <a16:creationId xmlns:a16="http://schemas.microsoft.com/office/drawing/2014/main" id="{1D0DEB70-85AD-966A-E03C-C55ACAD7247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71195" y="3820648"/>
                    <a:ext cx="0" cy="150182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Přímá spojnice 31">
                    <a:extLst>
                      <a:ext uri="{FF2B5EF4-FFF2-40B4-BE49-F238E27FC236}">
                        <a16:creationId xmlns:a16="http://schemas.microsoft.com/office/drawing/2014/main" id="{18AF5F68-4534-C620-BE3F-1734B327BCC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843065" y="4176713"/>
                    <a:ext cx="0" cy="115293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Přímá spojnice 32">
                    <a:extLst>
                      <a:ext uri="{FF2B5EF4-FFF2-40B4-BE49-F238E27FC236}">
                        <a16:creationId xmlns:a16="http://schemas.microsoft.com/office/drawing/2014/main" id="{FEDE9886-2DC0-DB58-B326-F68227CE39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428990" y="4859383"/>
                    <a:ext cx="0" cy="47026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Přímá spojnice 40">
                    <a:extLst>
                      <a:ext uri="{FF2B5EF4-FFF2-40B4-BE49-F238E27FC236}">
                        <a16:creationId xmlns:a16="http://schemas.microsoft.com/office/drawing/2014/main" id="{C87574CD-E8DF-699C-A0A6-D981940A9F9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124190" y="4567643"/>
                    <a:ext cx="0" cy="76200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Přímá spojnice 41">
                    <a:extLst>
                      <a:ext uri="{FF2B5EF4-FFF2-40B4-BE49-F238E27FC236}">
                        <a16:creationId xmlns:a16="http://schemas.microsoft.com/office/drawing/2014/main" id="{8754A836-7AC0-00CE-1E57-38D5C4F22CE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724401" y="4802775"/>
                    <a:ext cx="0" cy="526868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Přímá spojnice 42">
                    <a:extLst>
                      <a:ext uri="{FF2B5EF4-FFF2-40B4-BE49-F238E27FC236}">
                        <a16:creationId xmlns:a16="http://schemas.microsoft.com/office/drawing/2014/main" id="{69CCE797-782D-5714-6F81-21BA0D47F32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043215" y="4619625"/>
                    <a:ext cx="0" cy="710018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Přímá spojnice 43">
                    <a:extLst>
                      <a:ext uri="{FF2B5EF4-FFF2-40B4-BE49-F238E27FC236}">
                        <a16:creationId xmlns:a16="http://schemas.microsoft.com/office/drawing/2014/main" id="{8258AD68-C08C-FD4A-6A91-8C90A9A3CC1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29140" y="4069080"/>
                    <a:ext cx="0" cy="126056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Přímá spojnice 44">
                    <a:extLst>
                      <a:ext uri="{FF2B5EF4-FFF2-40B4-BE49-F238E27FC236}">
                        <a16:creationId xmlns:a16="http://schemas.microsoft.com/office/drawing/2014/main" id="{589BE31D-DF0E-2D62-4B82-0D3C64F953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324340" y="4376738"/>
                    <a:ext cx="0" cy="95290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Přímá spojnice se šipkou 45">
                    <a:extLst>
                      <a:ext uri="{FF2B5EF4-FFF2-40B4-BE49-F238E27FC236}">
                        <a16:creationId xmlns:a16="http://schemas.microsoft.com/office/drawing/2014/main" id="{B7F3AA9A-5CD4-29C7-B4C3-CC0869397201}"/>
                      </a:ext>
                    </a:extLst>
                  </p:cNvPr>
                  <p:cNvCxnSpPr/>
                  <p:nvPr/>
                </p:nvCxnSpPr>
                <p:spPr>
                  <a:xfrm>
                    <a:off x="5808617" y="5321345"/>
                    <a:ext cx="371203" cy="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Přímá spojnice se šipkou 23">
                  <a:extLst>
                    <a:ext uri="{FF2B5EF4-FFF2-40B4-BE49-F238E27FC236}">
                      <a16:creationId xmlns:a16="http://schemas.microsoft.com/office/drawing/2014/main" id="{95562B1E-4D57-F7FE-735B-C79BE08CB1F4}"/>
                    </a:ext>
                  </a:extLst>
                </p:cNvPr>
                <p:cNvCxnSpPr/>
                <p:nvPr/>
              </p:nvCxnSpPr>
              <p:spPr>
                <a:xfrm flipH="1" flipV="1">
                  <a:off x="1538015" y="3174339"/>
                  <a:ext cx="3402" cy="382362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ovéPole 20">
                <a:extLst>
                  <a:ext uri="{FF2B5EF4-FFF2-40B4-BE49-F238E27FC236}">
                    <a16:creationId xmlns:a16="http://schemas.microsoft.com/office/drawing/2014/main" id="{E446C688-F9F3-2F2A-FBDA-AD9757494A26}"/>
                  </a:ext>
                </a:extLst>
              </p:cNvPr>
              <p:cNvSpPr txBox="1"/>
              <p:nvPr/>
            </p:nvSpPr>
            <p:spPr>
              <a:xfrm rot="16200000">
                <a:off x="604037" y="3969214"/>
                <a:ext cx="13580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Amplituda</a:t>
                </a:r>
              </a:p>
            </p:txBody>
          </p:sp>
          <p:sp>
            <p:nvSpPr>
              <p:cNvPr id="22" name="TextovéPole 21">
                <a:extLst>
                  <a:ext uri="{FF2B5EF4-FFF2-40B4-BE49-F238E27FC236}">
                    <a16:creationId xmlns:a16="http://schemas.microsoft.com/office/drawing/2014/main" id="{EF1A0A43-A2E0-A1A4-861A-8E3AE159EF81}"/>
                  </a:ext>
                </a:extLst>
              </p:cNvPr>
              <p:cNvSpPr txBox="1"/>
              <p:nvPr/>
            </p:nvSpPr>
            <p:spPr>
              <a:xfrm>
                <a:off x="5667377" y="5409864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Čas</a:t>
                </a:r>
                <a:r>
                  <a:rPr lang="cs-CZ" dirty="0"/>
                  <a:t> </a:t>
                </a:r>
              </a:p>
            </p:txBody>
          </p:sp>
        </p:grpSp>
        <p:grpSp>
          <p:nvGrpSpPr>
            <p:cNvPr id="6" name="Skupina 5">
              <a:extLst>
                <a:ext uri="{FF2B5EF4-FFF2-40B4-BE49-F238E27FC236}">
                  <a16:creationId xmlns:a16="http://schemas.microsoft.com/office/drawing/2014/main" id="{645CBDBA-3CFE-DC27-744A-E1879BBA483C}"/>
                </a:ext>
              </a:extLst>
            </p:cNvPr>
            <p:cNvGrpSpPr/>
            <p:nvPr/>
          </p:nvGrpSpPr>
          <p:grpSpPr>
            <a:xfrm>
              <a:off x="1668780" y="3573780"/>
              <a:ext cx="5707380" cy="1874520"/>
              <a:chOff x="1668780" y="3573780"/>
              <a:chExt cx="5707380" cy="1874520"/>
            </a:xfrm>
          </p:grpSpPr>
          <p:cxnSp>
            <p:nvCxnSpPr>
              <p:cNvPr id="7" name="Přímá spojnice 6">
                <a:extLst>
                  <a:ext uri="{FF2B5EF4-FFF2-40B4-BE49-F238E27FC236}">
                    <a16:creationId xmlns:a16="http://schemas.microsoft.com/office/drawing/2014/main" id="{A491051F-B9A5-6E3B-3886-23CFAE334F8F}"/>
                  </a:ext>
                </a:extLst>
              </p:cNvPr>
              <p:cNvCxnSpPr/>
              <p:nvPr/>
            </p:nvCxnSpPr>
            <p:spPr>
              <a:xfrm>
                <a:off x="1668780" y="54483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Přímá spojnice 7">
                <a:extLst>
                  <a:ext uri="{FF2B5EF4-FFF2-40B4-BE49-F238E27FC236}">
                    <a16:creationId xmlns:a16="http://schemas.microsoft.com/office/drawing/2014/main" id="{26C18442-3518-FB0E-A034-99603A9982E3}"/>
                  </a:ext>
                </a:extLst>
              </p:cNvPr>
              <p:cNvCxnSpPr/>
              <p:nvPr/>
            </p:nvCxnSpPr>
            <p:spPr>
              <a:xfrm>
                <a:off x="1668780" y="51054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Přímá spojnice 8">
                <a:extLst>
                  <a:ext uri="{FF2B5EF4-FFF2-40B4-BE49-F238E27FC236}">
                    <a16:creationId xmlns:a16="http://schemas.microsoft.com/office/drawing/2014/main" id="{C5DB3102-A3B7-ABF4-42DA-DA7223B8122A}"/>
                  </a:ext>
                </a:extLst>
              </p:cNvPr>
              <p:cNvCxnSpPr/>
              <p:nvPr/>
            </p:nvCxnSpPr>
            <p:spPr>
              <a:xfrm>
                <a:off x="1668780" y="47548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Přímá spojnice 9">
                <a:extLst>
                  <a:ext uri="{FF2B5EF4-FFF2-40B4-BE49-F238E27FC236}">
                    <a16:creationId xmlns:a16="http://schemas.microsoft.com/office/drawing/2014/main" id="{7DC65197-27BA-31ED-B6F4-9CAF48622EFF}"/>
                  </a:ext>
                </a:extLst>
              </p:cNvPr>
              <p:cNvCxnSpPr/>
              <p:nvPr/>
            </p:nvCxnSpPr>
            <p:spPr>
              <a:xfrm>
                <a:off x="1668780" y="44119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Přímá spojnice 10">
                <a:extLst>
                  <a:ext uri="{FF2B5EF4-FFF2-40B4-BE49-F238E27FC236}">
                    <a16:creationId xmlns:a16="http://schemas.microsoft.com/office/drawing/2014/main" id="{524208B1-B13D-F3B7-4A9A-2046882D2780}"/>
                  </a:ext>
                </a:extLst>
              </p:cNvPr>
              <p:cNvCxnSpPr/>
              <p:nvPr/>
            </p:nvCxnSpPr>
            <p:spPr>
              <a:xfrm>
                <a:off x="1668780" y="40919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Přímá spojnice 11">
                <a:extLst>
                  <a:ext uri="{FF2B5EF4-FFF2-40B4-BE49-F238E27FC236}">
                    <a16:creationId xmlns:a16="http://schemas.microsoft.com/office/drawing/2014/main" id="{5CC0D565-BD47-4BE9-3A2F-8DE7127446F4}"/>
                  </a:ext>
                </a:extLst>
              </p:cNvPr>
              <p:cNvCxnSpPr/>
              <p:nvPr/>
            </p:nvCxnSpPr>
            <p:spPr>
              <a:xfrm>
                <a:off x="1668780" y="37490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Skupina 12">
                <a:extLst>
                  <a:ext uri="{FF2B5EF4-FFF2-40B4-BE49-F238E27FC236}">
                    <a16:creationId xmlns:a16="http://schemas.microsoft.com/office/drawing/2014/main" id="{CA854FA1-C1C8-7B5F-796C-BE6235972543}"/>
                  </a:ext>
                </a:extLst>
              </p:cNvPr>
              <p:cNvGrpSpPr/>
              <p:nvPr/>
            </p:nvGrpSpPr>
            <p:grpSpPr>
              <a:xfrm>
                <a:off x="1668780" y="3573780"/>
                <a:ext cx="5707380" cy="1699260"/>
                <a:chOff x="1668780" y="3573780"/>
                <a:chExt cx="5707380" cy="1699260"/>
              </a:xfrm>
            </p:grpSpPr>
            <p:cxnSp>
              <p:nvCxnSpPr>
                <p:cNvPr id="14" name="Přímá spojnice 13">
                  <a:extLst>
                    <a:ext uri="{FF2B5EF4-FFF2-40B4-BE49-F238E27FC236}">
                      <a16:creationId xmlns:a16="http://schemas.microsoft.com/office/drawing/2014/main" id="{AAD045DB-D3B2-2633-2AAB-93A62DEA2F76}"/>
                    </a:ext>
                  </a:extLst>
                </p:cNvPr>
                <p:cNvCxnSpPr/>
                <p:nvPr/>
              </p:nvCxnSpPr>
              <p:spPr>
                <a:xfrm>
                  <a:off x="1668780" y="52730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Přímá spojnice 14">
                  <a:extLst>
                    <a:ext uri="{FF2B5EF4-FFF2-40B4-BE49-F238E27FC236}">
                      <a16:creationId xmlns:a16="http://schemas.microsoft.com/office/drawing/2014/main" id="{21804E8F-8C09-E645-AE16-BA82DC64DDF9}"/>
                    </a:ext>
                  </a:extLst>
                </p:cNvPr>
                <p:cNvCxnSpPr/>
                <p:nvPr/>
              </p:nvCxnSpPr>
              <p:spPr>
                <a:xfrm>
                  <a:off x="1668780" y="49301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Přímá spojnice 15">
                  <a:extLst>
                    <a:ext uri="{FF2B5EF4-FFF2-40B4-BE49-F238E27FC236}">
                      <a16:creationId xmlns:a16="http://schemas.microsoft.com/office/drawing/2014/main" id="{66BB1C12-5ED6-EC44-D748-46904DD26C53}"/>
                    </a:ext>
                  </a:extLst>
                </p:cNvPr>
                <p:cNvCxnSpPr/>
                <p:nvPr/>
              </p:nvCxnSpPr>
              <p:spPr>
                <a:xfrm>
                  <a:off x="1668780" y="45796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Přímá spojnice 16">
                  <a:extLst>
                    <a:ext uri="{FF2B5EF4-FFF2-40B4-BE49-F238E27FC236}">
                      <a16:creationId xmlns:a16="http://schemas.microsoft.com/office/drawing/2014/main" id="{B9040229-D798-13CA-C589-6E907DB41715}"/>
                    </a:ext>
                  </a:extLst>
                </p:cNvPr>
                <p:cNvCxnSpPr/>
                <p:nvPr/>
              </p:nvCxnSpPr>
              <p:spPr>
                <a:xfrm>
                  <a:off x="1668780" y="42367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Přímá spojnice 17">
                  <a:extLst>
                    <a:ext uri="{FF2B5EF4-FFF2-40B4-BE49-F238E27FC236}">
                      <a16:creationId xmlns:a16="http://schemas.microsoft.com/office/drawing/2014/main" id="{D5770EEA-896C-D3CC-5891-78A55900D406}"/>
                    </a:ext>
                  </a:extLst>
                </p:cNvPr>
                <p:cNvCxnSpPr/>
                <p:nvPr/>
              </p:nvCxnSpPr>
              <p:spPr>
                <a:xfrm>
                  <a:off x="1668780" y="39166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Přímá spojnice 18">
                  <a:extLst>
                    <a:ext uri="{FF2B5EF4-FFF2-40B4-BE49-F238E27FC236}">
                      <a16:creationId xmlns:a16="http://schemas.microsoft.com/office/drawing/2014/main" id="{7C9E2B29-F0EE-850A-B880-775D23B8D4A1}"/>
                    </a:ext>
                  </a:extLst>
                </p:cNvPr>
                <p:cNvCxnSpPr/>
                <p:nvPr/>
              </p:nvCxnSpPr>
              <p:spPr>
                <a:xfrm>
                  <a:off x="1668780" y="35737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047019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Kvantování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 err="1">
                <a:solidFill>
                  <a:schemeClr val="tx2"/>
                </a:solidFill>
              </a:rPr>
              <a:t>Navzorkovaný</a:t>
            </a:r>
            <a:r>
              <a:rPr lang="cs-CZ" sz="3500" dirty="0">
                <a:solidFill>
                  <a:schemeClr val="tx2"/>
                </a:solidFill>
              </a:rPr>
              <a:t> signál může v amplitudě nabývat libovolných hodnot, proto jej kvantováním omezíme na omezený počet</a:t>
            </a: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E78F027D-4375-364A-4FBD-A248732F627F}"/>
              </a:ext>
            </a:extLst>
          </p:cNvPr>
          <p:cNvGrpSpPr/>
          <p:nvPr/>
        </p:nvGrpSpPr>
        <p:grpSpPr>
          <a:xfrm>
            <a:off x="5271749" y="3508499"/>
            <a:ext cx="6840000" cy="3240000"/>
            <a:chOff x="1098402" y="3174339"/>
            <a:chExt cx="6800271" cy="3372648"/>
          </a:xfrm>
        </p:grpSpPr>
        <p:grpSp>
          <p:nvGrpSpPr>
            <p:cNvPr id="5" name="Skupina 4">
              <a:extLst>
                <a:ext uri="{FF2B5EF4-FFF2-40B4-BE49-F238E27FC236}">
                  <a16:creationId xmlns:a16="http://schemas.microsoft.com/office/drawing/2014/main" id="{A6E10B90-1777-CF66-E928-765751A7FE7B}"/>
                </a:ext>
              </a:extLst>
            </p:cNvPr>
            <p:cNvGrpSpPr/>
            <p:nvPr/>
          </p:nvGrpSpPr>
          <p:grpSpPr>
            <a:xfrm>
              <a:off x="1098402" y="3174339"/>
              <a:ext cx="6800271" cy="3372648"/>
              <a:chOff x="1098403" y="3174339"/>
              <a:chExt cx="5252174" cy="2604857"/>
            </a:xfrm>
          </p:grpSpPr>
          <p:grpSp>
            <p:nvGrpSpPr>
              <p:cNvPr id="20" name="Skupina 19">
                <a:extLst>
                  <a:ext uri="{FF2B5EF4-FFF2-40B4-BE49-F238E27FC236}">
                    <a16:creationId xmlns:a16="http://schemas.microsoft.com/office/drawing/2014/main" id="{E10BDA25-FA9F-FC29-A217-E95DD19341E7}"/>
                  </a:ext>
                </a:extLst>
              </p:cNvPr>
              <p:cNvGrpSpPr/>
              <p:nvPr/>
            </p:nvGrpSpPr>
            <p:grpSpPr>
              <a:xfrm>
                <a:off x="1354183" y="3174339"/>
                <a:ext cx="4825637" cy="2303352"/>
                <a:chOff x="1354183" y="3174339"/>
                <a:chExt cx="4825637" cy="2303352"/>
              </a:xfrm>
            </p:grpSpPr>
            <p:grpSp>
              <p:nvGrpSpPr>
                <p:cNvPr id="23" name="Skupina 22">
                  <a:extLst>
                    <a:ext uri="{FF2B5EF4-FFF2-40B4-BE49-F238E27FC236}">
                      <a16:creationId xmlns:a16="http://schemas.microsoft.com/office/drawing/2014/main" id="{6A90D414-7D56-ED58-FBB3-9AEF58B3B3D9}"/>
                    </a:ext>
                  </a:extLst>
                </p:cNvPr>
                <p:cNvGrpSpPr/>
                <p:nvPr/>
              </p:nvGrpSpPr>
              <p:grpSpPr>
                <a:xfrm>
                  <a:off x="1354183" y="3387634"/>
                  <a:ext cx="4825637" cy="2090057"/>
                  <a:chOff x="1354183" y="3387634"/>
                  <a:chExt cx="4825637" cy="2090057"/>
                </a:xfrm>
              </p:grpSpPr>
              <p:grpSp>
                <p:nvGrpSpPr>
                  <p:cNvPr id="25" name="Skupina 24">
                    <a:extLst>
                      <a:ext uri="{FF2B5EF4-FFF2-40B4-BE49-F238E27FC236}">
                        <a16:creationId xmlns:a16="http://schemas.microsoft.com/office/drawing/2014/main" id="{D263E2AA-E5E1-4324-F421-A3C5AE5FF6D6}"/>
                      </a:ext>
                    </a:extLst>
                  </p:cNvPr>
                  <p:cNvGrpSpPr/>
                  <p:nvPr/>
                </p:nvGrpSpPr>
                <p:grpSpPr>
                  <a:xfrm>
                    <a:off x="1354183" y="3387634"/>
                    <a:ext cx="4741817" cy="2090057"/>
                    <a:chOff x="1354183" y="3387634"/>
                    <a:chExt cx="4741817" cy="2090057"/>
                  </a:xfrm>
                </p:grpSpPr>
                <p:cxnSp>
                  <p:nvCxnSpPr>
                    <p:cNvPr id="47" name="Přímá spojnice 46">
                      <a:extLst>
                        <a:ext uri="{FF2B5EF4-FFF2-40B4-BE49-F238E27FC236}">
                          <a16:creationId xmlns:a16="http://schemas.microsoft.com/office/drawing/2014/main" id="{92BC130B-115D-345F-EA76-6593FD989A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41417" y="3387634"/>
                      <a:ext cx="0" cy="2090057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Přímá spojnice 47">
                      <a:extLst>
                        <a:ext uri="{FF2B5EF4-FFF2-40B4-BE49-F238E27FC236}">
                          <a16:creationId xmlns:a16="http://schemas.microsoft.com/office/drawing/2014/main" id="{F14490A1-81AB-DFFC-4703-6A2EC3750BBD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354183" y="5316583"/>
                      <a:ext cx="4741817" cy="4355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6" name="Přímá spojnice 25">
                    <a:extLst>
                      <a:ext uri="{FF2B5EF4-FFF2-40B4-BE49-F238E27FC236}">
                        <a16:creationId xmlns:a16="http://schemas.microsoft.com/office/drawing/2014/main" id="{C282F23B-47CE-99A1-6CB1-5A842EFE826F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2086265" y="4665790"/>
                    <a:ext cx="3792" cy="65079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Přímá spojnice 26">
                    <a:extLst>
                      <a:ext uri="{FF2B5EF4-FFF2-40B4-BE49-F238E27FC236}">
                        <a16:creationId xmlns:a16="http://schemas.microsoft.com/office/drawing/2014/main" id="{187BC87D-BF61-D59D-4BEB-070A4ADD275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61927" y="4395067"/>
                    <a:ext cx="0" cy="934577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Přímá spojnice 27">
                    <a:extLst>
                      <a:ext uri="{FF2B5EF4-FFF2-40B4-BE49-F238E27FC236}">
                        <a16:creationId xmlns:a16="http://schemas.microsoft.com/office/drawing/2014/main" id="{D97D043B-DC87-6331-CC79-7D93F28D038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947852" y="3883046"/>
                    <a:ext cx="3550" cy="144659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Přímá spojnice 28">
                    <a:extLst>
                      <a:ext uri="{FF2B5EF4-FFF2-40B4-BE49-F238E27FC236}">
                        <a16:creationId xmlns:a16="http://schemas.microsoft.com/office/drawing/2014/main" id="{3AE6F04D-97E0-534A-A621-66CD6A26298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43052" y="4130229"/>
                    <a:ext cx="0" cy="119941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Přímá spojnice 29">
                    <a:extLst>
                      <a:ext uri="{FF2B5EF4-FFF2-40B4-BE49-F238E27FC236}">
                        <a16:creationId xmlns:a16="http://schemas.microsoft.com/office/drawing/2014/main" id="{0CB5D9B1-CBF9-6035-EDDC-8B53AEE6483A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39782" y="3618208"/>
                    <a:ext cx="3481" cy="171143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Přímá spojnice 30">
                    <a:extLst>
                      <a:ext uri="{FF2B5EF4-FFF2-40B4-BE49-F238E27FC236}">
                        <a16:creationId xmlns:a16="http://schemas.microsoft.com/office/drawing/2014/main" id="{2D14D5FC-DB5C-2266-2356-5BABAFBE93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71195" y="3883046"/>
                    <a:ext cx="0" cy="1439422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Přímá spojnice 31">
                    <a:extLst>
                      <a:ext uri="{FF2B5EF4-FFF2-40B4-BE49-F238E27FC236}">
                        <a16:creationId xmlns:a16="http://schemas.microsoft.com/office/drawing/2014/main" id="{7885AA54-82B5-42B2-AA24-0E59035BD9C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843065" y="4130229"/>
                    <a:ext cx="0" cy="1199414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Přímá spojnice 32">
                    <a:extLst>
                      <a:ext uri="{FF2B5EF4-FFF2-40B4-BE49-F238E27FC236}">
                        <a16:creationId xmlns:a16="http://schemas.microsoft.com/office/drawing/2014/main" id="{D3D1DAE5-BEA7-ACDF-AFF2-5B9EEF73CC1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428990" y="4930628"/>
                    <a:ext cx="0" cy="39901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Přímá spojnice 40">
                    <a:extLst>
                      <a:ext uri="{FF2B5EF4-FFF2-40B4-BE49-F238E27FC236}">
                        <a16:creationId xmlns:a16="http://schemas.microsoft.com/office/drawing/2014/main" id="{8FDE816A-43FE-43E1-AD1A-8044247AA98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124190" y="4665790"/>
                    <a:ext cx="0" cy="66385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Přímá spojnice 41">
                    <a:extLst>
                      <a:ext uri="{FF2B5EF4-FFF2-40B4-BE49-F238E27FC236}">
                        <a16:creationId xmlns:a16="http://schemas.microsoft.com/office/drawing/2014/main" id="{3ED7E670-B6B9-D1C3-9D97-A1E6F84ED24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724401" y="4930628"/>
                    <a:ext cx="0" cy="39901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Přímá spojnice 42">
                    <a:extLst>
                      <a:ext uri="{FF2B5EF4-FFF2-40B4-BE49-F238E27FC236}">
                        <a16:creationId xmlns:a16="http://schemas.microsoft.com/office/drawing/2014/main" id="{CF574C64-0F01-735A-15DB-3525CEB6E1C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043215" y="4665790"/>
                    <a:ext cx="0" cy="66385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Přímá spojnice 43">
                    <a:extLst>
                      <a:ext uri="{FF2B5EF4-FFF2-40B4-BE49-F238E27FC236}">
                        <a16:creationId xmlns:a16="http://schemas.microsoft.com/office/drawing/2014/main" id="{8A8DD28E-D565-4C0D-5D75-3AE6B9DA99E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29140" y="4130229"/>
                    <a:ext cx="0" cy="119941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Přímá spojnice 44">
                    <a:extLst>
                      <a:ext uri="{FF2B5EF4-FFF2-40B4-BE49-F238E27FC236}">
                        <a16:creationId xmlns:a16="http://schemas.microsoft.com/office/drawing/2014/main" id="{405ACB67-1458-8437-2BC4-91F1B440BF1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324340" y="4395067"/>
                    <a:ext cx="0" cy="934577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Přímá spojnice se šipkou 45">
                    <a:extLst>
                      <a:ext uri="{FF2B5EF4-FFF2-40B4-BE49-F238E27FC236}">
                        <a16:creationId xmlns:a16="http://schemas.microsoft.com/office/drawing/2014/main" id="{A19559F5-7390-A4DB-428C-D35FA96B59AC}"/>
                      </a:ext>
                    </a:extLst>
                  </p:cNvPr>
                  <p:cNvCxnSpPr/>
                  <p:nvPr/>
                </p:nvCxnSpPr>
                <p:spPr>
                  <a:xfrm>
                    <a:off x="5808617" y="5321345"/>
                    <a:ext cx="371203" cy="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Přímá spojnice se šipkou 23">
                  <a:extLst>
                    <a:ext uri="{FF2B5EF4-FFF2-40B4-BE49-F238E27FC236}">
                      <a16:creationId xmlns:a16="http://schemas.microsoft.com/office/drawing/2014/main" id="{53E490C0-58BD-3397-8827-0860E753AB8E}"/>
                    </a:ext>
                  </a:extLst>
                </p:cNvPr>
                <p:cNvCxnSpPr/>
                <p:nvPr/>
              </p:nvCxnSpPr>
              <p:spPr>
                <a:xfrm flipH="1" flipV="1">
                  <a:off x="1538015" y="3174339"/>
                  <a:ext cx="3402" cy="382362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ovéPole 20">
                <a:extLst>
                  <a:ext uri="{FF2B5EF4-FFF2-40B4-BE49-F238E27FC236}">
                    <a16:creationId xmlns:a16="http://schemas.microsoft.com/office/drawing/2014/main" id="{7B23EC7B-B044-FBAB-7EAE-6779CE0635AF}"/>
                  </a:ext>
                </a:extLst>
              </p:cNvPr>
              <p:cNvSpPr txBox="1"/>
              <p:nvPr/>
            </p:nvSpPr>
            <p:spPr>
              <a:xfrm rot="16200000">
                <a:off x="604037" y="3969214"/>
                <a:ext cx="13580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Amplituda</a:t>
                </a:r>
              </a:p>
            </p:txBody>
          </p:sp>
          <p:sp>
            <p:nvSpPr>
              <p:cNvPr id="22" name="TextovéPole 21">
                <a:extLst>
                  <a:ext uri="{FF2B5EF4-FFF2-40B4-BE49-F238E27FC236}">
                    <a16:creationId xmlns:a16="http://schemas.microsoft.com/office/drawing/2014/main" id="{E0EA2F90-2CC7-95C3-9C0E-0C0BCE2A7AED}"/>
                  </a:ext>
                </a:extLst>
              </p:cNvPr>
              <p:cNvSpPr txBox="1"/>
              <p:nvPr/>
            </p:nvSpPr>
            <p:spPr>
              <a:xfrm>
                <a:off x="5667377" y="5409864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Čas</a:t>
                </a:r>
                <a:r>
                  <a:rPr lang="cs-CZ" dirty="0"/>
                  <a:t> </a:t>
                </a:r>
              </a:p>
            </p:txBody>
          </p:sp>
        </p:grpSp>
        <p:grpSp>
          <p:nvGrpSpPr>
            <p:cNvPr id="6" name="Skupina 5">
              <a:extLst>
                <a:ext uri="{FF2B5EF4-FFF2-40B4-BE49-F238E27FC236}">
                  <a16:creationId xmlns:a16="http://schemas.microsoft.com/office/drawing/2014/main" id="{1353A81F-1516-1040-9852-8DC9F00BD544}"/>
                </a:ext>
              </a:extLst>
            </p:cNvPr>
            <p:cNvGrpSpPr/>
            <p:nvPr/>
          </p:nvGrpSpPr>
          <p:grpSpPr>
            <a:xfrm>
              <a:off x="1668780" y="3573780"/>
              <a:ext cx="5707380" cy="1874520"/>
              <a:chOff x="1668780" y="3573780"/>
              <a:chExt cx="5707380" cy="1874520"/>
            </a:xfrm>
          </p:grpSpPr>
          <p:cxnSp>
            <p:nvCxnSpPr>
              <p:cNvPr id="7" name="Přímá spojnice 6">
                <a:extLst>
                  <a:ext uri="{FF2B5EF4-FFF2-40B4-BE49-F238E27FC236}">
                    <a16:creationId xmlns:a16="http://schemas.microsoft.com/office/drawing/2014/main" id="{04BDA2CF-DC3F-DE90-D82E-E2C9DD779B61}"/>
                  </a:ext>
                </a:extLst>
              </p:cNvPr>
              <p:cNvCxnSpPr/>
              <p:nvPr/>
            </p:nvCxnSpPr>
            <p:spPr>
              <a:xfrm>
                <a:off x="1668780" y="54483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Přímá spojnice 7">
                <a:extLst>
                  <a:ext uri="{FF2B5EF4-FFF2-40B4-BE49-F238E27FC236}">
                    <a16:creationId xmlns:a16="http://schemas.microsoft.com/office/drawing/2014/main" id="{0BF464F1-E505-1569-1DB4-184D177F0DC9}"/>
                  </a:ext>
                </a:extLst>
              </p:cNvPr>
              <p:cNvCxnSpPr/>
              <p:nvPr/>
            </p:nvCxnSpPr>
            <p:spPr>
              <a:xfrm>
                <a:off x="1668780" y="51054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Přímá spojnice 8">
                <a:extLst>
                  <a:ext uri="{FF2B5EF4-FFF2-40B4-BE49-F238E27FC236}">
                    <a16:creationId xmlns:a16="http://schemas.microsoft.com/office/drawing/2014/main" id="{516E3661-B128-35F1-8FDF-0E21C2B61695}"/>
                  </a:ext>
                </a:extLst>
              </p:cNvPr>
              <p:cNvCxnSpPr/>
              <p:nvPr/>
            </p:nvCxnSpPr>
            <p:spPr>
              <a:xfrm>
                <a:off x="1668780" y="47548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Přímá spojnice 9">
                <a:extLst>
                  <a:ext uri="{FF2B5EF4-FFF2-40B4-BE49-F238E27FC236}">
                    <a16:creationId xmlns:a16="http://schemas.microsoft.com/office/drawing/2014/main" id="{B3EB1961-FC20-735E-E18C-01F0C8E36B30}"/>
                  </a:ext>
                </a:extLst>
              </p:cNvPr>
              <p:cNvCxnSpPr/>
              <p:nvPr/>
            </p:nvCxnSpPr>
            <p:spPr>
              <a:xfrm>
                <a:off x="1668780" y="44119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Přímá spojnice 10">
                <a:extLst>
                  <a:ext uri="{FF2B5EF4-FFF2-40B4-BE49-F238E27FC236}">
                    <a16:creationId xmlns:a16="http://schemas.microsoft.com/office/drawing/2014/main" id="{BE2157C7-1E3E-30F0-A92A-04E7F0C7E897}"/>
                  </a:ext>
                </a:extLst>
              </p:cNvPr>
              <p:cNvCxnSpPr/>
              <p:nvPr/>
            </p:nvCxnSpPr>
            <p:spPr>
              <a:xfrm>
                <a:off x="1668780" y="40919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Přímá spojnice 11">
                <a:extLst>
                  <a:ext uri="{FF2B5EF4-FFF2-40B4-BE49-F238E27FC236}">
                    <a16:creationId xmlns:a16="http://schemas.microsoft.com/office/drawing/2014/main" id="{AD080EED-96FD-0178-F9BE-A848098E4C49}"/>
                  </a:ext>
                </a:extLst>
              </p:cNvPr>
              <p:cNvCxnSpPr/>
              <p:nvPr/>
            </p:nvCxnSpPr>
            <p:spPr>
              <a:xfrm>
                <a:off x="1668780" y="37490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Skupina 12">
                <a:extLst>
                  <a:ext uri="{FF2B5EF4-FFF2-40B4-BE49-F238E27FC236}">
                    <a16:creationId xmlns:a16="http://schemas.microsoft.com/office/drawing/2014/main" id="{E3BFA817-A7D4-3AE4-BCFF-E00645A52EB4}"/>
                  </a:ext>
                </a:extLst>
              </p:cNvPr>
              <p:cNvGrpSpPr/>
              <p:nvPr/>
            </p:nvGrpSpPr>
            <p:grpSpPr>
              <a:xfrm>
                <a:off x="1668780" y="3573780"/>
                <a:ext cx="5707380" cy="1699260"/>
                <a:chOff x="1668780" y="3573780"/>
                <a:chExt cx="5707380" cy="1699260"/>
              </a:xfrm>
            </p:grpSpPr>
            <p:cxnSp>
              <p:nvCxnSpPr>
                <p:cNvPr id="14" name="Přímá spojnice 13">
                  <a:extLst>
                    <a:ext uri="{FF2B5EF4-FFF2-40B4-BE49-F238E27FC236}">
                      <a16:creationId xmlns:a16="http://schemas.microsoft.com/office/drawing/2014/main" id="{51F3D3D2-60BD-9373-CEEE-C3C88653D973}"/>
                    </a:ext>
                  </a:extLst>
                </p:cNvPr>
                <p:cNvCxnSpPr/>
                <p:nvPr/>
              </p:nvCxnSpPr>
              <p:spPr>
                <a:xfrm>
                  <a:off x="1668780" y="52730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Přímá spojnice 14">
                  <a:extLst>
                    <a:ext uri="{FF2B5EF4-FFF2-40B4-BE49-F238E27FC236}">
                      <a16:creationId xmlns:a16="http://schemas.microsoft.com/office/drawing/2014/main" id="{8C181C15-22D8-45A9-CDE0-1E66F12F1446}"/>
                    </a:ext>
                  </a:extLst>
                </p:cNvPr>
                <p:cNvCxnSpPr/>
                <p:nvPr/>
              </p:nvCxnSpPr>
              <p:spPr>
                <a:xfrm>
                  <a:off x="1668780" y="49301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Přímá spojnice 15">
                  <a:extLst>
                    <a:ext uri="{FF2B5EF4-FFF2-40B4-BE49-F238E27FC236}">
                      <a16:creationId xmlns:a16="http://schemas.microsoft.com/office/drawing/2014/main" id="{88E84F05-77EB-679E-75AB-CE1698F02EB8}"/>
                    </a:ext>
                  </a:extLst>
                </p:cNvPr>
                <p:cNvCxnSpPr/>
                <p:nvPr/>
              </p:nvCxnSpPr>
              <p:spPr>
                <a:xfrm>
                  <a:off x="1668780" y="45796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Přímá spojnice 16">
                  <a:extLst>
                    <a:ext uri="{FF2B5EF4-FFF2-40B4-BE49-F238E27FC236}">
                      <a16:creationId xmlns:a16="http://schemas.microsoft.com/office/drawing/2014/main" id="{D693079E-DE95-8263-DA90-356274984F41}"/>
                    </a:ext>
                  </a:extLst>
                </p:cNvPr>
                <p:cNvCxnSpPr/>
                <p:nvPr/>
              </p:nvCxnSpPr>
              <p:spPr>
                <a:xfrm>
                  <a:off x="1668780" y="42367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Přímá spojnice 17">
                  <a:extLst>
                    <a:ext uri="{FF2B5EF4-FFF2-40B4-BE49-F238E27FC236}">
                      <a16:creationId xmlns:a16="http://schemas.microsoft.com/office/drawing/2014/main" id="{87F8B4B2-A3F2-E52D-1E4C-562D8AC4FC92}"/>
                    </a:ext>
                  </a:extLst>
                </p:cNvPr>
                <p:cNvCxnSpPr/>
                <p:nvPr/>
              </p:nvCxnSpPr>
              <p:spPr>
                <a:xfrm>
                  <a:off x="1668780" y="39166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Přímá spojnice 18">
                  <a:extLst>
                    <a:ext uri="{FF2B5EF4-FFF2-40B4-BE49-F238E27FC236}">
                      <a16:creationId xmlns:a16="http://schemas.microsoft.com/office/drawing/2014/main" id="{63B0C8F9-738C-F8CB-64F6-A938B455C188}"/>
                    </a:ext>
                  </a:extLst>
                </p:cNvPr>
                <p:cNvCxnSpPr/>
                <p:nvPr/>
              </p:nvCxnSpPr>
              <p:spPr>
                <a:xfrm>
                  <a:off x="1668780" y="35737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53621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Kódování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Označení jednotlivých kvantizačních úrovní pomocí binárního kódu</a:t>
            </a: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  <a:p>
            <a:endParaRPr lang="cs-CZ" sz="3500" dirty="0">
              <a:solidFill>
                <a:schemeClr val="tx2"/>
              </a:solidFill>
            </a:endParaRPr>
          </a:p>
        </p:txBody>
      </p:sp>
      <p:grpSp>
        <p:nvGrpSpPr>
          <p:cNvPr id="49" name="Skupina 48">
            <a:extLst>
              <a:ext uri="{FF2B5EF4-FFF2-40B4-BE49-F238E27FC236}">
                <a16:creationId xmlns:a16="http://schemas.microsoft.com/office/drawing/2014/main" id="{444D30B7-CBD7-5498-327A-44D1F5DBA0BA}"/>
              </a:ext>
            </a:extLst>
          </p:cNvPr>
          <p:cNvGrpSpPr/>
          <p:nvPr/>
        </p:nvGrpSpPr>
        <p:grpSpPr>
          <a:xfrm>
            <a:off x="5271749" y="3508499"/>
            <a:ext cx="6840000" cy="3240000"/>
            <a:chOff x="1098402" y="3174339"/>
            <a:chExt cx="6800271" cy="3372648"/>
          </a:xfrm>
        </p:grpSpPr>
        <p:grpSp>
          <p:nvGrpSpPr>
            <p:cNvPr id="50" name="Skupina 49">
              <a:extLst>
                <a:ext uri="{FF2B5EF4-FFF2-40B4-BE49-F238E27FC236}">
                  <a16:creationId xmlns:a16="http://schemas.microsoft.com/office/drawing/2014/main" id="{4DFAA897-7EC4-6361-C31A-6FEAE6707693}"/>
                </a:ext>
              </a:extLst>
            </p:cNvPr>
            <p:cNvGrpSpPr/>
            <p:nvPr/>
          </p:nvGrpSpPr>
          <p:grpSpPr>
            <a:xfrm>
              <a:off x="1098402" y="3174339"/>
              <a:ext cx="6800271" cy="3372648"/>
              <a:chOff x="1098403" y="3174339"/>
              <a:chExt cx="5252174" cy="2604857"/>
            </a:xfrm>
          </p:grpSpPr>
          <p:grpSp>
            <p:nvGrpSpPr>
              <p:cNvPr id="65" name="Skupina 64">
                <a:extLst>
                  <a:ext uri="{FF2B5EF4-FFF2-40B4-BE49-F238E27FC236}">
                    <a16:creationId xmlns:a16="http://schemas.microsoft.com/office/drawing/2014/main" id="{9697350A-10B5-DAE2-5A54-65B64D30F651}"/>
                  </a:ext>
                </a:extLst>
              </p:cNvPr>
              <p:cNvGrpSpPr/>
              <p:nvPr/>
            </p:nvGrpSpPr>
            <p:grpSpPr>
              <a:xfrm>
                <a:off x="1354183" y="3174339"/>
                <a:ext cx="4825637" cy="2303352"/>
                <a:chOff x="1354183" y="3174339"/>
                <a:chExt cx="4825637" cy="2303352"/>
              </a:xfrm>
            </p:grpSpPr>
            <p:grpSp>
              <p:nvGrpSpPr>
                <p:cNvPr id="68" name="Skupina 67">
                  <a:extLst>
                    <a:ext uri="{FF2B5EF4-FFF2-40B4-BE49-F238E27FC236}">
                      <a16:creationId xmlns:a16="http://schemas.microsoft.com/office/drawing/2014/main" id="{791540DA-F97B-F5C3-419E-DB1735ADD40D}"/>
                    </a:ext>
                  </a:extLst>
                </p:cNvPr>
                <p:cNvGrpSpPr/>
                <p:nvPr/>
              </p:nvGrpSpPr>
              <p:grpSpPr>
                <a:xfrm>
                  <a:off x="1354183" y="3387634"/>
                  <a:ext cx="4825637" cy="2090057"/>
                  <a:chOff x="1354183" y="3387634"/>
                  <a:chExt cx="4825637" cy="2090057"/>
                </a:xfrm>
              </p:grpSpPr>
              <p:grpSp>
                <p:nvGrpSpPr>
                  <p:cNvPr id="70" name="Skupina 69">
                    <a:extLst>
                      <a:ext uri="{FF2B5EF4-FFF2-40B4-BE49-F238E27FC236}">
                        <a16:creationId xmlns:a16="http://schemas.microsoft.com/office/drawing/2014/main" id="{F8A0C429-B526-1717-52E9-445A59094CB4}"/>
                      </a:ext>
                    </a:extLst>
                  </p:cNvPr>
                  <p:cNvGrpSpPr/>
                  <p:nvPr/>
                </p:nvGrpSpPr>
                <p:grpSpPr>
                  <a:xfrm>
                    <a:off x="1354183" y="3387634"/>
                    <a:ext cx="4741817" cy="2090057"/>
                    <a:chOff x="1354183" y="3387634"/>
                    <a:chExt cx="4741817" cy="2090057"/>
                  </a:xfrm>
                </p:grpSpPr>
                <p:cxnSp>
                  <p:nvCxnSpPr>
                    <p:cNvPr id="85" name="Přímá spojnice 84">
                      <a:extLst>
                        <a:ext uri="{FF2B5EF4-FFF2-40B4-BE49-F238E27FC236}">
                          <a16:creationId xmlns:a16="http://schemas.microsoft.com/office/drawing/2014/main" id="{5ADDA623-1DF8-5257-88D1-9B0F62FC08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41417" y="3387634"/>
                      <a:ext cx="0" cy="2090057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Přímá spojnice 85">
                      <a:extLst>
                        <a:ext uri="{FF2B5EF4-FFF2-40B4-BE49-F238E27FC236}">
                          <a16:creationId xmlns:a16="http://schemas.microsoft.com/office/drawing/2014/main" id="{0FCE5795-0D41-B592-1FC2-9A138528633B}"/>
                        </a:ext>
                      </a:extLst>
                    </p:cNvPr>
                    <p:cNvCxnSpPr/>
                    <p:nvPr/>
                  </p:nvCxnSpPr>
                  <p:spPr>
                    <a:xfrm flipH="1" flipV="1">
                      <a:off x="1354183" y="5316583"/>
                      <a:ext cx="4741817" cy="4355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1" name="Přímá spojnice 70">
                    <a:extLst>
                      <a:ext uri="{FF2B5EF4-FFF2-40B4-BE49-F238E27FC236}">
                        <a16:creationId xmlns:a16="http://schemas.microsoft.com/office/drawing/2014/main" id="{A09E32C3-BD3A-5E5D-8055-B20C845B3A24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2086265" y="4665790"/>
                    <a:ext cx="3792" cy="65079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Přímá spojnice 71">
                    <a:extLst>
                      <a:ext uri="{FF2B5EF4-FFF2-40B4-BE49-F238E27FC236}">
                        <a16:creationId xmlns:a16="http://schemas.microsoft.com/office/drawing/2014/main" id="{C16AAB21-1427-9B3D-925A-DB246D9C10D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61927" y="4395067"/>
                    <a:ext cx="0" cy="934577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Přímá spojnice 72">
                    <a:extLst>
                      <a:ext uri="{FF2B5EF4-FFF2-40B4-BE49-F238E27FC236}">
                        <a16:creationId xmlns:a16="http://schemas.microsoft.com/office/drawing/2014/main" id="{A10CAFC0-BB96-0C2B-D7EC-609B8885BBA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947852" y="3883046"/>
                    <a:ext cx="3550" cy="144659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Přímá spojnice 73">
                    <a:extLst>
                      <a:ext uri="{FF2B5EF4-FFF2-40B4-BE49-F238E27FC236}">
                        <a16:creationId xmlns:a16="http://schemas.microsoft.com/office/drawing/2014/main" id="{D40A387E-1542-AB32-35DC-DB5FFEAF8F3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43052" y="4130229"/>
                    <a:ext cx="0" cy="119941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Přímá spojnice 74">
                    <a:extLst>
                      <a:ext uri="{FF2B5EF4-FFF2-40B4-BE49-F238E27FC236}">
                        <a16:creationId xmlns:a16="http://schemas.microsoft.com/office/drawing/2014/main" id="{4758488E-0A70-8B9C-5636-327D3924143A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39782" y="3618208"/>
                    <a:ext cx="3481" cy="171143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Přímá spojnice 75">
                    <a:extLst>
                      <a:ext uri="{FF2B5EF4-FFF2-40B4-BE49-F238E27FC236}">
                        <a16:creationId xmlns:a16="http://schemas.microsoft.com/office/drawing/2014/main" id="{BD5482C2-9DA3-ACBC-DA37-90D072C7E93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71195" y="3883046"/>
                    <a:ext cx="0" cy="1439422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Přímá spojnice 76">
                    <a:extLst>
                      <a:ext uri="{FF2B5EF4-FFF2-40B4-BE49-F238E27FC236}">
                        <a16:creationId xmlns:a16="http://schemas.microsoft.com/office/drawing/2014/main" id="{005E81D8-D24E-D157-52DB-8963893F53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843065" y="4130229"/>
                    <a:ext cx="0" cy="1199414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Přímá spojnice 77">
                    <a:extLst>
                      <a:ext uri="{FF2B5EF4-FFF2-40B4-BE49-F238E27FC236}">
                        <a16:creationId xmlns:a16="http://schemas.microsoft.com/office/drawing/2014/main" id="{F8A20945-AD21-E2D6-9F6F-F92B21F2696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428990" y="4930628"/>
                    <a:ext cx="0" cy="39901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Přímá spojnice 78">
                    <a:extLst>
                      <a:ext uri="{FF2B5EF4-FFF2-40B4-BE49-F238E27FC236}">
                        <a16:creationId xmlns:a16="http://schemas.microsoft.com/office/drawing/2014/main" id="{D614E302-ECE0-95FF-CAD9-35651296378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124190" y="4665790"/>
                    <a:ext cx="0" cy="66385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Přímá spojnice 79">
                    <a:extLst>
                      <a:ext uri="{FF2B5EF4-FFF2-40B4-BE49-F238E27FC236}">
                        <a16:creationId xmlns:a16="http://schemas.microsoft.com/office/drawing/2014/main" id="{1E6699D9-1AB2-FB93-95C1-DFADC6038A9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724401" y="4930628"/>
                    <a:ext cx="0" cy="39901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Přímá spojnice 80">
                    <a:extLst>
                      <a:ext uri="{FF2B5EF4-FFF2-40B4-BE49-F238E27FC236}">
                        <a16:creationId xmlns:a16="http://schemas.microsoft.com/office/drawing/2014/main" id="{87F249DE-1848-5D99-5375-F3CE8685E91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043215" y="4665790"/>
                    <a:ext cx="0" cy="66385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Přímá spojnice 81">
                    <a:extLst>
                      <a:ext uri="{FF2B5EF4-FFF2-40B4-BE49-F238E27FC236}">
                        <a16:creationId xmlns:a16="http://schemas.microsoft.com/office/drawing/2014/main" id="{68E68571-AC77-865E-484E-59FFB59600D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29140" y="4130229"/>
                    <a:ext cx="0" cy="1199416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Přímá spojnice 82">
                    <a:extLst>
                      <a:ext uri="{FF2B5EF4-FFF2-40B4-BE49-F238E27FC236}">
                        <a16:creationId xmlns:a16="http://schemas.microsoft.com/office/drawing/2014/main" id="{EF01CFB7-CF69-189D-47F1-8580439FCCC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324340" y="4395067"/>
                    <a:ext cx="0" cy="934577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Přímá spojnice se šipkou 83">
                    <a:extLst>
                      <a:ext uri="{FF2B5EF4-FFF2-40B4-BE49-F238E27FC236}">
                        <a16:creationId xmlns:a16="http://schemas.microsoft.com/office/drawing/2014/main" id="{0E22E6B9-A553-2FE8-D1EE-85B7D75E1311}"/>
                      </a:ext>
                    </a:extLst>
                  </p:cNvPr>
                  <p:cNvCxnSpPr/>
                  <p:nvPr/>
                </p:nvCxnSpPr>
                <p:spPr>
                  <a:xfrm>
                    <a:off x="5808617" y="5321345"/>
                    <a:ext cx="371203" cy="0"/>
                  </a:xfrm>
                  <a:prstGeom prst="straightConnector1">
                    <a:avLst/>
                  </a:prstGeom>
                  <a:ln w="571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9" name="Přímá spojnice se šipkou 68">
                  <a:extLst>
                    <a:ext uri="{FF2B5EF4-FFF2-40B4-BE49-F238E27FC236}">
                      <a16:creationId xmlns:a16="http://schemas.microsoft.com/office/drawing/2014/main" id="{ABB2FB4B-C5E7-D853-A353-1C085943F86B}"/>
                    </a:ext>
                  </a:extLst>
                </p:cNvPr>
                <p:cNvCxnSpPr/>
                <p:nvPr/>
              </p:nvCxnSpPr>
              <p:spPr>
                <a:xfrm flipH="1" flipV="1">
                  <a:off x="1538015" y="3174339"/>
                  <a:ext cx="3402" cy="382362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ovéPole 65">
                <a:extLst>
                  <a:ext uri="{FF2B5EF4-FFF2-40B4-BE49-F238E27FC236}">
                    <a16:creationId xmlns:a16="http://schemas.microsoft.com/office/drawing/2014/main" id="{80D7EF61-4CC8-B2B3-88D8-A9F5AE91E644}"/>
                  </a:ext>
                </a:extLst>
              </p:cNvPr>
              <p:cNvSpPr txBox="1"/>
              <p:nvPr/>
            </p:nvSpPr>
            <p:spPr>
              <a:xfrm rot="16200000">
                <a:off x="604037" y="3969214"/>
                <a:ext cx="13580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Amplituda</a:t>
                </a:r>
              </a:p>
            </p:txBody>
          </p:sp>
          <p:sp>
            <p:nvSpPr>
              <p:cNvPr id="67" name="TextovéPole 66">
                <a:extLst>
                  <a:ext uri="{FF2B5EF4-FFF2-40B4-BE49-F238E27FC236}">
                    <a16:creationId xmlns:a16="http://schemas.microsoft.com/office/drawing/2014/main" id="{1AB94AFA-6C94-FD6D-2050-1F21A451E004}"/>
                  </a:ext>
                </a:extLst>
              </p:cNvPr>
              <p:cNvSpPr txBox="1"/>
              <p:nvPr/>
            </p:nvSpPr>
            <p:spPr>
              <a:xfrm>
                <a:off x="5667377" y="5409864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/>
                  <a:t>Čas</a:t>
                </a:r>
                <a:r>
                  <a:rPr lang="cs-CZ" dirty="0"/>
                  <a:t> </a:t>
                </a:r>
              </a:p>
            </p:txBody>
          </p:sp>
        </p:grpSp>
        <p:grpSp>
          <p:nvGrpSpPr>
            <p:cNvPr id="51" name="Skupina 50">
              <a:extLst>
                <a:ext uri="{FF2B5EF4-FFF2-40B4-BE49-F238E27FC236}">
                  <a16:creationId xmlns:a16="http://schemas.microsoft.com/office/drawing/2014/main" id="{05C059E8-91F7-57EA-22C0-14A36F8CA7A9}"/>
                </a:ext>
              </a:extLst>
            </p:cNvPr>
            <p:cNvGrpSpPr/>
            <p:nvPr/>
          </p:nvGrpSpPr>
          <p:grpSpPr>
            <a:xfrm>
              <a:off x="1668780" y="3573780"/>
              <a:ext cx="5707380" cy="1874520"/>
              <a:chOff x="1668780" y="3573780"/>
              <a:chExt cx="5707380" cy="1874520"/>
            </a:xfrm>
          </p:grpSpPr>
          <p:cxnSp>
            <p:nvCxnSpPr>
              <p:cNvPr id="52" name="Přímá spojnice 51">
                <a:extLst>
                  <a:ext uri="{FF2B5EF4-FFF2-40B4-BE49-F238E27FC236}">
                    <a16:creationId xmlns:a16="http://schemas.microsoft.com/office/drawing/2014/main" id="{43232199-8A5F-7103-9C68-5D9C53D72CBB}"/>
                  </a:ext>
                </a:extLst>
              </p:cNvPr>
              <p:cNvCxnSpPr/>
              <p:nvPr/>
            </p:nvCxnSpPr>
            <p:spPr>
              <a:xfrm>
                <a:off x="1668780" y="54483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Přímá spojnice 52">
                <a:extLst>
                  <a:ext uri="{FF2B5EF4-FFF2-40B4-BE49-F238E27FC236}">
                    <a16:creationId xmlns:a16="http://schemas.microsoft.com/office/drawing/2014/main" id="{F7041A34-D414-3565-10C6-E411FACF3920}"/>
                  </a:ext>
                </a:extLst>
              </p:cNvPr>
              <p:cNvCxnSpPr/>
              <p:nvPr/>
            </p:nvCxnSpPr>
            <p:spPr>
              <a:xfrm>
                <a:off x="1668780" y="510540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Přímá spojnice 53">
                <a:extLst>
                  <a:ext uri="{FF2B5EF4-FFF2-40B4-BE49-F238E27FC236}">
                    <a16:creationId xmlns:a16="http://schemas.microsoft.com/office/drawing/2014/main" id="{4F515CDF-C2FC-F843-F48F-CB6AC6EFA4AE}"/>
                  </a:ext>
                </a:extLst>
              </p:cNvPr>
              <p:cNvCxnSpPr/>
              <p:nvPr/>
            </p:nvCxnSpPr>
            <p:spPr>
              <a:xfrm>
                <a:off x="1668780" y="47548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Přímá spojnice 54">
                <a:extLst>
                  <a:ext uri="{FF2B5EF4-FFF2-40B4-BE49-F238E27FC236}">
                    <a16:creationId xmlns:a16="http://schemas.microsoft.com/office/drawing/2014/main" id="{9A98FEB5-1136-31DC-FA86-FA9BA3E77BAD}"/>
                  </a:ext>
                </a:extLst>
              </p:cNvPr>
              <p:cNvCxnSpPr/>
              <p:nvPr/>
            </p:nvCxnSpPr>
            <p:spPr>
              <a:xfrm>
                <a:off x="1668780" y="441198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Přímá spojnice 55">
                <a:extLst>
                  <a:ext uri="{FF2B5EF4-FFF2-40B4-BE49-F238E27FC236}">
                    <a16:creationId xmlns:a16="http://schemas.microsoft.com/office/drawing/2014/main" id="{EA0AD7CD-86E0-C55E-F1A5-E7FCEA7354BB}"/>
                  </a:ext>
                </a:extLst>
              </p:cNvPr>
              <p:cNvCxnSpPr/>
              <p:nvPr/>
            </p:nvCxnSpPr>
            <p:spPr>
              <a:xfrm>
                <a:off x="1668780" y="40919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Přímá spojnice 56">
                <a:extLst>
                  <a:ext uri="{FF2B5EF4-FFF2-40B4-BE49-F238E27FC236}">
                    <a16:creationId xmlns:a16="http://schemas.microsoft.com/office/drawing/2014/main" id="{95FFB472-E434-DCF1-E308-B5DC08179E0D}"/>
                  </a:ext>
                </a:extLst>
              </p:cNvPr>
              <p:cNvCxnSpPr/>
              <p:nvPr/>
            </p:nvCxnSpPr>
            <p:spPr>
              <a:xfrm>
                <a:off x="1668780" y="3749040"/>
                <a:ext cx="570738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Skupina 57">
                <a:extLst>
                  <a:ext uri="{FF2B5EF4-FFF2-40B4-BE49-F238E27FC236}">
                    <a16:creationId xmlns:a16="http://schemas.microsoft.com/office/drawing/2014/main" id="{249CEECE-7C31-4A16-FAD6-B63CEDF018CA}"/>
                  </a:ext>
                </a:extLst>
              </p:cNvPr>
              <p:cNvGrpSpPr/>
              <p:nvPr/>
            </p:nvGrpSpPr>
            <p:grpSpPr>
              <a:xfrm>
                <a:off x="1668780" y="3573780"/>
                <a:ext cx="5707380" cy="1699260"/>
                <a:chOff x="1668780" y="3573780"/>
                <a:chExt cx="5707380" cy="1699260"/>
              </a:xfrm>
            </p:grpSpPr>
            <p:cxnSp>
              <p:nvCxnSpPr>
                <p:cNvPr id="59" name="Přímá spojnice 58">
                  <a:extLst>
                    <a:ext uri="{FF2B5EF4-FFF2-40B4-BE49-F238E27FC236}">
                      <a16:creationId xmlns:a16="http://schemas.microsoft.com/office/drawing/2014/main" id="{97FA45DA-9C60-98B4-66D1-F93146625A8B}"/>
                    </a:ext>
                  </a:extLst>
                </p:cNvPr>
                <p:cNvCxnSpPr/>
                <p:nvPr/>
              </p:nvCxnSpPr>
              <p:spPr>
                <a:xfrm>
                  <a:off x="1668780" y="52730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Přímá spojnice 59">
                  <a:extLst>
                    <a:ext uri="{FF2B5EF4-FFF2-40B4-BE49-F238E27FC236}">
                      <a16:creationId xmlns:a16="http://schemas.microsoft.com/office/drawing/2014/main" id="{073F9263-9B51-29D8-7B6E-5E0312FCBDAE}"/>
                    </a:ext>
                  </a:extLst>
                </p:cNvPr>
                <p:cNvCxnSpPr/>
                <p:nvPr/>
              </p:nvCxnSpPr>
              <p:spPr>
                <a:xfrm>
                  <a:off x="1668780" y="493014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Přímá spojnice 60">
                  <a:extLst>
                    <a:ext uri="{FF2B5EF4-FFF2-40B4-BE49-F238E27FC236}">
                      <a16:creationId xmlns:a16="http://schemas.microsoft.com/office/drawing/2014/main" id="{540E11A2-918C-0D6F-A866-ECB818A29E30}"/>
                    </a:ext>
                  </a:extLst>
                </p:cNvPr>
                <p:cNvCxnSpPr/>
                <p:nvPr/>
              </p:nvCxnSpPr>
              <p:spPr>
                <a:xfrm>
                  <a:off x="1668780" y="45796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Přímá spojnice 61">
                  <a:extLst>
                    <a:ext uri="{FF2B5EF4-FFF2-40B4-BE49-F238E27FC236}">
                      <a16:creationId xmlns:a16="http://schemas.microsoft.com/office/drawing/2014/main" id="{9D7E1860-9A3F-906D-0AD6-8205D9B53905}"/>
                    </a:ext>
                  </a:extLst>
                </p:cNvPr>
                <p:cNvCxnSpPr/>
                <p:nvPr/>
              </p:nvCxnSpPr>
              <p:spPr>
                <a:xfrm>
                  <a:off x="1668780" y="423672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Přímá spojnice 62">
                  <a:extLst>
                    <a:ext uri="{FF2B5EF4-FFF2-40B4-BE49-F238E27FC236}">
                      <a16:creationId xmlns:a16="http://schemas.microsoft.com/office/drawing/2014/main" id="{DE3EF34F-E01B-537E-B60F-FF70D7CA2533}"/>
                    </a:ext>
                  </a:extLst>
                </p:cNvPr>
                <p:cNvCxnSpPr/>
                <p:nvPr/>
              </p:nvCxnSpPr>
              <p:spPr>
                <a:xfrm>
                  <a:off x="1668780" y="39166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Přímá spojnice 63">
                  <a:extLst>
                    <a:ext uri="{FF2B5EF4-FFF2-40B4-BE49-F238E27FC236}">
                      <a16:creationId xmlns:a16="http://schemas.microsoft.com/office/drawing/2014/main" id="{1410B821-40DC-F65C-BA0D-D353C86DE518}"/>
                    </a:ext>
                  </a:extLst>
                </p:cNvPr>
                <p:cNvCxnSpPr/>
                <p:nvPr/>
              </p:nvCxnSpPr>
              <p:spPr>
                <a:xfrm>
                  <a:off x="1668780" y="3573780"/>
                  <a:ext cx="570738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7" name="TextovéPole 86">
            <a:extLst>
              <a:ext uri="{FF2B5EF4-FFF2-40B4-BE49-F238E27FC236}">
                <a16:creationId xmlns:a16="http://schemas.microsoft.com/office/drawing/2014/main" id="{26B641D6-F3F9-4AC6-B8F9-9F88CEE4DAE7}"/>
              </a:ext>
            </a:extLst>
          </p:cNvPr>
          <p:cNvSpPr txBox="1"/>
          <p:nvPr/>
        </p:nvSpPr>
        <p:spPr>
          <a:xfrm>
            <a:off x="11515826" y="3648925"/>
            <a:ext cx="526106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s-CZ" sz="1000" dirty="0"/>
          </a:p>
          <a:p>
            <a:r>
              <a:rPr lang="cs-CZ" sz="1600" dirty="0"/>
              <a:t>110</a:t>
            </a:r>
          </a:p>
          <a:p>
            <a:endParaRPr lang="cs-CZ" sz="700" dirty="0"/>
          </a:p>
          <a:p>
            <a:r>
              <a:rPr lang="cs-CZ" sz="1600" dirty="0"/>
              <a:t>101</a:t>
            </a:r>
          </a:p>
          <a:p>
            <a:endParaRPr lang="cs-CZ" sz="700" dirty="0"/>
          </a:p>
          <a:p>
            <a:r>
              <a:rPr lang="cs-CZ" sz="1600" dirty="0"/>
              <a:t>100</a:t>
            </a:r>
          </a:p>
          <a:p>
            <a:endParaRPr lang="cs-CZ" sz="600" dirty="0"/>
          </a:p>
          <a:p>
            <a:r>
              <a:rPr lang="cs-CZ" sz="1600" dirty="0"/>
              <a:t>011</a:t>
            </a:r>
          </a:p>
          <a:p>
            <a:endParaRPr lang="cs-CZ" sz="600" dirty="0"/>
          </a:p>
          <a:p>
            <a:r>
              <a:rPr lang="cs-CZ" sz="1600" dirty="0"/>
              <a:t>001</a:t>
            </a:r>
          </a:p>
          <a:p>
            <a:endParaRPr lang="cs-CZ" sz="600" dirty="0"/>
          </a:p>
          <a:p>
            <a:r>
              <a:rPr lang="cs-CZ" sz="1600" dirty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2107067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Komprese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Ztrátová</a:t>
            </a:r>
          </a:p>
          <a:p>
            <a:r>
              <a:rPr lang="cs-CZ" sz="3500" dirty="0">
                <a:solidFill>
                  <a:schemeClr val="tx2"/>
                </a:solidFill>
              </a:rPr>
              <a:t>Bezztrátová</a:t>
            </a:r>
          </a:p>
        </p:txBody>
      </p:sp>
    </p:spTree>
    <p:extLst>
      <p:ext uri="{BB962C8B-B14F-4D97-AF65-F5344CB8AC3E}">
        <p14:creationId xmlns:p14="http://schemas.microsoft.com/office/powerpoint/2010/main" val="2476922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Lidské ucho není schopno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cs-CZ" sz="3500" dirty="0">
              <a:solidFill>
                <a:schemeClr val="tx2"/>
              </a:solidFill>
            </a:endParaRPr>
          </a:p>
          <a:p>
            <a:endParaRPr lang="cs-CZ" sz="3200" dirty="0"/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43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Lidské ucho není schopno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cs-CZ" sz="3500" dirty="0">
              <a:solidFill>
                <a:schemeClr val="tx2"/>
              </a:solidFill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Slyšet dva různé tóny současně – silnější tón překryje slabší</a:t>
            </a:r>
          </a:p>
          <a:p>
            <a:r>
              <a:rPr lang="cs-CZ" sz="3500" dirty="0">
                <a:solidFill>
                  <a:schemeClr val="tx2"/>
                </a:solidFill>
              </a:rPr>
              <a:t>Vnímat dva tóny s blízkými frekvencemi – vnímá je jako jeden tón</a:t>
            </a:r>
          </a:p>
          <a:p>
            <a:r>
              <a:rPr lang="cs-CZ" sz="3500" dirty="0">
                <a:solidFill>
                  <a:schemeClr val="tx2"/>
                </a:solidFill>
              </a:rPr>
              <a:t>Vnímat slabé tóny bezprostředně po zaznění silnějších (milisekundy)</a:t>
            </a:r>
          </a:p>
          <a:p>
            <a:endParaRPr lang="cs-CZ" sz="3200" dirty="0"/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43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Zvukové formáty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Ztrátové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.MP3</a:t>
            </a:r>
          </a:p>
          <a:p>
            <a:pPr lvl="1"/>
            <a:r>
              <a:rPr lang="cs-CZ" sz="3100">
                <a:solidFill>
                  <a:schemeClr val="tx2"/>
                </a:solidFill>
              </a:rPr>
              <a:t>.AAC</a:t>
            </a:r>
            <a:endParaRPr lang="cs-CZ" sz="3100" dirty="0">
              <a:solidFill>
                <a:schemeClr val="tx2"/>
              </a:solidFill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Bezztrátové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.WAV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.FLAC</a:t>
            </a:r>
          </a:p>
        </p:txBody>
      </p:sp>
    </p:spTree>
    <p:extLst>
      <p:ext uri="{BB962C8B-B14F-4D97-AF65-F5344CB8AC3E}">
        <p14:creationId xmlns:p14="http://schemas.microsoft.com/office/powerpoint/2010/main" val="4198174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2"/>
                </a:solidFill>
              </a:rPr>
              <a:t>Videozáznam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endParaRPr lang="cs-CZ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865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Videozáznam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Co je to videozáznam?</a:t>
            </a:r>
          </a:p>
        </p:txBody>
      </p:sp>
    </p:spTree>
    <p:extLst>
      <p:ext uri="{BB962C8B-B14F-4D97-AF65-F5344CB8AC3E}">
        <p14:creationId xmlns:p14="http://schemas.microsoft.com/office/powerpoint/2010/main" val="3135910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Rozlišení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Určuje počet bodů videa (horizontálně a vertikálně)</a:t>
            </a:r>
          </a:p>
          <a:p>
            <a:r>
              <a:rPr lang="cs-CZ" sz="3500" dirty="0">
                <a:solidFill>
                  <a:schemeClr val="tx2"/>
                </a:solidFill>
              </a:rPr>
              <a:t>Uvádí se v bodech, pixelech</a:t>
            </a:r>
          </a:p>
          <a:p>
            <a:pPr lvl="1"/>
            <a:r>
              <a:rPr lang="cs-CZ" sz="3200" dirty="0">
                <a:solidFill>
                  <a:schemeClr val="tx2"/>
                </a:solidFill>
              </a:rPr>
              <a:t>HD – 1280x720 </a:t>
            </a:r>
            <a:r>
              <a:rPr lang="cs-CZ" sz="3200" dirty="0" err="1">
                <a:solidFill>
                  <a:schemeClr val="tx2"/>
                </a:solidFill>
              </a:rPr>
              <a:t>px</a:t>
            </a:r>
            <a:endParaRPr lang="cs-CZ" sz="3200" dirty="0">
              <a:solidFill>
                <a:schemeClr val="tx2"/>
              </a:solidFill>
            </a:endParaRPr>
          </a:p>
          <a:p>
            <a:pPr lvl="1"/>
            <a:r>
              <a:rPr lang="cs-CZ" sz="3200" dirty="0">
                <a:solidFill>
                  <a:schemeClr val="tx2"/>
                </a:solidFill>
              </a:rPr>
              <a:t>Full HD – 1920x1080 </a:t>
            </a:r>
            <a:r>
              <a:rPr lang="cs-CZ" sz="3200" dirty="0" err="1">
                <a:solidFill>
                  <a:schemeClr val="tx2"/>
                </a:solidFill>
              </a:rPr>
              <a:t>px</a:t>
            </a:r>
            <a:endParaRPr lang="cs-CZ" sz="3200" dirty="0">
              <a:solidFill>
                <a:schemeClr val="tx2"/>
              </a:solidFill>
            </a:endParaRPr>
          </a:p>
          <a:p>
            <a:pPr lvl="1"/>
            <a:r>
              <a:rPr lang="cs-CZ" sz="3200" dirty="0">
                <a:solidFill>
                  <a:schemeClr val="tx2"/>
                </a:solidFill>
              </a:rPr>
              <a:t>Ultra HD (4K) 3840x2160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297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Poměr stran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Uvádí se ve zlomcích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(4:3, 16:9)</a:t>
            </a:r>
          </a:p>
          <a:p>
            <a:r>
              <a:rPr lang="cs-CZ" sz="3500" dirty="0">
                <a:solidFill>
                  <a:schemeClr val="tx2"/>
                </a:solidFill>
              </a:rPr>
              <a:t>Jde o skutečný poměr stran, jak se má video zobrazit při přehrávání</a:t>
            </a:r>
          </a:p>
        </p:txBody>
      </p:sp>
    </p:spTree>
    <p:extLst>
      <p:ext uri="{BB962C8B-B14F-4D97-AF65-F5344CB8AC3E}">
        <p14:creationId xmlns:p14="http://schemas.microsoft.com/office/powerpoint/2010/main" val="2289279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Snímková frekvence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lnSpcReduction="10000"/>
          </a:bodyPr>
          <a:lstStyle/>
          <a:p>
            <a:endParaRPr lang="cs-CZ" sz="3500" dirty="0">
              <a:solidFill>
                <a:schemeClr val="tx2"/>
              </a:solidFill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Frekvence, s jakou zařízení zobrazuje nebo zachycuje snímky</a:t>
            </a:r>
          </a:p>
          <a:p>
            <a:r>
              <a:rPr lang="cs-CZ" sz="3500" dirty="0">
                <a:solidFill>
                  <a:schemeClr val="tx2"/>
                </a:solidFill>
              </a:rPr>
              <a:t>Jednotky </a:t>
            </a:r>
            <a:r>
              <a:rPr lang="cs-CZ" sz="3500" dirty="0" err="1">
                <a:solidFill>
                  <a:schemeClr val="tx2"/>
                </a:solidFill>
              </a:rPr>
              <a:t>fps</a:t>
            </a:r>
            <a:r>
              <a:rPr lang="cs-CZ" sz="3500" dirty="0">
                <a:solidFill>
                  <a:schemeClr val="tx2"/>
                </a:solidFill>
              </a:rPr>
              <a:t> (</a:t>
            </a:r>
            <a:r>
              <a:rPr lang="cs-CZ" sz="3500" dirty="0" err="1">
                <a:solidFill>
                  <a:schemeClr val="tx2"/>
                </a:solidFill>
              </a:rPr>
              <a:t>frames</a:t>
            </a:r>
            <a:r>
              <a:rPr lang="cs-CZ" sz="3500" dirty="0">
                <a:solidFill>
                  <a:schemeClr val="tx2"/>
                </a:solidFill>
              </a:rPr>
              <a:t> per second) – snímek za sekundu</a:t>
            </a:r>
          </a:p>
          <a:p>
            <a:r>
              <a:rPr lang="cs-CZ" sz="3500" dirty="0">
                <a:solidFill>
                  <a:schemeClr val="tx2"/>
                </a:solidFill>
              </a:rPr>
              <a:t>Pro dosažení iluze plynulého pohybu je pro lidské oko zapotřebí 10-15fps</a:t>
            </a:r>
          </a:p>
          <a:p>
            <a:endParaRPr lang="cs-CZ" sz="2000" dirty="0"/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087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Snímková frekvence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cs-CZ" sz="3500" dirty="0">
              <a:solidFill>
                <a:schemeClr val="tx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Je prokázáno, že při frekvenci 24fps vypadá i velmi rychlý pohyb plynule</a:t>
            </a:r>
          </a:p>
          <a:p>
            <a:r>
              <a:rPr lang="cs-CZ" sz="3500" dirty="0">
                <a:solidFill>
                  <a:schemeClr val="tx2"/>
                </a:solidFill>
              </a:rPr>
              <a:t>Televizní vysílání často používá normu </a:t>
            </a:r>
          </a:p>
          <a:p>
            <a:pPr lvl="1"/>
            <a:r>
              <a:rPr lang="cs-CZ" sz="3200" dirty="0">
                <a:solidFill>
                  <a:schemeClr val="tx2"/>
                </a:solidFill>
              </a:rPr>
              <a:t>PAL – 25 </a:t>
            </a:r>
            <a:r>
              <a:rPr lang="cs-CZ" sz="3200" dirty="0" err="1">
                <a:solidFill>
                  <a:schemeClr val="tx2"/>
                </a:solidFill>
              </a:rPr>
              <a:t>fps</a:t>
            </a:r>
            <a:r>
              <a:rPr lang="cs-CZ" sz="3200" dirty="0">
                <a:solidFill>
                  <a:schemeClr val="tx2"/>
                </a:solidFill>
              </a:rPr>
              <a:t> – Evropa</a:t>
            </a:r>
          </a:p>
          <a:p>
            <a:pPr lvl="1"/>
            <a:r>
              <a:rPr lang="cs-CZ" sz="3200" dirty="0">
                <a:solidFill>
                  <a:schemeClr val="tx2"/>
                </a:solidFill>
              </a:rPr>
              <a:t>NTSC 29.97 </a:t>
            </a:r>
            <a:r>
              <a:rPr lang="cs-CZ" sz="3200" dirty="0" err="1">
                <a:solidFill>
                  <a:schemeClr val="tx2"/>
                </a:solidFill>
              </a:rPr>
              <a:t>fps</a:t>
            </a:r>
            <a:r>
              <a:rPr lang="cs-CZ" sz="3200" dirty="0">
                <a:solidFill>
                  <a:schemeClr val="tx2"/>
                </a:solidFill>
              </a:rPr>
              <a:t> – Amerika</a:t>
            </a:r>
          </a:p>
          <a:p>
            <a:r>
              <a:rPr lang="cs-CZ" sz="14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https://www.youtube.com/watch?v=npMreLeVD6o&amp;t=49s</a:t>
            </a:r>
            <a:r>
              <a:rPr lang="cs-CZ" sz="1400" dirty="0">
                <a:solidFill>
                  <a:schemeClr val="tx2"/>
                </a:solidFill>
              </a:rPr>
              <a:t> </a:t>
            </a:r>
            <a:endParaRPr lang="cs-CZ" sz="1200" dirty="0">
              <a:solidFill>
                <a:schemeClr val="tx2"/>
              </a:solidFill>
            </a:endParaRPr>
          </a:p>
          <a:p>
            <a:endParaRPr lang="cs-CZ" sz="2000" dirty="0"/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34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Datový tok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BITRATE – množství dat zakódovaných do vteřiny</a:t>
            </a:r>
          </a:p>
          <a:p>
            <a:r>
              <a:rPr lang="cs-CZ" sz="3500" dirty="0">
                <a:solidFill>
                  <a:schemeClr val="tx2"/>
                </a:solidFill>
              </a:rPr>
              <a:t>Jednotka </a:t>
            </a:r>
            <a:r>
              <a:rPr lang="cs-CZ" sz="3500" dirty="0" err="1">
                <a:solidFill>
                  <a:schemeClr val="tx2"/>
                </a:solidFill>
              </a:rPr>
              <a:t>Kbps</a:t>
            </a:r>
            <a:r>
              <a:rPr lang="cs-CZ" sz="3500" dirty="0">
                <a:solidFill>
                  <a:schemeClr val="tx2"/>
                </a:solidFill>
              </a:rPr>
              <a:t> (kilobit za sekundu), Mbps (megabit za sekundu)</a:t>
            </a:r>
          </a:p>
          <a:p>
            <a:r>
              <a:rPr lang="cs-CZ" sz="3500" dirty="0">
                <a:solidFill>
                  <a:schemeClr val="tx2"/>
                </a:solidFill>
              </a:rPr>
              <a:t>Čím vyšší datový tok, tím vyšší je kvalita videa – ale větší velikost souboru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283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Datový tok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Rozdělení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Konstantní </a:t>
            </a:r>
          </a:p>
          <a:p>
            <a:pPr lvl="1"/>
            <a:r>
              <a:rPr lang="cs-CZ" sz="3100" dirty="0">
                <a:solidFill>
                  <a:schemeClr val="tx2"/>
                </a:solidFill>
              </a:rPr>
              <a:t>Proměnlivý </a:t>
            </a:r>
          </a:p>
        </p:txBody>
      </p:sp>
    </p:spTree>
    <p:extLst>
      <p:ext uri="{BB962C8B-B14F-4D97-AF65-F5344CB8AC3E}">
        <p14:creationId xmlns:p14="http://schemas.microsoft.com/office/powerpoint/2010/main" val="1319654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Konstantní datový tok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CBR</a:t>
            </a:r>
          </a:p>
          <a:p>
            <a:pPr lvl="1"/>
            <a:r>
              <a:rPr lang="cs-CZ" sz="3500" dirty="0" err="1">
                <a:solidFill>
                  <a:schemeClr val="tx2"/>
                </a:solidFill>
              </a:rPr>
              <a:t>Constant</a:t>
            </a:r>
            <a:r>
              <a:rPr lang="cs-CZ" sz="3500" dirty="0">
                <a:solidFill>
                  <a:schemeClr val="tx2"/>
                </a:solidFill>
              </a:rPr>
              <a:t> </a:t>
            </a:r>
            <a:r>
              <a:rPr lang="cs-CZ" sz="3500" dirty="0" err="1">
                <a:solidFill>
                  <a:schemeClr val="tx2"/>
                </a:solidFill>
              </a:rPr>
              <a:t>bitrate</a:t>
            </a:r>
            <a:r>
              <a:rPr lang="cs-CZ" sz="3500" dirty="0">
                <a:solidFill>
                  <a:schemeClr val="tx2"/>
                </a:solidFill>
              </a:rPr>
              <a:t> – stálý datový tok po celou dobu přehrávání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Jednoduchý na kompresi, ale data proudí stejnou rychlostí i tam, kde je obraz klidný</a:t>
            </a:r>
          </a:p>
        </p:txBody>
      </p:sp>
    </p:spTree>
    <p:extLst>
      <p:ext uri="{BB962C8B-B14F-4D97-AF65-F5344CB8AC3E}">
        <p14:creationId xmlns:p14="http://schemas.microsoft.com/office/powerpoint/2010/main" val="3724363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Proměnlivý datový tok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cs-CZ" sz="3500" dirty="0">
              <a:solidFill>
                <a:schemeClr val="tx2"/>
              </a:solidFill>
            </a:endParaRPr>
          </a:p>
          <a:p>
            <a:r>
              <a:rPr lang="cs-CZ" sz="3500" dirty="0">
                <a:solidFill>
                  <a:schemeClr val="tx2"/>
                </a:solidFill>
              </a:rPr>
              <a:t>VBR</a:t>
            </a:r>
          </a:p>
          <a:p>
            <a:pPr lvl="1"/>
            <a:r>
              <a:rPr lang="cs-CZ" sz="3500" dirty="0" err="1">
                <a:solidFill>
                  <a:schemeClr val="tx2"/>
                </a:solidFill>
              </a:rPr>
              <a:t>Variable</a:t>
            </a:r>
            <a:r>
              <a:rPr lang="cs-CZ" sz="3500" dirty="0">
                <a:solidFill>
                  <a:schemeClr val="tx2"/>
                </a:solidFill>
              </a:rPr>
              <a:t> </a:t>
            </a:r>
            <a:r>
              <a:rPr lang="cs-CZ" sz="3500" dirty="0" err="1">
                <a:solidFill>
                  <a:schemeClr val="tx2"/>
                </a:solidFill>
              </a:rPr>
              <a:t>birrate</a:t>
            </a:r>
            <a:r>
              <a:rPr lang="cs-CZ" sz="3500" dirty="0">
                <a:solidFill>
                  <a:schemeClr val="tx2"/>
                </a:solidFill>
              </a:rPr>
              <a:t> – proměnlivý datový tok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Modulováno v závislosti na náročnosti videa a audia </a:t>
            </a:r>
          </a:p>
          <a:p>
            <a:pPr lvl="1"/>
            <a:r>
              <a:rPr lang="cs-CZ" sz="3500" dirty="0" err="1">
                <a:solidFill>
                  <a:schemeClr val="tx2"/>
                </a:solidFill>
              </a:rPr>
              <a:t>Rchlé</a:t>
            </a:r>
            <a:r>
              <a:rPr lang="cs-CZ" sz="3500" dirty="0">
                <a:solidFill>
                  <a:schemeClr val="tx2"/>
                </a:solidFill>
              </a:rPr>
              <a:t> scény – vyšší datový tok a naopak)</a:t>
            </a:r>
          </a:p>
          <a:p>
            <a:pPr lvl="1"/>
            <a:r>
              <a:rPr lang="cs-CZ" sz="3500" dirty="0">
                <a:solidFill>
                  <a:schemeClr val="tx2"/>
                </a:solidFill>
              </a:rPr>
              <a:t>Může snížit velikost souboru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352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Kodek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Program nebo zařízení</a:t>
            </a:r>
          </a:p>
          <a:p>
            <a:r>
              <a:rPr lang="cs-CZ" sz="3500" dirty="0">
                <a:solidFill>
                  <a:schemeClr val="tx2"/>
                </a:solidFill>
              </a:rPr>
              <a:t>Mechanismus, který snímky videa zakóduje do menší podoby a při přehrávání videa jej zase dekóduje</a:t>
            </a:r>
          </a:p>
          <a:p>
            <a:r>
              <a:rPr lang="cs-CZ" sz="3500" dirty="0">
                <a:solidFill>
                  <a:schemeClr val="tx2"/>
                </a:solidFill>
              </a:rPr>
              <a:t>Kodeky mohou být ztrátové a bezztrátové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71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cs-CZ" sz="4500" dirty="0">
                <a:solidFill>
                  <a:schemeClr val="tx2"/>
                </a:solidFill>
              </a:rPr>
              <a:t>Kontejnery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cs-CZ" sz="3500" dirty="0">
                <a:solidFill>
                  <a:schemeClr val="tx2"/>
                </a:solidFill>
              </a:rPr>
              <a:t>Co jsou to kontejnery a jaké jsou? </a:t>
            </a:r>
          </a:p>
          <a:p>
            <a:r>
              <a:rPr lang="cs-CZ" sz="3500" dirty="0">
                <a:solidFill>
                  <a:schemeClr val="tx2"/>
                </a:solidFill>
              </a:rPr>
              <a:t>Jaké jsou jejich vlastnosti?</a:t>
            </a:r>
          </a:p>
          <a:p>
            <a:endParaRPr lang="cs-CZ" sz="3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4352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4875</TotalTime>
  <Words>712</Words>
  <Application>Microsoft Office PowerPoint</Application>
  <PresentationFormat>Širokoúhlá obrazovka</PresentationFormat>
  <Paragraphs>209</Paragraphs>
  <Slides>40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40</vt:i4>
      </vt:variant>
    </vt:vector>
  </HeadingPairs>
  <TitlesOfParts>
    <vt:vector size="41" baseType="lpstr">
      <vt:lpstr>Motiv Office</vt:lpstr>
      <vt:lpstr>Multimédia</vt:lpstr>
      <vt:lpstr>Multimédia</vt:lpstr>
      <vt:lpstr>Programy pro tvorbu</vt:lpstr>
      <vt:lpstr>Multimédia</vt:lpstr>
      <vt:lpstr>Multimédia</vt:lpstr>
      <vt:lpstr>Zvuk</vt:lpstr>
      <vt:lpstr>Zvuk</vt:lpstr>
      <vt:lpstr>Zdroj zvuku</vt:lpstr>
      <vt:lpstr>Zdroj zvuku</vt:lpstr>
      <vt:lpstr>Parametry zvuku</vt:lpstr>
      <vt:lpstr>Rychlost zvuku</vt:lpstr>
      <vt:lpstr>Frekvence zvuku</vt:lpstr>
      <vt:lpstr>Frekvence zvuku</vt:lpstr>
      <vt:lpstr>Frekvence zvuku a lidské ucho</vt:lpstr>
      <vt:lpstr>Výška tónu</vt:lpstr>
      <vt:lpstr>Barva zvuku</vt:lpstr>
      <vt:lpstr>Intenzita (hlasitost) zvuku</vt:lpstr>
      <vt:lpstr>Intenzita (hlasitost) zvuku</vt:lpstr>
      <vt:lpstr>Uložení zvuku do počítače</vt:lpstr>
      <vt:lpstr>PCM</vt:lpstr>
      <vt:lpstr>Vzorkování</vt:lpstr>
      <vt:lpstr>Kvantování</vt:lpstr>
      <vt:lpstr>Kvantování</vt:lpstr>
      <vt:lpstr>Kódování</vt:lpstr>
      <vt:lpstr>Komprese</vt:lpstr>
      <vt:lpstr>Lidské ucho není schopno</vt:lpstr>
      <vt:lpstr>Lidské ucho není schopno</vt:lpstr>
      <vt:lpstr>Zvukové formáty</vt:lpstr>
      <vt:lpstr>Videozáznam</vt:lpstr>
      <vt:lpstr>Videozáznam</vt:lpstr>
      <vt:lpstr>Rozlišení</vt:lpstr>
      <vt:lpstr>Poměr stran</vt:lpstr>
      <vt:lpstr>Snímková frekvence</vt:lpstr>
      <vt:lpstr>Snímková frekvence</vt:lpstr>
      <vt:lpstr>Datový tok</vt:lpstr>
      <vt:lpstr>Datový tok</vt:lpstr>
      <vt:lpstr>Konstantní datový tok</vt:lpstr>
      <vt:lpstr>Proměnlivý datový tok</vt:lpstr>
      <vt:lpstr>Kodek</vt:lpstr>
      <vt:lpstr>Kontejnery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