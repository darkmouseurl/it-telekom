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66" r:id="rId4"/>
    <p:sldId id="273" r:id="rId5"/>
    <p:sldId id="274" r:id="rId6"/>
    <p:sldId id="263" r:id="rId7"/>
    <p:sldId id="268" r:id="rId8"/>
    <p:sldId id="264" r:id="rId9"/>
    <p:sldId id="267" r:id="rId10"/>
    <p:sldId id="265" r:id="rId11"/>
    <p:sldId id="269" r:id="rId12"/>
    <p:sldId id="257" r:id="rId13"/>
    <p:sldId id="272" r:id="rId14"/>
    <p:sldId id="275" r:id="rId15"/>
    <p:sldId id="259" r:id="rId16"/>
    <p:sldId id="278" r:id="rId17"/>
    <p:sldId id="277" r:id="rId18"/>
    <p:sldId id="279" r:id="rId19"/>
    <p:sldId id="280" r:id="rId20"/>
    <p:sldId id="270" r:id="rId21"/>
    <p:sldId id="281" r:id="rId22"/>
    <p:sldId id="285" r:id="rId23"/>
    <p:sldId id="282" r:id="rId24"/>
    <p:sldId id="286" r:id="rId25"/>
    <p:sldId id="287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cs-CZ" smtClean="0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97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1273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83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444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cs-CZ" smtClean="0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215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0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629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986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74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350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61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0F4B1E1-9239-4D4F-B286-1BEB772D10D3}" type="datetimeFigureOut">
              <a:rPr lang="cs-CZ" smtClean="0"/>
              <a:t>07.09.2021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B3EC090-C8E3-4255-AB59-BC65B2C67A15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68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zeny.cz/clanek/vidite-spravne-barvy-otestujte-se-70803" TargetMode="External"/><Relationship Id="rId2" Type="http://schemas.openxmlformats.org/officeDocument/2006/relationships/hyperlink" Target="https://www.mojezdravi.cz/zdravi-clanky/mate-zazracny-zrak-rychly-barevny-test-vam-odpovi-6206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Barevné modely 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v počítačové grafice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6241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světlo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Viditelná část elektromagnetického záření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Frekvence záření v Hz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Vlnová délka v </a:t>
            </a:r>
            <a:r>
              <a:rPr lang="cs-CZ" sz="3800" dirty="0" err="1" smtClean="0"/>
              <a:t>nm</a:t>
            </a:r>
            <a:endParaRPr lang="cs-CZ" sz="3800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Světlo se může lámat, odrážet, pohlcovat, ohýbat – vždy na rozhraní materiálů a prostředí</a:t>
            </a:r>
          </a:p>
        </p:txBody>
      </p:sp>
      <p:sp>
        <p:nvSpPr>
          <p:cNvPr id="5" name="Pravá složená závorka 4"/>
          <p:cNvSpPr/>
          <p:nvPr/>
        </p:nvSpPr>
        <p:spPr>
          <a:xfrm>
            <a:off x="5724144" y="2980944"/>
            <a:ext cx="722376" cy="1161288"/>
          </a:xfrm>
          <a:prstGeom prst="rightBrac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446520" y="3241548"/>
            <a:ext cx="3017520" cy="64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Vlastnosti záření</a:t>
            </a:r>
            <a:endParaRPr lang="cs-CZ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744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světlo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/>
              <a:t>Co je přirozeným zdrojem světla</a:t>
            </a:r>
            <a:r>
              <a:rPr lang="cs-CZ" sz="4200" dirty="0" smtClean="0"/>
              <a:t>?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184794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světlo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/>
              <a:t>Co je přirozeným zdrojem světla</a:t>
            </a:r>
            <a:r>
              <a:rPr lang="cs-CZ" sz="4200" dirty="0" smtClean="0"/>
              <a:t>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Slunce </a:t>
            </a:r>
            <a:r>
              <a:rPr lang="cs-CZ" sz="4200" dirty="0" smtClean="0">
                <a:sym typeface="Wingdings" panose="05000000000000000000" pitchFamily="2" charset="2"/>
              </a:rPr>
              <a:t></a:t>
            </a:r>
            <a:r>
              <a:rPr lang="cs-CZ" sz="4200" dirty="0" smtClean="0"/>
              <a:t> přirozené světlo </a:t>
            </a:r>
            <a:r>
              <a:rPr lang="cs-CZ" sz="4200" dirty="0" smtClean="0">
                <a:sym typeface="Wingdings" panose="05000000000000000000" pitchFamily="2" charset="2"/>
              </a:rPr>
              <a:t></a:t>
            </a:r>
            <a:r>
              <a:rPr lang="cs-CZ" sz="4200" dirty="0" smtClean="0"/>
              <a:t> achromatické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Bezbarvé/bílé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Nelze u něj identifikovat dominanční barvu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Všechny barevné složky jsou v rovnováze</a:t>
            </a:r>
          </a:p>
          <a:p>
            <a:pPr>
              <a:buFont typeface="Courier New" panose="02070309020205020404" pitchFamily="49" charset="0"/>
              <a:buChar char="o"/>
            </a:pP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79037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Světlo – vlastnosti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Intenzita – míra energie záření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Barevný tón – souvisí s vlnovou délkou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Sytost – míra přidání achromatického světla k monochromatickému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62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Světlo – vlnová délka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Člověk je schopen vnímat záření s vlnovou délkou přibližně 390-760 </a:t>
            </a:r>
            <a:r>
              <a:rPr lang="cs-CZ" sz="4200" dirty="0" err="1" smtClean="0"/>
              <a:t>nm</a:t>
            </a:r>
            <a:r>
              <a:rPr lang="cs-CZ" sz="4200" dirty="0" smtClean="0"/>
              <a:t> (lambda)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Má za následek různost barev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Záření s vlnovou délkou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&lt;390 </a:t>
            </a:r>
            <a:r>
              <a:rPr lang="cs-CZ" sz="3800" dirty="0" err="1" smtClean="0"/>
              <a:t>nm</a:t>
            </a:r>
            <a:r>
              <a:rPr lang="cs-CZ" sz="3800" dirty="0" smtClean="0"/>
              <a:t> – ultrafialové záření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&gt;760 </a:t>
            </a:r>
            <a:r>
              <a:rPr lang="cs-CZ" sz="3800" dirty="0" err="1" smtClean="0"/>
              <a:t>nm</a:t>
            </a:r>
            <a:r>
              <a:rPr lang="cs-CZ" sz="3800" dirty="0" smtClean="0"/>
              <a:t> – infračervené záření</a:t>
            </a:r>
            <a:endParaRPr lang="cs-CZ" sz="3800" dirty="0"/>
          </a:p>
        </p:txBody>
      </p:sp>
      <p:pic>
        <p:nvPicPr>
          <p:cNvPr id="6146" name="Picture 2" descr="https://upload.wikimedia.org/wikipedia/commons/b/b6/Greek_lambd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872" y="4240007"/>
            <a:ext cx="3511295" cy="234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36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Světlo – vlnová délka</a:t>
            </a:r>
            <a:endParaRPr lang="cs-CZ" dirty="0"/>
          </a:p>
        </p:txBody>
      </p:sp>
      <p:pic>
        <p:nvPicPr>
          <p:cNvPr id="3074" name="Picture 2" descr="https://voda.tzb-info.cz/docu/clanky/0198/019843o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" y="2084831"/>
            <a:ext cx="9720072" cy="3652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76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Světlo – ultrafialové záření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Zkratka UV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Pro člověka neviditelní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Vidí jej někteří živočichové</a:t>
            </a:r>
          </a:p>
          <a:p>
            <a:pPr>
              <a:buFont typeface="Courier New" panose="02070309020205020404" pitchFamily="49" charset="0"/>
              <a:buChar char="o"/>
            </a:pPr>
            <a:endParaRPr lang="cs-CZ" sz="3800" dirty="0"/>
          </a:p>
        </p:txBody>
      </p:sp>
    </p:spTree>
    <p:extLst>
      <p:ext uri="{BB962C8B-B14F-4D97-AF65-F5344CB8AC3E}">
        <p14:creationId xmlns:p14="http://schemas.microsoft.com/office/powerpoint/2010/main" val="90114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Světlo – ultrafialové záření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Kde se můžeme setkat s UV zářením?</a:t>
            </a:r>
          </a:p>
          <a:p>
            <a:pPr>
              <a:buFont typeface="Courier New" panose="02070309020205020404" pitchFamily="49" charset="0"/>
              <a:buChar char="o"/>
            </a:pPr>
            <a:endParaRPr lang="cs-CZ" sz="3800" dirty="0"/>
          </a:p>
        </p:txBody>
      </p:sp>
    </p:spTree>
    <p:extLst>
      <p:ext uri="{BB962C8B-B14F-4D97-AF65-F5344CB8AC3E}">
        <p14:creationId xmlns:p14="http://schemas.microsoft.com/office/powerpoint/2010/main" val="550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Světlo – infračervené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Zkratka IR</a:t>
            </a:r>
          </a:p>
          <a:p>
            <a:pPr>
              <a:buFont typeface="Courier New" panose="02070309020205020404" pitchFamily="49" charset="0"/>
              <a:buChar char="o"/>
            </a:pPr>
            <a:endParaRPr lang="cs-CZ" sz="3800" dirty="0"/>
          </a:p>
        </p:txBody>
      </p:sp>
      <p:pic>
        <p:nvPicPr>
          <p:cNvPr id="1026" name="Picture 2" descr="http://colortherm.cz/wp-content/uploads/2011/07/zatepl-a-nezatepl-dom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832" y="2186037"/>
            <a:ext cx="4712367" cy="41233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24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Světlo – infračervené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Kde se můžeme setkat s IR zářením?</a:t>
            </a:r>
          </a:p>
          <a:p>
            <a:pPr>
              <a:buFont typeface="Courier New" panose="02070309020205020404" pitchFamily="49" charset="0"/>
              <a:buChar char="o"/>
            </a:pPr>
            <a:endParaRPr lang="cs-CZ" sz="3800" dirty="0"/>
          </a:p>
        </p:txBody>
      </p:sp>
    </p:spTree>
    <p:extLst>
      <p:ext uri="{BB962C8B-B14F-4D97-AF65-F5344CB8AC3E}">
        <p14:creationId xmlns:p14="http://schemas.microsoft.com/office/powerpoint/2010/main" val="305347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Barva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Lidský zrak vnímá okolní svět barevně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Barva je dána odraženým světlem od předmětu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Barva je dána vlnovou délkou světla</a:t>
            </a:r>
          </a:p>
        </p:txBody>
      </p:sp>
    </p:spTree>
    <p:extLst>
      <p:ext uri="{BB962C8B-B14F-4D97-AF65-F5344CB8AC3E}">
        <p14:creationId xmlns:p14="http://schemas.microsoft.com/office/powerpoint/2010/main" val="3002046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Barva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Čím je dána barva, kterou lidské oko vnímá?</a:t>
            </a:r>
          </a:p>
        </p:txBody>
      </p:sp>
    </p:spTree>
    <p:extLst>
      <p:ext uri="{BB962C8B-B14F-4D97-AF65-F5344CB8AC3E}">
        <p14:creationId xmlns:p14="http://schemas.microsoft.com/office/powerpoint/2010/main" val="388570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Barva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Čím je dána barva, kterou lidské oko vnímá? Vlnovou délkou…</a:t>
            </a:r>
          </a:p>
          <a:p>
            <a:pPr>
              <a:buFont typeface="Courier New" panose="02070309020205020404" pitchFamily="49" charset="0"/>
              <a:buChar char="o"/>
            </a:pPr>
            <a:endParaRPr lang="cs-CZ" sz="4200" dirty="0" smtClean="0"/>
          </a:p>
        </p:txBody>
      </p:sp>
      <p:pic>
        <p:nvPicPr>
          <p:cNvPr id="4" name="Obrázek 3"/>
          <p:cNvPicPr/>
          <p:nvPr/>
        </p:nvPicPr>
        <p:blipFill rotWithShape="1">
          <a:blip r:embed="rId2"/>
          <a:srcRect l="63894" t="54459" r="10098" b="36679"/>
          <a:stretch/>
        </p:blipFill>
        <p:spPr bwMode="auto">
          <a:xfrm>
            <a:off x="1024127" y="3685540"/>
            <a:ext cx="9720071" cy="10772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8752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Barva a lidské oko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Jak lidské oko vnímá barvy?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Vnímáme všichni barvy stejně?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705244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Barva a lidské oko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Vnímání barev je subjektivní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>
                <a:hlinkClick r:id="rId2"/>
              </a:rPr>
              <a:t>https://</a:t>
            </a:r>
            <a:r>
              <a:rPr lang="cs-CZ" sz="4200" dirty="0" smtClean="0">
                <a:hlinkClick r:id="rId2"/>
              </a:rPr>
              <a:t>www.mojezdravi.cz/zdravi-clanky/mate-zazracny-zrak-rychly-barevny-test-vam-odpovi-6206.html</a:t>
            </a:r>
            <a:endParaRPr lang="cs-CZ" sz="4200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>
                <a:hlinkClick r:id="rId3"/>
              </a:rPr>
              <a:t>https://</a:t>
            </a:r>
            <a:r>
              <a:rPr lang="cs-CZ" sz="4200" dirty="0" smtClean="0">
                <a:hlinkClick r:id="rId3"/>
              </a:rPr>
              <a:t>www.prozeny.cz/clanek/vidite-spravne-barvy-otestujte-se-70803</a:t>
            </a:r>
            <a:endParaRPr lang="cs-CZ" sz="4200" dirty="0" smtClean="0"/>
          </a:p>
          <a:p>
            <a:pPr>
              <a:buFont typeface="Courier New" panose="02070309020205020404" pitchFamily="49" charset="0"/>
              <a:buChar char="o"/>
            </a:pP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210233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Chromatický diagram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Ukazuje </a:t>
            </a:r>
            <a:r>
              <a:rPr lang="cs-CZ" sz="4200" dirty="0" smtClean="0"/>
              <a:t>viditelnou</a:t>
            </a:r>
          </a:p>
          <a:p>
            <a:pPr marL="0" indent="0">
              <a:buNone/>
            </a:pPr>
            <a:r>
              <a:rPr lang="cs-CZ" sz="4200" dirty="0" smtClean="0"/>
              <a:t>oblast barev</a:t>
            </a:r>
            <a:endParaRPr lang="cs-CZ" sz="4200" dirty="0" smtClean="0"/>
          </a:p>
        </p:txBody>
      </p:sp>
      <p:pic>
        <p:nvPicPr>
          <p:cNvPr id="4" name="Picture 2" descr="https://upload.wikimedia.org/wikipedia/commons/thumb/3/3b/CIE1931xy_blank.svg/800px-CIE1931xy_blank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704" y="1521399"/>
            <a:ext cx="4348115" cy="461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19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Barevný </a:t>
            </a:r>
            <a:r>
              <a:rPr lang="cs-CZ" dirty="0" err="1" smtClean="0"/>
              <a:t>gamut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Oblast dosažitelných barev – ukazuje, které barvy je schopno např. zařízení zobrazit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820617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Barevný </a:t>
            </a:r>
            <a:r>
              <a:rPr lang="cs-CZ" dirty="0" err="1" smtClean="0"/>
              <a:t>gamut</a:t>
            </a:r>
            <a:endParaRPr lang="cs-CZ" dirty="0"/>
          </a:p>
        </p:txBody>
      </p:sp>
      <p:pic>
        <p:nvPicPr>
          <p:cNvPr id="1026" name="Picture 2" descr="https://www.benq.eu/content/dam/b2c/en/knowledge-center/what-is-color-gamut/color-gamut-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0" r="24800"/>
          <a:stretch/>
        </p:blipFill>
        <p:spPr bwMode="auto">
          <a:xfrm>
            <a:off x="5105400" y="693644"/>
            <a:ext cx="5989320" cy="6042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284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Barva a zobrazovací zařízení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Každé zobrazovací zařízení je schopno zobrazit jinou oblast barev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Na dvou různých monitorech může být stejná barva viditelná jinak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388509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Barvy monitoru</a:t>
            </a:r>
            <a:endParaRPr lang="cs-CZ" dirty="0"/>
          </a:p>
        </p:txBody>
      </p:sp>
      <p:pic>
        <p:nvPicPr>
          <p:cNvPr id="2050" name="Picture 2" descr="https://www.cnews.cz/sites/default/files/oldcnews/archive/clanky/archive/2011/11listopad/gamut/p241w_cie193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671511"/>
            <a:ext cx="5577841" cy="585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900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Barevný model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Způsob vyjádření barvy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Příklady modelů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RGB/A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CMY/K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HSV</a:t>
            </a:r>
            <a:endParaRPr lang="cs-CZ" sz="3800" dirty="0"/>
          </a:p>
        </p:txBody>
      </p:sp>
    </p:spTree>
    <p:extLst>
      <p:ext uri="{BB962C8B-B14F-4D97-AF65-F5344CB8AC3E}">
        <p14:creationId xmlns:p14="http://schemas.microsoft.com/office/powerpoint/2010/main" val="9950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Barevný model RGB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err="1" smtClean="0"/>
              <a:t>Red</a:t>
            </a:r>
            <a:r>
              <a:rPr lang="cs-CZ" sz="4200" dirty="0" smtClean="0"/>
              <a:t>, green, blue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Aditivní</a:t>
            </a:r>
            <a:endParaRPr lang="cs-CZ" sz="4200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Ostatní barvy se skládají sčítáním barevných složek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Monitory, projektory apod.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310034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Barevný model RGB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Sčítáním barevných složek vzniká světlo větší intenzity</a:t>
            </a:r>
            <a:endParaRPr lang="cs-CZ" sz="4200" dirty="0"/>
          </a:p>
        </p:txBody>
      </p:sp>
      <p:pic>
        <p:nvPicPr>
          <p:cNvPr id="3074" name="Picture 2" descr="https://upload.wikimedia.org/wikipedia/commons/thumb/0/05/AdditiveColorMixing.svg/1024px-AdditiveColorMixing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24" y="3259081"/>
            <a:ext cx="3203575" cy="305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55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Barevný model RGBA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A – alfa kanál – průhlednost 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329228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Barevný model CMYK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Cyan, Magenta, </a:t>
            </a:r>
            <a:r>
              <a:rPr lang="cs-CZ" sz="4200" dirty="0" err="1" smtClean="0"/>
              <a:t>Yellow</a:t>
            </a:r>
            <a:r>
              <a:rPr lang="cs-CZ" sz="4200" dirty="0" smtClean="0"/>
              <a:t>, Black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Azurová, Purpurová, Žlutá, Černá</a:t>
            </a:r>
            <a:endParaRPr lang="cs-CZ" sz="4200" dirty="0"/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Subtraktivní</a:t>
            </a:r>
            <a:endParaRPr lang="cs-CZ" sz="4200" dirty="0"/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Tiskárny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100989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Barevný model </a:t>
            </a:r>
            <a:r>
              <a:rPr lang="cs-CZ" dirty="0" err="1" smtClean="0"/>
              <a:t>cmyk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/>
              <a:t>Přidáváním barevných složek se ubírá část původního světla</a:t>
            </a:r>
          </a:p>
        </p:txBody>
      </p:sp>
      <p:pic>
        <p:nvPicPr>
          <p:cNvPr id="4098" name="Picture 2" descr="https://upload.wikimedia.org/wikipedia/commons/thumb/5/52/Synthese-.svg/800px-Synthese-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958" y="3169119"/>
            <a:ext cx="3140241" cy="314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83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ál">
  <a:themeElements>
    <a:clrScheme name="Integrá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á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á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81</TotalTime>
  <Words>380</Words>
  <Application>Microsoft Office PowerPoint</Application>
  <PresentationFormat>Širokoúhlá obrazovka</PresentationFormat>
  <Paragraphs>84</Paragraphs>
  <Slides>27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27</vt:i4>
      </vt:variant>
    </vt:vector>
  </HeadingPairs>
  <TitlesOfParts>
    <vt:vector size="34" baseType="lpstr">
      <vt:lpstr>Arial</vt:lpstr>
      <vt:lpstr>Courier New</vt:lpstr>
      <vt:lpstr>Tw Cen MT</vt:lpstr>
      <vt:lpstr>Tw Cen MT Condensed</vt:lpstr>
      <vt:lpstr>Wingdings</vt:lpstr>
      <vt:lpstr>Wingdings 3</vt:lpstr>
      <vt:lpstr>Integrál</vt:lpstr>
      <vt:lpstr>Barevné modely </vt:lpstr>
      <vt:lpstr>světlo</vt:lpstr>
      <vt:lpstr>světlo</vt:lpstr>
      <vt:lpstr>světlo</vt:lpstr>
      <vt:lpstr>Světlo – vlastnosti</vt:lpstr>
      <vt:lpstr>Světlo – vlnová délka</vt:lpstr>
      <vt:lpstr>Světlo – vlnová délka</vt:lpstr>
      <vt:lpstr>Světlo – ultrafialové záření</vt:lpstr>
      <vt:lpstr>Světlo – ultrafialové záření</vt:lpstr>
      <vt:lpstr>Světlo – infračervené</vt:lpstr>
      <vt:lpstr>Světlo – infračervené</vt:lpstr>
      <vt:lpstr>Barva</vt:lpstr>
      <vt:lpstr>Barva</vt:lpstr>
      <vt:lpstr>Barva</vt:lpstr>
      <vt:lpstr>Barva a lidské oko</vt:lpstr>
      <vt:lpstr>Barva a lidské oko</vt:lpstr>
      <vt:lpstr>Chromatický diagram</vt:lpstr>
      <vt:lpstr>Barevný gamut</vt:lpstr>
      <vt:lpstr>Barevný gamut</vt:lpstr>
      <vt:lpstr>Barva a zobrazovací zařízení</vt:lpstr>
      <vt:lpstr>Barvy monitoru</vt:lpstr>
      <vt:lpstr>Barevný model</vt:lpstr>
      <vt:lpstr>Barevný model RGB</vt:lpstr>
      <vt:lpstr>Barevný model RGB</vt:lpstr>
      <vt:lpstr>Barevný model RGBA</vt:lpstr>
      <vt:lpstr>Barevný model CMYK</vt:lpstr>
      <vt:lpstr>Barevný model cmyk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