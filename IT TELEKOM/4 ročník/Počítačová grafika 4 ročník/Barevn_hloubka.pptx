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63" r:id="rId5"/>
    <p:sldId id="264" r:id="rId6"/>
    <p:sldId id="259" r:id="rId7"/>
    <p:sldId id="265" r:id="rId8"/>
    <p:sldId id="260" r:id="rId9"/>
    <p:sldId id="270" r:id="rId10"/>
    <p:sldId id="272" r:id="rId11"/>
    <p:sldId id="274" r:id="rId12"/>
    <p:sldId id="276" r:id="rId13"/>
    <p:sldId id="275" r:id="rId14"/>
    <p:sldId id="277" r:id="rId15"/>
    <p:sldId id="269" r:id="rId16"/>
    <p:sldId id="26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Středně sytá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Styl Středně sytá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cs-CZ" smtClean="0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02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7326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933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473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cs-CZ" smtClean="0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24349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532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764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7550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81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7760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732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F44D536-B2DF-4A29-A4D7-DB0D32AF3474}" type="datetimeFigureOut">
              <a:rPr lang="cs-CZ" smtClean="0"/>
              <a:t>21.09.2021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4C8E36C-4B37-4006-AD58-13826547B5D0}" type="slidenum">
              <a:rPr lang="cs-CZ" smtClean="0"/>
              <a:t>‹#›</a:t>
            </a:fld>
            <a:endParaRPr lang="cs-CZ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427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Barevná hloubka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/>
              <a:t>Počítačová grafika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619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Číslo v bitech</a:t>
            </a:r>
            <a:r>
              <a:rPr lang="cs-CZ" sz="4200" dirty="0"/>
              <a:t> </a:t>
            </a:r>
            <a:r>
              <a:rPr lang="cs-CZ" sz="4200" dirty="0" smtClean="0"/>
              <a:t>(1 b, 8 b, …)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Každý pixel v obrázku má </a:t>
            </a:r>
            <a:br>
              <a:rPr lang="cs-CZ" sz="4200" dirty="0" smtClean="0"/>
            </a:br>
            <a:r>
              <a:rPr lang="cs-CZ" sz="4200" dirty="0" smtClean="0"/>
              <a:t>k dispozici </a:t>
            </a:r>
            <a:r>
              <a:rPr lang="cs-CZ" sz="4200" b="1" dirty="0" smtClean="0"/>
              <a:t>…</a:t>
            </a:r>
            <a:r>
              <a:rPr lang="cs-CZ" sz="4200" dirty="0" smtClean="0"/>
              <a:t> bitů pro uložení barvy</a:t>
            </a:r>
          </a:p>
          <a:p>
            <a:pPr>
              <a:buFont typeface="Courier New" panose="02070309020205020404" pitchFamily="49" charset="0"/>
              <a:buChar char="o"/>
            </a:pPr>
            <a:endParaRPr lang="cs-CZ" sz="4200" dirty="0" smtClean="0"/>
          </a:p>
        </p:txBody>
      </p:sp>
      <p:sp>
        <p:nvSpPr>
          <p:cNvPr id="7" name="Bublinový popisek se šipkou nahoru 6"/>
          <p:cNvSpPr/>
          <p:nvPr/>
        </p:nvSpPr>
        <p:spPr>
          <a:xfrm>
            <a:off x="1732787" y="4187952"/>
            <a:ext cx="4151376" cy="1417320"/>
          </a:xfrm>
          <a:prstGeom prst="up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4200" dirty="0" smtClean="0"/>
              <a:t>Barevná hloubka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290525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Počet bitů použitých k popisu barvy v každém pixelu obrázku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Barevná hloubka ovlivní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Velikost souboru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cs-CZ" sz="3800" dirty="0" smtClean="0"/>
              <a:t>Počet barev v obrázku</a:t>
            </a:r>
          </a:p>
          <a:p>
            <a:pPr>
              <a:buFont typeface="Courier New" panose="02070309020205020404" pitchFamily="49" charset="0"/>
              <a:buChar char="o"/>
            </a:pPr>
            <a:endParaRPr lang="cs-CZ" sz="4200" dirty="0" smtClean="0"/>
          </a:p>
        </p:txBody>
      </p:sp>
    </p:spTree>
    <p:extLst>
      <p:ext uri="{BB962C8B-B14F-4D97-AF65-F5344CB8AC3E}">
        <p14:creationId xmlns:p14="http://schemas.microsoft.com/office/powerpoint/2010/main" val="2207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Typické hodnoty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3800" dirty="0" smtClean="0"/>
              <a:t>1 b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3800" dirty="0" smtClean="0"/>
              <a:t>8 b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3800" dirty="0" smtClean="0"/>
              <a:t>16 b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3800" dirty="0" smtClean="0"/>
              <a:t>24 b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cs-CZ" sz="3800" dirty="0" smtClean="0"/>
              <a:t>32 b</a:t>
            </a:r>
            <a:endParaRPr lang="cs-CZ" sz="3800" dirty="0"/>
          </a:p>
        </p:txBody>
      </p:sp>
      <p:pic>
        <p:nvPicPr>
          <p:cNvPr id="5" name="Obrázek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589" y="2921063"/>
            <a:ext cx="4423610" cy="338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9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 – počet barev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cs-CZ" sz="4200" dirty="0" smtClean="0"/>
          </a:p>
        </p:txBody>
      </p:sp>
      <p:graphicFrame>
        <p:nvGraphicFramePr>
          <p:cNvPr id="4" name="Tabulk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254663"/>
              </p:ext>
            </p:extLst>
          </p:nvPr>
        </p:nvGraphicFramePr>
        <p:xfrm>
          <a:off x="1024128" y="2286000"/>
          <a:ext cx="9720072" cy="40233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240024">
                  <a:extLst>
                    <a:ext uri="{9D8B030D-6E8A-4147-A177-3AD203B41FA5}">
                      <a16:colId xmlns:a16="http://schemas.microsoft.com/office/drawing/2014/main" val="1649130547"/>
                    </a:ext>
                  </a:extLst>
                </a:gridCol>
                <a:gridCol w="3240024">
                  <a:extLst>
                    <a:ext uri="{9D8B030D-6E8A-4147-A177-3AD203B41FA5}">
                      <a16:colId xmlns:a16="http://schemas.microsoft.com/office/drawing/2014/main" val="1460148665"/>
                    </a:ext>
                  </a:extLst>
                </a:gridCol>
                <a:gridCol w="3240024">
                  <a:extLst>
                    <a:ext uri="{9D8B030D-6E8A-4147-A177-3AD203B41FA5}">
                      <a16:colId xmlns:a16="http://schemas.microsoft.com/office/drawing/2014/main" val="2119902890"/>
                    </a:ext>
                  </a:extLst>
                </a:gridCol>
              </a:tblGrid>
              <a:tr h="982080">
                <a:tc>
                  <a:txBody>
                    <a:bodyPr/>
                    <a:lstStyle/>
                    <a:p>
                      <a:pPr algn="ctr"/>
                      <a:r>
                        <a:rPr lang="cs-CZ" sz="2800" dirty="0" smtClean="0"/>
                        <a:t>Barevná </a:t>
                      </a:r>
                    </a:p>
                    <a:p>
                      <a:pPr algn="ctr"/>
                      <a:r>
                        <a:rPr lang="cs-CZ" sz="2800" dirty="0" smtClean="0"/>
                        <a:t>hloubka</a:t>
                      </a:r>
                      <a:endParaRPr lang="cs-CZ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800" dirty="0" smtClean="0"/>
                        <a:t>Výpočet</a:t>
                      </a:r>
                      <a:endParaRPr lang="cs-CZ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800" dirty="0" smtClean="0"/>
                        <a:t>Počet barev</a:t>
                      </a:r>
                      <a:r>
                        <a:rPr lang="cs-CZ" sz="2800" baseline="0" dirty="0" smtClean="0"/>
                        <a:t> </a:t>
                      </a:r>
                    </a:p>
                    <a:p>
                      <a:pPr algn="ctr"/>
                      <a:r>
                        <a:rPr lang="cs-CZ" sz="2800" baseline="0" dirty="0" smtClean="0"/>
                        <a:t>v obrázku</a:t>
                      </a:r>
                      <a:endParaRPr lang="cs-CZ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709866"/>
                  </a:ext>
                </a:extLst>
              </a:tr>
              <a:tr h="760320"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1 b</a:t>
                      </a:r>
                      <a:endParaRPr lang="cs-CZ" sz="4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2</a:t>
                      </a:r>
                      <a:r>
                        <a:rPr lang="cs-CZ" sz="4200" baseline="30000" dirty="0" smtClean="0"/>
                        <a:t>1</a:t>
                      </a:r>
                      <a:endParaRPr lang="cs-CZ" sz="4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2</a:t>
                      </a:r>
                      <a:endParaRPr lang="cs-CZ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575452"/>
                  </a:ext>
                </a:extLst>
              </a:tr>
              <a:tr h="760320"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8 b</a:t>
                      </a:r>
                      <a:endParaRPr lang="cs-CZ" sz="4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2</a:t>
                      </a:r>
                      <a:r>
                        <a:rPr lang="cs-CZ" sz="4200" baseline="30000" dirty="0" smtClean="0"/>
                        <a:t>8</a:t>
                      </a:r>
                      <a:endParaRPr lang="cs-CZ" sz="4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256</a:t>
                      </a:r>
                      <a:endParaRPr lang="cs-CZ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160853"/>
                  </a:ext>
                </a:extLst>
              </a:tr>
              <a:tr h="760320"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16 b</a:t>
                      </a:r>
                      <a:endParaRPr lang="cs-CZ" sz="4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2</a:t>
                      </a:r>
                      <a:r>
                        <a:rPr lang="cs-CZ" sz="4200" baseline="30000" dirty="0" smtClean="0"/>
                        <a:t>16</a:t>
                      </a:r>
                      <a:endParaRPr lang="cs-CZ" sz="4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65</a:t>
                      </a:r>
                      <a:r>
                        <a:rPr lang="cs-CZ" sz="4200" baseline="0" dirty="0" smtClean="0"/>
                        <a:t> 536</a:t>
                      </a:r>
                      <a:endParaRPr lang="cs-CZ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450398"/>
                  </a:ext>
                </a:extLst>
              </a:tr>
              <a:tr h="760320"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24 b</a:t>
                      </a:r>
                      <a:endParaRPr lang="cs-CZ" sz="4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2</a:t>
                      </a:r>
                      <a:r>
                        <a:rPr lang="cs-CZ" sz="4200" baseline="30000" dirty="0" smtClean="0"/>
                        <a:t>24</a:t>
                      </a:r>
                      <a:endParaRPr lang="cs-CZ" sz="4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sz="4200" dirty="0" smtClean="0"/>
                        <a:t>16,7 mil.</a:t>
                      </a:r>
                      <a:endParaRPr lang="cs-CZ" sz="4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779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59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Příklad – barevná hloubka 1 bit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2 barvy pro každý pixel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Kolika barev může nabývat celý obrázek?</a:t>
            </a:r>
          </a:p>
          <a:p>
            <a:pPr>
              <a:buFont typeface="Courier New" panose="02070309020205020404" pitchFamily="49" charset="0"/>
              <a:buChar char="o"/>
            </a:pPr>
            <a:endParaRPr lang="cs-CZ" sz="4200" dirty="0"/>
          </a:p>
        </p:txBody>
      </p:sp>
      <p:sp>
        <p:nvSpPr>
          <p:cNvPr id="4" name="Obdélník 3"/>
          <p:cNvSpPr/>
          <p:nvPr/>
        </p:nvSpPr>
        <p:spPr>
          <a:xfrm>
            <a:off x="4581144" y="4462272"/>
            <a:ext cx="1124712" cy="112471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bdélník 4"/>
          <p:cNvSpPr/>
          <p:nvPr/>
        </p:nvSpPr>
        <p:spPr>
          <a:xfrm>
            <a:off x="5849112" y="4462272"/>
            <a:ext cx="1124712" cy="11247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438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Příklad – barevná hloubka 1 bit 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2 barvy pro každý pixel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Kolika barev může nabývat celý obrázek?</a:t>
            </a:r>
          </a:p>
          <a:p>
            <a:pPr>
              <a:buFont typeface="Courier New" panose="02070309020205020404" pitchFamily="49" charset="0"/>
              <a:buChar char="o"/>
            </a:pPr>
            <a:endParaRPr lang="cs-CZ" sz="4200" dirty="0"/>
          </a:p>
        </p:txBody>
      </p:sp>
      <p:graphicFrame>
        <p:nvGraphicFramePr>
          <p:cNvPr id="4" name="Tabulk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511456"/>
              </p:ext>
            </p:extLst>
          </p:nvPr>
        </p:nvGraphicFramePr>
        <p:xfrm>
          <a:off x="4756912" y="4306824"/>
          <a:ext cx="1927352" cy="15023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1838">
                  <a:extLst>
                    <a:ext uri="{9D8B030D-6E8A-4147-A177-3AD203B41FA5}">
                      <a16:colId xmlns:a16="http://schemas.microsoft.com/office/drawing/2014/main" val="1202146011"/>
                    </a:ext>
                  </a:extLst>
                </a:gridCol>
                <a:gridCol w="481838">
                  <a:extLst>
                    <a:ext uri="{9D8B030D-6E8A-4147-A177-3AD203B41FA5}">
                      <a16:colId xmlns:a16="http://schemas.microsoft.com/office/drawing/2014/main" val="2116939211"/>
                    </a:ext>
                  </a:extLst>
                </a:gridCol>
                <a:gridCol w="481838">
                  <a:extLst>
                    <a:ext uri="{9D8B030D-6E8A-4147-A177-3AD203B41FA5}">
                      <a16:colId xmlns:a16="http://schemas.microsoft.com/office/drawing/2014/main" val="1313977810"/>
                    </a:ext>
                  </a:extLst>
                </a:gridCol>
                <a:gridCol w="481838">
                  <a:extLst>
                    <a:ext uri="{9D8B030D-6E8A-4147-A177-3AD203B41FA5}">
                      <a16:colId xmlns:a16="http://schemas.microsoft.com/office/drawing/2014/main" val="1426048146"/>
                    </a:ext>
                  </a:extLst>
                </a:gridCol>
              </a:tblGrid>
              <a:tr h="375582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606861"/>
                  </a:ext>
                </a:extLst>
              </a:tr>
              <a:tr h="375582">
                <a:tc>
                  <a:txBody>
                    <a:bodyPr/>
                    <a:lstStyle/>
                    <a:p>
                      <a:endParaRPr lang="cs-C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7363745"/>
                  </a:ext>
                </a:extLst>
              </a:tr>
              <a:tr h="375582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830161"/>
                  </a:ext>
                </a:extLst>
              </a:tr>
              <a:tr h="375582">
                <a:tc>
                  <a:txBody>
                    <a:bodyPr/>
                    <a:lstStyle/>
                    <a:p>
                      <a:endParaRPr lang="cs-C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707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68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 a barevný model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Obvykle se využívá model RGB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R = </a:t>
            </a:r>
            <a:r>
              <a:rPr lang="cs-CZ" sz="4200" dirty="0" err="1" smtClean="0"/>
              <a:t>red</a:t>
            </a:r>
            <a:r>
              <a:rPr lang="cs-CZ" sz="4200" dirty="0" smtClean="0"/>
              <a:t>/červená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G = green/zelená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B = blue/modrá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162594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 a barevný model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/>
              <a:t>Jak zapsat barvu modelu RGB v počítači?</a:t>
            </a:r>
          </a:p>
        </p:txBody>
      </p:sp>
    </p:spTree>
    <p:extLst>
      <p:ext uri="{BB962C8B-B14F-4D97-AF65-F5344CB8AC3E}">
        <p14:creationId xmlns:p14="http://schemas.microsoft.com/office/powerpoint/2010/main" val="22755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 a barevný model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Jak zapsat barvu modelu RGB v počítači?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1691640" y="3789848"/>
            <a:ext cx="7132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6000" dirty="0" err="1"/>
              <a:t>rgb</a:t>
            </a:r>
            <a:r>
              <a:rPr lang="cs-CZ" sz="6000" dirty="0"/>
              <a:t> (35, 196, 53)</a:t>
            </a:r>
          </a:p>
        </p:txBody>
      </p:sp>
    </p:spTree>
    <p:extLst>
      <p:ext uri="{BB962C8B-B14F-4D97-AF65-F5344CB8AC3E}">
        <p14:creationId xmlns:p14="http://schemas.microsoft.com/office/powerpoint/2010/main" val="144637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 a barevný model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Jak zapsat barvu modelu RGB v počítači?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1691640" y="3789848"/>
            <a:ext cx="7132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6000" dirty="0" err="1"/>
              <a:t>rgb</a:t>
            </a:r>
            <a:r>
              <a:rPr lang="cs-CZ" sz="6000" dirty="0"/>
              <a:t> (35, 196, 53)</a:t>
            </a:r>
          </a:p>
        </p:txBody>
      </p:sp>
      <p:cxnSp>
        <p:nvCxnSpPr>
          <p:cNvPr id="12" name="Přímá spojnice se šipkou 11"/>
          <p:cNvCxnSpPr/>
          <p:nvPr/>
        </p:nvCxnSpPr>
        <p:spPr>
          <a:xfrm flipH="1">
            <a:off x="3831336" y="3453383"/>
            <a:ext cx="630936" cy="55168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Přímá spojnice se šipkou 12"/>
          <p:cNvCxnSpPr/>
          <p:nvPr/>
        </p:nvCxnSpPr>
        <p:spPr>
          <a:xfrm>
            <a:off x="5186172" y="3265934"/>
            <a:ext cx="6096" cy="7467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Přímá spojnice se šipkou 13"/>
          <p:cNvCxnSpPr/>
          <p:nvPr/>
        </p:nvCxnSpPr>
        <p:spPr>
          <a:xfrm>
            <a:off x="5916168" y="3541688"/>
            <a:ext cx="426529" cy="4633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Vývojový diagram: postup 4"/>
          <p:cNvSpPr/>
          <p:nvPr/>
        </p:nvSpPr>
        <p:spPr>
          <a:xfrm>
            <a:off x="4100703" y="2961723"/>
            <a:ext cx="2170938" cy="676316"/>
          </a:xfrm>
          <a:prstGeom prst="flowChartProcess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4400" dirty="0" smtClean="0"/>
              <a:t>0-255</a:t>
            </a:r>
            <a:endParaRPr lang="cs-CZ" sz="4400" dirty="0"/>
          </a:p>
        </p:txBody>
      </p:sp>
    </p:spTree>
    <p:extLst>
      <p:ext uri="{BB962C8B-B14F-4D97-AF65-F5344CB8AC3E}">
        <p14:creationId xmlns:p14="http://schemas.microsoft.com/office/powerpoint/2010/main" val="100842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Přímá spojnice se šipkou 9"/>
          <p:cNvCxnSpPr/>
          <p:nvPr/>
        </p:nvCxnSpPr>
        <p:spPr>
          <a:xfrm>
            <a:off x="6129432" y="3307199"/>
            <a:ext cx="733425" cy="68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 a barevný model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Jak zapsat barvu modelu RGB v počítači?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1691640" y="3789848"/>
            <a:ext cx="7132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6000" dirty="0" err="1"/>
              <a:t>rgb</a:t>
            </a:r>
            <a:r>
              <a:rPr lang="cs-CZ" sz="6000" dirty="0"/>
              <a:t> (35, 196, 53)</a:t>
            </a:r>
          </a:p>
        </p:txBody>
      </p:sp>
      <p:cxnSp>
        <p:nvCxnSpPr>
          <p:cNvPr id="12" name="Přímá spojnice se šipkou 11"/>
          <p:cNvCxnSpPr/>
          <p:nvPr/>
        </p:nvCxnSpPr>
        <p:spPr>
          <a:xfrm flipH="1">
            <a:off x="3831336" y="3453383"/>
            <a:ext cx="630936" cy="55168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Přímá spojnice se šipkou 12"/>
          <p:cNvCxnSpPr/>
          <p:nvPr/>
        </p:nvCxnSpPr>
        <p:spPr>
          <a:xfrm>
            <a:off x="5186172" y="3265934"/>
            <a:ext cx="6096" cy="7467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Přímá spojnice se šipkou 13"/>
          <p:cNvCxnSpPr/>
          <p:nvPr/>
        </p:nvCxnSpPr>
        <p:spPr>
          <a:xfrm>
            <a:off x="5916168" y="3541688"/>
            <a:ext cx="426529" cy="4633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Vývojový diagram: postup 4"/>
          <p:cNvSpPr/>
          <p:nvPr/>
        </p:nvSpPr>
        <p:spPr>
          <a:xfrm>
            <a:off x="4100703" y="2961723"/>
            <a:ext cx="2170938" cy="676316"/>
          </a:xfrm>
          <a:prstGeom prst="flowChartProcess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4400" dirty="0" smtClean="0"/>
              <a:t>0-255</a:t>
            </a:r>
            <a:endParaRPr lang="cs-CZ" sz="4400" dirty="0"/>
          </a:p>
        </p:txBody>
      </p:sp>
      <p:sp>
        <p:nvSpPr>
          <p:cNvPr id="9" name="Vývojový diagram: postup 8"/>
          <p:cNvSpPr/>
          <p:nvPr/>
        </p:nvSpPr>
        <p:spPr>
          <a:xfrm>
            <a:off x="6871335" y="2945299"/>
            <a:ext cx="3324225" cy="692739"/>
          </a:xfrm>
          <a:prstGeom prst="flowChartProcess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2400" dirty="0" smtClean="0"/>
              <a:t>256 možností </a:t>
            </a:r>
          </a:p>
          <a:p>
            <a:pPr algn="ctr"/>
            <a:r>
              <a:rPr lang="cs-CZ" sz="2400" dirty="0" smtClean="0"/>
              <a:t>pro každou barvu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4240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 a barevný model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Jak zapsat barvu modelu RGB v počítači?</a:t>
            </a:r>
          </a:p>
        </p:txBody>
      </p:sp>
      <p:grpSp>
        <p:nvGrpSpPr>
          <p:cNvPr id="10" name="Skupina 9"/>
          <p:cNvGrpSpPr/>
          <p:nvPr/>
        </p:nvGrpSpPr>
        <p:grpSpPr>
          <a:xfrm>
            <a:off x="1691640" y="3789848"/>
            <a:ext cx="7132320" cy="2183047"/>
            <a:chOff x="2450592" y="3789848"/>
            <a:chExt cx="7132320" cy="2183047"/>
          </a:xfrm>
        </p:grpSpPr>
        <p:sp>
          <p:nvSpPr>
            <p:cNvPr id="4" name="TextovéPole 3"/>
            <p:cNvSpPr txBox="1"/>
            <p:nvPr/>
          </p:nvSpPr>
          <p:spPr>
            <a:xfrm>
              <a:off x="2450592" y="3789848"/>
              <a:ext cx="71323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6000" dirty="0" err="1"/>
                <a:t>rgb</a:t>
              </a:r>
              <a:r>
                <a:rPr lang="cs-CZ" sz="6000" dirty="0"/>
                <a:t> (35, 196, 53)</a:t>
              </a:r>
            </a:p>
          </p:txBody>
        </p:sp>
        <p:sp>
          <p:nvSpPr>
            <p:cNvPr id="7" name="Šipka nahoru 6"/>
            <p:cNvSpPr/>
            <p:nvPr/>
          </p:nvSpPr>
          <p:spPr>
            <a:xfrm>
              <a:off x="6812280" y="4957911"/>
              <a:ext cx="1179576" cy="1014984"/>
            </a:xfrm>
            <a:prstGeom prst="upArrow">
              <a:avLst>
                <a:gd name="adj1" fmla="val 62821"/>
                <a:gd name="adj2" fmla="val 4819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cs-CZ" sz="3600" dirty="0" smtClean="0"/>
                <a:t>8b</a:t>
              </a:r>
              <a:endParaRPr lang="cs-CZ" sz="3600" dirty="0"/>
            </a:p>
          </p:txBody>
        </p:sp>
        <p:sp>
          <p:nvSpPr>
            <p:cNvPr id="8" name="Šipka nahoru 7"/>
            <p:cNvSpPr/>
            <p:nvPr/>
          </p:nvSpPr>
          <p:spPr>
            <a:xfrm>
              <a:off x="3910584" y="4957911"/>
              <a:ext cx="1179576" cy="1014984"/>
            </a:xfrm>
            <a:prstGeom prst="upArrow">
              <a:avLst>
                <a:gd name="adj1" fmla="val 62821"/>
                <a:gd name="adj2" fmla="val 4819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cs-CZ" sz="3600" dirty="0" smtClean="0"/>
                <a:t>8b</a:t>
              </a:r>
              <a:endParaRPr lang="cs-CZ" sz="3600" dirty="0"/>
            </a:p>
          </p:txBody>
        </p:sp>
        <p:sp>
          <p:nvSpPr>
            <p:cNvPr id="9" name="Šipka nahoru 8"/>
            <p:cNvSpPr/>
            <p:nvPr/>
          </p:nvSpPr>
          <p:spPr>
            <a:xfrm>
              <a:off x="5361432" y="4957911"/>
              <a:ext cx="1179576" cy="1014984"/>
            </a:xfrm>
            <a:prstGeom prst="upArrow">
              <a:avLst>
                <a:gd name="adj1" fmla="val 62821"/>
                <a:gd name="adj2" fmla="val 4819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cs-CZ" sz="3600" dirty="0" smtClean="0"/>
                <a:t>8b</a:t>
              </a:r>
              <a:endParaRPr lang="cs-CZ" sz="3600" dirty="0"/>
            </a:p>
          </p:txBody>
        </p:sp>
      </p:grpSp>
      <p:cxnSp>
        <p:nvCxnSpPr>
          <p:cNvPr id="12" name="Přímá spojnice se šipkou 11"/>
          <p:cNvCxnSpPr/>
          <p:nvPr/>
        </p:nvCxnSpPr>
        <p:spPr>
          <a:xfrm flipH="1">
            <a:off x="3831336" y="3453383"/>
            <a:ext cx="630936" cy="55168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Přímá spojnice se šipkou 12"/>
          <p:cNvCxnSpPr/>
          <p:nvPr/>
        </p:nvCxnSpPr>
        <p:spPr>
          <a:xfrm>
            <a:off x="5186172" y="3265934"/>
            <a:ext cx="6096" cy="7467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Přímá spojnice se šipkou 13"/>
          <p:cNvCxnSpPr/>
          <p:nvPr/>
        </p:nvCxnSpPr>
        <p:spPr>
          <a:xfrm>
            <a:off x="5916168" y="3541688"/>
            <a:ext cx="426529" cy="4633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Přímá spojnice se šipkou 14"/>
          <p:cNvCxnSpPr/>
          <p:nvPr/>
        </p:nvCxnSpPr>
        <p:spPr>
          <a:xfrm>
            <a:off x="6129432" y="3307199"/>
            <a:ext cx="733425" cy="68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Vývojový diagram: postup 15"/>
          <p:cNvSpPr/>
          <p:nvPr/>
        </p:nvSpPr>
        <p:spPr>
          <a:xfrm>
            <a:off x="6871335" y="2945299"/>
            <a:ext cx="3324225" cy="692739"/>
          </a:xfrm>
          <a:prstGeom prst="flowChartProcess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2400" dirty="0" smtClean="0"/>
              <a:t>256 možností </a:t>
            </a:r>
          </a:p>
          <a:p>
            <a:pPr algn="ctr"/>
            <a:r>
              <a:rPr lang="cs-CZ" sz="2400" dirty="0" smtClean="0"/>
              <a:t>pro každou barvu</a:t>
            </a:r>
            <a:endParaRPr lang="cs-CZ" sz="2400" dirty="0"/>
          </a:p>
        </p:txBody>
      </p:sp>
      <p:sp>
        <p:nvSpPr>
          <p:cNvPr id="5" name="Vývojový diagram: postup 4"/>
          <p:cNvSpPr/>
          <p:nvPr/>
        </p:nvSpPr>
        <p:spPr>
          <a:xfrm>
            <a:off x="4100703" y="2961723"/>
            <a:ext cx="2170938" cy="676316"/>
          </a:xfrm>
          <a:prstGeom prst="flowChartProcess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4400" dirty="0" smtClean="0"/>
              <a:t>0-255</a:t>
            </a:r>
            <a:endParaRPr lang="cs-CZ" sz="4400" dirty="0"/>
          </a:p>
        </p:txBody>
      </p:sp>
    </p:spTree>
    <p:extLst>
      <p:ext uri="{BB962C8B-B14F-4D97-AF65-F5344CB8AC3E}">
        <p14:creationId xmlns:p14="http://schemas.microsoft.com/office/powerpoint/2010/main" val="424439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 a barevný model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Jak zapsat barvu modelu RGB v počítači?</a:t>
            </a:r>
          </a:p>
        </p:txBody>
      </p:sp>
      <p:grpSp>
        <p:nvGrpSpPr>
          <p:cNvPr id="10" name="Skupina 9"/>
          <p:cNvGrpSpPr/>
          <p:nvPr/>
        </p:nvGrpSpPr>
        <p:grpSpPr>
          <a:xfrm>
            <a:off x="1691640" y="3789848"/>
            <a:ext cx="7132320" cy="2183047"/>
            <a:chOff x="2450592" y="3789848"/>
            <a:chExt cx="7132320" cy="2183047"/>
          </a:xfrm>
        </p:grpSpPr>
        <p:sp>
          <p:nvSpPr>
            <p:cNvPr id="4" name="TextovéPole 3"/>
            <p:cNvSpPr txBox="1"/>
            <p:nvPr/>
          </p:nvSpPr>
          <p:spPr>
            <a:xfrm>
              <a:off x="2450592" y="3789848"/>
              <a:ext cx="713232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cs-CZ" sz="6000" dirty="0" err="1"/>
                <a:t>rgb</a:t>
              </a:r>
              <a:r>
                <a:rPr lang="cs-CZ" sz="6000" dirty="0"/>
                <a:t> (35, 196, 53)</a:t>
              </a:r>
            </a:p>
          </p:txBody>
        </p:sp>
        <p:sp>
          <p:nvSpPr>
            <p:cNvPr id="7" name="Šipka nahoru 6"/>
            <p:cNvSpPr/>
            <p:nvPr/>
          </p:nvSpPr>
          <p:spPr>
            <a:xfrm>
              <a:off x="6812280" y="4957911"/>
              <a:ext cx="1179576" cy="1014984"/>
            </a:xfrm>
            <a:prstGeom prst="upArrow">
              <a:avLst>
                <a:gd name="adj1" fmla="val 62821"/>
                <a:gd name="adj2" fmla="val 4819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cs-CZ" sz="3600" dirty="0" smtClean="0"/>
                <a:t>8b</a:t>
              </a:r>
              <a:endParaRPr lang="cs-CZ" sz="3600" dirty="0"/>
            </a:p>
          </p:txBody>
        </p:sp>
        <p:sp>
          <p:nvSpPr>
            <p:cNvPr id="8" name="Šipka nahoru 7"/>
            <p:cNvSpPr/>
            <p:nvPr/>
          </p:nvSpPr>
          <p:spPr>
            <a:xfrm>
              <a:off x="3910584" y="4957911"/>
              <a:ext cx="1179576" cy="1014984"/>
            </a:xfrm>
            <a:prstGeom prst="upArrow">
              <a:avLst>
                <a:gd name="adj1" fmla="val 62821"/>
                <a:gd name="adj2" fmla="val 4819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cs-CZ" sz="3600" dirty="0" smtClean="0"/>
                <a:t>8b</a:t>
              </a:r>
              <a:endParaRPr lang="cs-CZ" sz="3600" dirty="0"/>
            </a:p>
          </p:txBody>
        </p:sp>
        <p:sp>
          <p:nvSpPr>
            <p:cNvPr id="9" name="Šipka nahoru 8"/>
            <p:cNvSpPr/>
            <p:nvPr/>
          </p:nvSpPr>
          <p:spPr>
            <a:xfrm>
              <a:off x="5361432" y="4957911"/>
              <a:ext cx="1179576" cy="1014984"/>
            </a:xfrm>
            <a:prstGeom prst="upArrow">
              <a:avLst>
                <a:gd name="adj1" fmla="val 62821"/>
                <a:gd name="adj2" fmla="val 48198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cs-CZ" sz="3600" dirty="0" smtClean="0"/>
                <a:t>8b</a:t>
              </a:r>
              <a:endParaRPr lang="cs-CZ" sz="3600" dirty="0"/>
            </a:p>
          </p:txBody>
        </p:sp>
      </p:grpSp>
      <p:cxnSp>
        <p:nvCxnSpPr>
          <p:cNvPr id="12" name="Přímá spojnice se šipkou 11"/>
          <p:cNvCxnSpPr/>
          <p:nvPr/>
        </p:nvCxnSpPr>
        <p:spPr>
          <a:xfrm flipH="1">
            <a:off x="3831336" y="3453383"/>
            <a:ext cx="630936" cy="55168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Přímá spojnice se šipkou 12"/>
          <p:cNvCxnSpPr/>
          <p:nvPr/>
        </p:nvCxnSpPr>
        <p:spPr>
          <a:xfrm>
            <a:off x="5186172" y="3265934"/>
            <a:ext cx="6096" cy="74675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Přímá spojnice se šipkou 13"/>
          <p:cNvCxnSpPr/>
          <p:nvPr/>
        </p:nvCxnSpPr>
        <p:spPr>
          <a:xfrm>
            <a:off x="5916168" y="3541688"/>
            <a:ext cx="426529" cy="4633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Přímá spojnice se šipkou 14"/>
          <p:cNvCxnSpPr/>
          <p:nvPr/>
        </p:nvCxnSpPr>
        <p:spPr>
          <a:xfrm>
            <a:off x="6129432" y="3307199"/>
            <a:ext cx="733425" cy="686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Vývojový diagram: postup 15"/>
          <p:cNvSpPr/>
          <p:nvPr/>
        </p:nvSpPr>
        <p:spPr>
          <a:xfrm>
            <a:off x="6871335" y="2945299"/>
            <a:ext cx="3324225" cy="692739"/>
          </a:xfrm>
          <a:prstGeom prst="flowChartProcess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2400" dirty="0" smtClean="0"/>
              <a:t>256 možností </a:t>
            </a:r>
          </a:p>
          <a:p>
            <a:pPr algn="ctr"/>
            <a:r>
              <a:rPr lang="cs-CZ" sz="2400" dirty="0" smtClean="0"/>
              <a:t>pro každou barvu</a:t>
            </a:r>
            <a:endParaRPr lang="cs-CZ" sz="2400" dirty="0"/>
          </a:p>
        </p:txBody>
      </p:sp>
      <p:sp>
        <p:nvSpPr>
          <p:cNvPr id="5" name="Vývojový diagram: postup 4"/>
          <p:cNvSpPr/>
          <p:nvPr/>
        </p:nvSpPr>
        <p:spPr>
          <a:xfrm>
            <a:off x="4100703" y="2961723"/>
            <a:ext cx="2170938" cy="676316"/>
          </a:xfrm>
          <a:prstGeom prst="flowChartProcess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4400" dirty="0" smtClean="0"/>
              <a:t>0-255</a:t>
            </a:r>
            <a:endParaRPr lang="cs-CZ" sz="4400" dirty="0"/>
          </a:p>
        </p:txBody>
      </p:sp>
      <p:sp>
        <p:nvSpPr>
          <p:cNvPr id="6" name="Plus 5"/>
          <p:cNvSpPr/>
          <p:nvPr/>
        </p:nvSpPr>
        <p:spPr>
          <a:xfrm>
            <a:off x="4277868" y="5508920"/>
            <a:ext cx="368808" cy="368808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Plus 16"/>
          <p:cNvSpPr/>
          <p:nvPr/>
        </p:nvSpPr>
        <p:spPr>
          <a:xfrm>
            <a:off x="5718047" y="5508920"/>
            <a:ext cx="368808" cy="368808"/>
          </a:xfrm>
          <a:prstGeom prst="mathPlu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Rovná se 10"/>
          <p:cNvSpPr/>
          <p:nvPr/>
        </p:nvSpPr>
        <p:spPr>
          <a:xfrm>
            <a:off x="7219186" y="5508920"/>
            <a:ext cx="369993" cy="369993"/>
          </a:xfrm>
          <a:prstGeom prst="mathEqual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18" name="Vývojový diagram: postup 17"/>
          <p:cNvSpPr/>
          <p:nvPr/>
        </p:nvSpPr>
        <p:spPr>
          <a:xfrm>
            <a:off x="7869555" y="5364819"/>
            <a:ext cx="851955" cy="608076"/>
          </a:xfrm>
          <a:prstGeom prst="flowChartProcess">
            <a:avLst/>
          </a:prstGeom>
          <a:solidFill>
            <a:schemeClr val="bg1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4400" dirty="0" smtClean="0"/>
              <a:t>24</a:t>
            </a:r>
            <a:endParaRPr lang="cs-CZ" sz="4400" dirty="0"/>
          </a:p>
        </p:txBody>
      </p:sp>
    </p:spTree>
    <p:extLst>
      <p:ext uri="{BB962C8B-B14F-4D97-AF65-F5344CB8AC3E}">
        <p14:creationId xmlns:p14="http://schemas.microsoft.com/office/powerpoint/2010/main" val="2103592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Barevná hloubka a barevný model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Každá ze složek RGB má k dispozici 8 bitů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R = 8 bitů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G = 8 bitů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B = 8 bitů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Průhlednost 8 bitů</a:t>
            </a:r>
            <a:endParaRPr lang="cs-CZ" sz="4200" dirty="0"/>
          </a:p>
        </p:txBody>
      </p:sp>
      <p:sp>
        <p:nvSpPr>
          <p:cNvPr id="5" name="Bublinový popisek se šipkou doleva 4"/>
          <p:cNvSpPr/>
          <p:nvPr/>
        </p:nvSpPr>
        <p:spPr>
          <a:xfrm>
            <a:off x="4475747" y="2983832"/>
            <a:ext cx="3769895" cy="2470484"/>
          </a:xfrm>
          <a:prstGeom prst="leftArrow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cs-CZ" sz="4200" dirty="0" smtClean="0"/>
              <a:t>8+8+8</a:t>
            </a:r>
          </a:p>
          <a:p>
            <a:pPr algn="ctr"/>
            <a:r>
              <a:rPr lang="cs-CZ" sz="4200" dirty="0" smtClean="0"/>
              <a:t>24 bitů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3016288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ÚKOLY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Co znamená </a:t>
            </a:r>
            <a:r>
              <a:rPr lang="cs-CZ" sz="4200" dirty="0" err="1" smtClean="0"/>
              <a:t>True</a:t>
            </a:r>
            <a:r>
              <a:rPr lang="cs-CZ" sz="4200" dirty="0" smtClean="0"/>
              <a:t> </a:t>
            </a:r>
            <a:r>
              <a:rPr lang="cs-CZ" sz="4200" dirty="0" err="1" smtClean="0"/>
              <a:t>Color</a:t>
            </a:r>
            <a:r>
              <a:rPr lang="cs-CZ" sz="4200" dirty="0" smtClean="0"/>
              <a:t>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cs-CZ" sz="4200" dirty="0" smtClean="0"/>
              <a:t>Zjisti, jaké barevné hloubky podporuje formát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4200" dirty="0" smtClean="0"/>
              <a:t>JPG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4200" dirty="0" smtClean="0"/>
              <a:t>GIF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4200" dirty="0" smtClean="0"/>
              <a:t>PNG</a:t>
            </a:r>
            <a:endParaRPr lang="cs-CZ" sz="4200" dirty="0"/>
          </a:p>
        </p:txBody>
      </p:sp>
    </p:spTree>
    <p:extLst>
      <p:ext uri="{BB962C8B-B14F-4D97-AF65-F5344CB8AC3E}">
        <p14:creationId xmlns:p14="http://schemas.microsoft.com/office/powerpoint/2010/main" val="168216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ál">
  <a:themeElements>
    <a:clrScheme name="Stupně šedé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ntegrá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á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268</TotalTime>
  <Words>345</Words>
  <Application>Microsoft Office PowerPoint</Application>
  <PresentationFormat>Širokoúhlá obrazovka</PresentationFormat>
  <Paragraphs>95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2" baseType="lpstr">
      <vt:lpstr>Arial</vt:lpstr>
      <vt:lpstr>Courier New</vt:lpstr>
      <vt:lpstr>Tw Cen MT</vt:lpstr>
      <vt:lpstr>Tw Cen MT Condensed</vt:lpstr>
      <vt:lpstr>Wingdings 3</vt:lpstr>
      <vt:lpstr>Integrál</vt:lpstr>
      <vt:lpstr>Barevná hloubka</vt:lpstr>
      <vt:lpstr>Barevná hloubka</vt:lpstr>
      <vt:lpstr>Barevná hloubka</vt:lpstr>
      <vt:lpstr>Barevná hloubka</vt:lpstr>
      <vt:lpstr>Barevná hloubka – počet barev</vt:lpstr>
      <vt:lpstr>Příklad – barevná hloubka 1 bit </vt:lpstr>
      <vt:lpstr>Příklad – barevná hloubka 1 bit </vt:lpstr>
      <vt:lpstr>Barevná hloubka a barevný model</vt:lpstr>
      <vt:lpstr>Barevná hloubka a barevný model</vt:lpstr>
      <vt:lpstr>Barevná hloubka a barevný model</vt:lpstr>
      <vt:lpstr>Barevná hloubka a barevný model</vt:lpstr>
      <vt:lpstr>Barevná hloubka a barevný model</vt:lpstr>
      <vt:lpstr>Barevná hloubka a barevný model</vt:lpstr>
      <vt:lpstr>Barevná hloubka a barevný model</vt:lpstr>
      <vt:lpstr>Barevná hloubka a barevný model</vt:lpstr>
      <vt:lpstr>ÚKOLY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